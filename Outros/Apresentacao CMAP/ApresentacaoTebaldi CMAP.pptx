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6" r:id="rId1"/>
    <p:sldMasterId id="2147483865" r:id="rId2"/>
  </p:sldMasterIdLst>
  <p:notesMasterIdLst>
    <p:notesMasterId r:id="rId23"/>
  </p:notesMasterIdLst>
  <p:handoutMasterIdLst>
    <p:handoutMasterId r:id="rId24"/>
  </p:handoutMasterIdLst>
  <p:sldIdLst>
    <p:sldId id="256" r:id="rId3"/>
    <p:sldId id="262" r:id="rId4"/>
    <p:sldId id="305" r:id="rId5"/>
    <p:sldId id="259" r:id="rId6"/>
    <p:sldId id="265" r:id="rId7"/>
    <p:sldId id="295" r:id="rId8"/>
    <p:sldId id="270" r:id="rId9"/>
    <p:sldId id="273" r:id="rId10"/>
    <p:sldId id="281" r:id="rId11"/>
    <p:sldId id="275" r:id="rId12"/>
    <p:sldId id="276" r:id="rId13"/>
    <p:sldId id="282" r:id="rId14"/>
    <p:sldId id="320" r:id="rId15"/>
    <p:sldId id="278" r:id="rId16"/>
    <p:sldId id="322" r:id="rId17"/>
    <p:sldId id="321" r:id="rId18"/>
    <p:sldId id="323" r:id="rId19"/>
    <p:sldId id="290" r:id="rId20"/>
    <p:sldId id="292" r:id="rId21"/>
    <p:sldId id="316" r:id="rId22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10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0" d="100"/>
          <a:sy n="80" d="100"/>
        </p:scale>
        <p:origin x="2952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Pasta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Tebaldi\Dropbox\bruno-tebaldi\Apresentacao%20CMAP\Analis%20Mdl_17%20-%20v2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err="1"/>
              <a:t>Admissão</a:t>
            </a:r>
            <a:r>
              <a:rPr lang="en-US" dirty="0"/>
              <a:t> e </a:t>
            </a:r>
            <a:r>
              <a:rPr lang="en-US" dirty="0" err="1"/>
              <a:t>desligamento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SP Adm</c:v>
          </c:tx>
          <c:spPr>
            <a:ln w="28575" cap="rnd">
              <a:solidFill>
                <a:srgbClr val="00B0F0"/>
              </a:solidFill>
              <a:round/>
            </a:ln>
            <a:effectLst/>
          </c:spPr>
          <c:marker>
            <c:symbol val="none"/>
          </c:marker>
          <c:cat>
            <c:strRef>
              <c:f>Planilha1!$I$3:$I$158</c:f>
              <c:strCache>
                <c:ptCount val="156"/>
                <c:pt idx="0">
                  <c:v>2004M01</c:v>
                </c:pt>
                <c:pt idx="1">
                  <c:v>2004M02</c:v>
                </c:pt>
                <c:pt idx="2">
                  <c:v>2004M03</c:v>
                </c:pt>
                <c:pt idx="3">
                  <c:v>2004M04</c:v>
                </c:pt>
                <c:pt idx="4">
                  <c:v>2004M05</c:v>
                </c:pt>
                <c:pt idx="5">
                  <c:v>2004M06</c:v>
                </c:pt>
                <c:pt idx="6">
                  <c:v>2004M07</c:v>
                </c:pt>
                <c:pt idx="7">
                  <c:v>2004M08</c:v>
                </c:pt>
                <c:pt idx="8">
                  <c:v>2004M09</c:v>
                </c:pt>
                <c:pt idx="9">
                  <c:v>2004M10</c:v>
                </c:pt>
                <c:pt idx="10">
                  <c:v>2004M11</c:v>
                </c:pt>
                <c:pt idx="11">
                  <c:v>2004M12</c:v>
                </c:pt>
                <c:pt idx="12">
                  <c:v>2005M01</c:v>
                </c:pt>
                <c:pt idx="13">
                  <c:v>2005M02</c:v>
                </c:pt>
                <c:pt idx="14">
                  <c:v>2005M03</c:v>
                </c:pt>
                <c:pt idx="15">
                  <c:v>2005M04</c:v>
                </c:pt>
                <c:pt idx="16">
                  <c:v>2005M05</c:v>
                </c:pt>
                <c:pt idx="17">
                  <c:v>2005M06</c:v>
                </c:pt>
                <c:pt idx="18">
                  <c:v>2005M07</c:v>
                </c:pt>
                <c:pt idx="19">
                  <c:v>2005M08</c:v>
                </c:pt>
                <c:pt idx="20">
                  <c:v>2005M09</c:v>
                </c:pt>
                <c:pt idx="21">
                  <c:v>2005M10</c:v>
                </c:pt>
                <c:pt idx="22">
                  <c:v>2005M11</c:v>
                </c:pt>
                <c:pt idx="23">
                  <c:v>2005M12</c:v>
                </c:pt>
                <c:pt idx="24">
                  <c:v>2006M01</c:v>
                </c:pt>
                <c:pt idx="25">
                  <c:v>2006M02</c:v>
                </c:pt>
                <c:pt idx="26">
                  <c:v>2006M03</c:v>
                </c:pt>
                <c:pt idx="27">
                  <c:v>2006M04</c:v>
                </c:pt>
                <c:pt idx="28">
                  <c:v>2006M05</c:v>
                </c:pt>
                <c:pt idx="29">
                  <c:v>2006M06</c:v>
                </c:pt>
                <c:pt idx="30">
                  <c:v>2006M07</c:v>
                </c:pt>
                <c:pt idx="31">
                  <c:v>2006M08</c:v>
                </c:pt>
                <c:pt idx="32">
                  <c:v>2006M09</c:v>
                </c:pt>
                <c:pt idx="33">
                  <c:v>2006M10</c:v>
                </c:pt>
                <c:pt idx="34">
                  <c:v>2006M11</c:v>
                </c:pt>
                <c:pt idx="35">
                  <c:v>2006M12</c:v>
                </c:pt>
                <c:pt idx="36">
                  <c:v>2007M01</c:v>
                </c:pt>
                <c:pt idx="37">
                  <c:v>2007M02</c:v>
                </c:pt>
                <c:pt idx="38">
                  <c:v>2007M03</c:v>
                </c:pt>
                <c:pt idx="39">
                  <c:v>2007M04</c:v>
                </c:pt>
                <c:pt idx="40">
                  <c:v>2007M05</c:v>
                </c:pt>
                <c:pt idx="41">
                  <c:v>2007M06</c:v>
                </c:pt>
                <c:pt idx="42">
                  <c:v>2007M07</c:v>
                </c:pt>
                <c:pt idx="43">
                  <c:v>2007M08</c:v>
                </c:pt>
                <c:pt idx="44">
                  <c:v>2007M09</c:v>
                </c:pt>
                <c:pt idx="45">
                  <c:v>2007M10</c:v>
                </c:pt>
                <c:pt idx="46">
                  <c:v>2007M11</c:v>
                </c:pt>
                <c:pt idx="47">
                  <c:v>2007M12</c:v>
                </c:pt>
                <c:pt idx="48">
                  <c:v>2008M01</c:v>
                </c:pt>
                <c:pt idx="49">
                  <c:v>2008M02</c:v>
                </c:pt>
                <c:pt idx="50">
                  <c:v>2008M03</c:v>
                </c:pt>
                <c:pt idx="51">
                  <c:v>2008M04</c:v>
                </c:pt>
                <c:pt idx="52">
                  <c:v>2008M05</c:v>
                </c:pt>
                <c:pt idx="53">
                  <c:v>2008M06</c:v>
                </c:pt>
                <c:pt idx="54">
                  <c:v>2008M07</c:v>
                </c:pt>
                <c:pt idx="55">
                  <c:v>2008M08</c:v>
                </c:pt>
                <c:pt idx="56">
                  <c:v>2008M09</c:v>
                </c:pt>
                <c:pt idx="57">
                  <c:v>2008M10</c:v>
                </c:pt>
                <c:pt idx="58">
                  <c:v>2008M11</c:v>
                </c:pt>
                <c:pt idx="59">
                  <c:v>2008M12</c:v>
                </c:pt>
                <c:pt idx="60">
                  <c:v>2009M01</c:v>
                </c:pt>
                <c:pt idx="61">
                  <c:v>2009M02</c:v>
                </c:pt>
                <c:pt idx="62">
                  <c:v>2009M03</c:v>
                </c:pt>
                <c:pt idx="63">
                  <c:v>2009M04</c:v>
                </c:pt>
                <c:pt idx="64">
                  <c:v>2009M05</c:v>
                </c:pt>
                <c:pt idx="65">
                  <c:v>2009M06</c:v>
                </c:pt>
                <c:pt idx="66">
                  <c:v>2009M07</c:v>
                </c:pt>
                <c:pt idx="67">
                  <c:v>2009M08</c:v>
                </c:pt>
                <c:pt idx="68">
                  <c:v>2009M09</c:v>
                </c:pt>
                <c:pt idx="69">
                  <c:v>2009M10</c:v>
                </c:pt>
                <c:pt idx="70">
                  <c:v>2009M11</c:v>
                </c:pt>
                <c:pt idx="71">
                  <c:v>2009M12</c:v>
                </c:pt>
                <c:pt idx="72">
                  <c:v>2010M01</c:v>
                </c:pt>
                <c:pt idx="73">
                  <c:v>2010M02</c:v>
                </c:pt>
                <c:pt idx="74">
                  <c:v>2010M03</c:v>
                </c:pt>
                <c:pt idx="75">
                  <c:v>2010M04</c:v>
                </c:pt>
                <c:pt idx="76">
                  <c:v>2010M05</c:v>
                </c:pt>
                <c:pt idx="77">
                  <c:v>2010M06</c:v>
                </c:pt>
                <c:pt idx="78">
                  <c:v>2010M07</c:v>
                </c:pt>
                <c:pt idx="79">
                  <c:v>2010M08</c:v>
                </c:pt>
                <c:pt idx="80">
                  <c:v>2010M09</c:v>
                </c:pt>
                <c:pt idx="81">
                  <c:v>2010M10</c:v>
                </c:pt>
                <c:pt idx="82">
                  <c:v>2010M11</c:v>
                </c:pt>
                <c:pt idx="83">
                  <c:v>2010M12</c:v>
                </c:pt>
                <c:pt idx="84">
                  <c:v>2011M01</c:v>
                </c:pt>
                <c:pt idx="85">
                  <c:v>2011M02</c:v>
                </c:pt>
                <c:pt idx="86">
                  <c:v>2011M03</c:v>
                </c:pt>
                <c:pt idx="87">
                  <c:v>2011M04</c:v>
                </c:pt>
                <c:pt idx="88">
                  <c:v>2011M05</c:v>
                </c:pt>
                <c:pt idx="89">
                  <c:v>2011M06</c:v>
                </c:pt>
                <c:pt idx="90">
                  <c:v>2011M07</c:v>
                </c:pt>
                <c:pt idx="91">
                  <c:v>2011M08</c:v>
                </c:pt>
                <c:pt idx="92">
                  <c:v>2011M09</c:v>
                </c:pt>
                <c:pt idx="93">
                  <c:v>2011M10</c:v>
                </c:pt>
                <c:pt idx="94">
                  <c:v>2011M11</c:v>
                </c:pt>
                <c:pt idx="95">
                  <c:v>2011M12</c:v>
                </c:pt>
                <c:pt idx="96">
                  <c:v>2012M01</c:v>
                </c:pt>
                <c:pt idx="97">
                  <c:v>2012M02</c:v>
                </c:pt>
                <c:pt idx="98">
                  <c:v>2012M03</c:v>
                </c:pt>
                <c:pt idx="99">
                  <c:v>2012M04</c:v>
                </c:pt>
                <c:pt idx="100">
                  <c:v>2012M05</c:v>
                </c:pt>
                <c:pt idx="101">
                  <c:v>2012M06</c:v>
                </c:pt>
                <c:pt idx="102">
                  <c:v>2012M07</c:v>
                </c:pt>
                <c:pt idx="103">
                  <c:v>2012M08</c:v>
                </c:pt>
                <c:pt idx="104">
                  <c:v>2012M09</c:v>
                </c:pt>
                <c:pt idx="105">
                  <c:v>2012M10</c:v>
                </c:pt>
                <c:pt idx="106">
                  <c:v>2012M11</c:v>
                </c:pt>
                <c:pt idx="107">
                  <c:v>2012M12</c:v>
                </c:pt>
                <c:pt idx="108">
                  <c:v>2013M01</c:v>
                </c:pt>
                <c:pt idx="109">
                  <c:v>2013M02</c:v>
                </c:pt>
                <c:pt idx="110">
                  <c:v>2013M03</c:v>
                </c:pt>
                <c:pt idx="111">
                  <c:v>2013M04</c:v>
                </c:pt>
                <c:pt idx="112">
                  <c:v>2013M05</c:v>
                </c:pt>
                <c:pt idx="113">
                  <c:v>2013M06</c:v>
                </c:pt>
                <c:pt idx="114">
                  <c:v>2013M07</c:v>
                </c:pt>
                <c:pt idx="115">
                  <c:v>2013M08</c:v>
                </c:pt>
                <c:pt idx="116">
                  <c:v>2013M09</c:v>
                </c:pt>
                <c:pt idx="117">
                  <c:v>2013M10</c:v>
                </c:pt>
                <c:pt idx="118">
                  <c:v>2013M11</c:v>
                </c:pt>
                <c:pt idx="119">
                  <c:v>2013M12</c:v>
                </c:pt>
                <c:pt idx="120">
                  <c:v>2014M01</c:v>
                </c:pt>
                <c:pt idx="121">
                  <c:v>2014M02</c:v>
                </c:pt>
                <c:pt idx="122">
                  <c:v>2014M03</c:v>
                </c:pt>
                <c:pt idx="123">
                  <c:v>2014M04</c:v>
                </c:pt>
                <c:pt idx="124">
                  <c:v>2014M05</c:v>
                </c:pt>
                <c:pt idx="125">
                  <c:v>2014M06</c:v>
                </c:pt>
                <c:pt idx="126">
                  <c:v>2014M07</c:v>
                </c:pt>
                <c:pt idx="127">
                  <c:v>2014M08</c:v>
                </c:pt>
                <c:pt idx="128">
                  <c:v>2014M09</c:v>
                </c:pt>
                <c:pt idx="129">
                  <c:v>2014M10</c:v>
                </c:pt>
                <c:pt idx="130">
                  <c:v>2014M11</c:v>
                </c:pt>
                <c:pt idx="131">
                  <c:v>2014M12</c:v>
                </c:pt>
                <c:pt idx="132">
                  <c:v>2015M01</c:v>
                </c:pt>
                <c:pt idx="133">
                  <c:v>2015M02</c:v>
                </c:pt>
                <c:pt idx="134">
                  <c:v>2015M03</c:v>
                </c:pt>
                <c:pt idx="135">
                  <c:v>2015M04</c:v>
                </c:pt>
                <c:pt idx="136">
                  <c:v>2015M05</c:v>
                </c:pt>
                <c:pt idx="137">
                  <c:v>2015M06</c:v>
                </c:pt>
                <c:pt idx="138">
                  <c:v>2015M07</c:v>
                </c:pt>
                <c:pt idx="139">
                  <c:v>2015M08</c:v>
                </c:pt>
                <c:pt idx="140">
                  <c:v>2015M09</c:v>
                </c:pt>
                <c:pt idx="141">
                  <c:v>2015M10</c:v>
                </c:pt>
                <c:pt idx="142">
                  <c:v>2015M11</c:v>
                </c:pt>
                <c:pt idx="143">
                  <c:v>2015M12</c:v>
                </c:pt>
                <c:pt idx="144">
                  <c:v>2016M01</c:v>
                </c:pt>
                <c:pt idx="145">
                  <c:v>2016M02</c:v>
                </c:pt>
                <c:pt idx="146">
                  <c:v>2016M03</c:v>
                </c:pt>
                <c:pt idx="147">
                  <c:v>2016M04</c:v>
                </c:pt>
                <c:pt idx="148">
                  <c:v>2016M05</c:v>
                </c:pt>
                <c:pt idx="149">
                  <c:v>2016M06</c:v>
                </c:pt>
                <c:pt idx="150">
                  <c:v>2016M07</c:v>
                </c:pt>
                <c:pt idx="151">
                  <c:v>2016M08</c:v>
                </c:pt>
                <c:pt idx="152">
                  <c:v>2016M09</c:v>
                </c:pt>
                <c:pt idx="153">
                  <c:v>2016M10</c:v>
                </c:pt>
                <c:pt idx="154">
                  <c:v>2016M11</c:v>
                </c:pt>
                <c:pt idx="155">
                  <c:v>2016M12</c:v>
                </c:pt>
              </c:strCache>
            </c:strRef>
          </c:cat>
          <c:val>
            <c:numRef>
              <c:f>Planilha1!$A$3:$A$158</c:f>
              <c:numCache>
                <c:formatCode>General</c:formatCode>
                <c:ptCount val="156"/>
                <c:pt idx="0">
                  <c:v>123728</c:v>
                </c:pt>
                <c:pt idx="1">
                  <c:v>131624</c:v>
                </c:pt>
                <c:pt idx="2">
                  <c:v>148671</c:v>
                </c:pt>
                <c:pt idx="3">
                  <c:v>134126</c:v>
                </c:pt>
                <c:pt idx="4">
                  <c:v>138013</c:v>
                </c:pt>
                <c:pt idx="5">
                  <c:v>137828</c:v>
                </c:pt>
                <c:pt idx="6">
                  <c:v>137293</c:v>
                </c:pt>
                <c:pt idx="7">
                  <c:v>149483</c:v>
                </c:pt>
                <c:pt idx="8">
                  <c:v>144955</c:v>
                </c:pt>
                <c:pt idx="9">
                  <c:v>143572</c:v>
                </c:pt>
                <c:pt idx="10">
                  <c:v>142247</c:v>
                </c:pt>
                <c:pt idx="11">
                  <c:v>115254</c:v>
                </c:pt>
                <c:pt idx="12">
                  <c:v>153823</c:v>
                </c:pt>
                <c:pt idx="13">
                  <c:v>149161</c:v>
                </c:pt>
                <c:pt idx="14">
                  <c:v>165305</c:v>
                </c:pt>
                <c:pt idx="15">
                  <c:v>160197</c:v>
                </c:pt>
                <c:pt idx="16">
                  <c:v>162486</c:v>
                </c:pt>
                <c:pt idx="17">
                  <c:v>161964</c:v>
                </c:pt>
                <c:pt idx="18">
                  <c:v>156263</c:v>
                </c:pt>
                <c:pt idx="19">
                  <c:v>171411</c:v>
                </c:pt>
                <c:pt idx="20">
                  <c:v>159751</c:v>
                </c:pt>
                <c:pt idx="21">
                  <c:v>155200</c:v>
                </c:pt>
                <c:pt idx="22">
                  <c:v>152509</c:v>
                </c:pt>
                <c:pt idx="23">
                  <c:v>126361</c:v>
                </c:pt>
                <c:pt idx="24">
                  <c:v>164849</c:v>
                </c:pt>
                <c:pt idx="25">
                  <c:v>165528</c:v>
                </c:pt>
                <c:pt idx="26">
                  <c:v>179496</c:v>
                </c:pt>
                <c:pt idx="27">
                  <c:v>165752</c:v>
                </c:pt>
                <c:pt idx="28">
                  <c:v>173167</c:v>
                </c:pt>
                <c:pt idx="29">
                  <c:v>168514</c:v>
                </c:pt>
                <c:pt idx="30">
                  <c:v>172273</c:v>
                </c:pt>
                <c:pt idx="31">
                  <c:v>185886</c:v>
                </c:pt>
                <c:pt idx="32">
                  <c:v>175047</c:v>
                </c:pt>
                <c:pt idx="33">
                  <c:v>179509</c:v>
                </c:pt>
                <c:pt idx="34">
                  <c:v>172940</c:v>
                </c:pt>
                <c:pt idx="35">
                  <c:v>137488</c:v>
                </c:pt>
                <c:pt idx="36">
                  <c:v>183423</c:v>
                </c:pt>
                <c:pt idx="37">
                  <c:v>185570</c:v>
                </c:pt>
                <c:pt idx="38">
                  <c:v>205620</c:v>
                </c:pt>
                <c:pt idx="39">
                  <c:v>195750</c:v>
                </c:pt>
                <c:pt idx="40">
                  <c:v>199546</c:v>
                </c:pt>
                <c:pt idx="41">
                  <c:v>191093</c:v>
                </c:pt>
                <c:pt idx="42">
                  <c:v>199065</c:v>
                </c:pt>
                <c:pt idx="43">
                  <c:v>212872</c:v>
                </c:pt>
                <c:pt idx="44">
                  <c:v>203509</c:v>
                </c:pt>
                <c:pt idx="45">
                  <c:v>221024</c:v>
                </c:pt>
                <c:pt idx="46">
                  <c:v>202601</c:v>
                </c:pt>
                <c:pt idx="47">
                  <c:v>157077</c:v>
                </c:pt>
                <c:pt idx="48">
                  <c:v>219861</c:v>
                </c:pt>
                <c:pt idx="49">
                  <c:v>229833</c:v>
                </c:pt>
                <c:pt idx="50">
                  <c:v>238407</c:v>
                </c:pt>
                <c:pt idx="51">
                  <c:v>248333</c:v>
                </c:pt>
                <c:pt idx="52">
                  <c:v>226993</c:v>
                </c:pt>
                <c:pt idx="53">
                  <c:v>240862</c:v>
                </c:pt>
                <c:pt idx="54">
                  <c:v>246901</c:v>
                </c:pt>
                <c:pt idx="55">
                  <c:v>254972</c:v>
                </c:pt>
                <c:pt idx="56">
                  <c:v>259595</c:v>
                </c:pt>
                <c:pt idx="57">
                  <c:v>248523</c:v>
                </c:pt>
                <c:pt idx="58">
                  <c:v>218840</c:v>
                </c:pt>
                <c:pt idx="59">
                  <c:v>155756</c:v>
                </c:pt>
                <c:pt idx="60">
                  <c:v>202890</c:v>
                </c:pt>
                <c:pt idx="61">
                  <c:v>205966</c:v>
                </c:pt>
                <c:pt idx="62">
                  <c:v>219424</c:v>
                </c:pt>
                <c:pt idx="63">
                  <c:v>210474</c:v>
                </c:pt>
                <c:pt idx="64">
                  <c:v>213942</c:v>
                </c:pt>
                <c:pt idx="65">
                  <c:v>217535</c:v>
                </c:pt>
                <c:pt idx="66">
                  <c:v>222994</c:v>
                </c:pt>
                <c:pt idx="67">
                  <c:v>241085</c:v>
                </c:pt>
                <c:pt idx="68">
                  <c:v>238063</c:v>
                </c:pt>
                <c:pt idx="69">
                  <c:v>244949</c:v>
                </c:pt>
                <c:pt idx="70">
                  <c:v>239835</c:v>
                </c:pt>
                <c:pt idx="71">
                  <c:v>188370</c:v>
                </c:pt>
                <c:pt idx="72">
                  <c:v>235502</c:v>
                </c:pt>
                <c:pt idx="73">
                  <c:v>261943</c:v>
                </c:pt>
                <c:pt idx="74">
                  <c:v>302263</c:v>
                </c:pt>
                <c:pt idx="75">
                  <c:v>275814</c:v>
                </c:pt>
                <c:pt idx="76">
                  <c:v>282240</c:v>
                </c:pt>
                <c:pt idx="77">
                  <c:v>270666</c:v>
                </c:pt>
                <c:pt idx="78">
                  <c:v>270016</c:v>
                </c:pt>
                <c:pt idx="79">
                  <c:v>290363</c:v>
                </c:pt>
                <c:pt idx="80">
                  <c:v>278664</c:v>
                </c:pt>
                <c:pt idx="81">
                  <c:v>276501</c:v>
                </c:pt>
                <c:pt idx="82">
                  <c:v>263586</c:v>
                </c:pt>
                <c:pt idx="83">
                  <c:v>214908</c:v>
                </c:pt>
                <c:pt idx="84">
                  <c:v>274903</c:v>
                </c:pt>
                <c:pt idx="85">
                  <c:v>308386</c:v>
                </c:pt>
                <c:pt idx="86">
                  <c:v>304904</c:v>
                </c:pt>
                <c:pt idx="87">
                  <c:v>298155</c:v>
                </c:pt>
                <c:pt idx="88">
                  <c:v>314871</c:v>
                </c:pt>
                <c:pt idx="89">
                  <c:v>290265</c:v>
                </c:pt>
                <c:pt idx="90">
                  <c:v>285322</c:v>
                </c:pt>
                <c:pt idx="91">
                  <c:v>314157</c:v>
                </c:pt>
                <c:pt idx="92">
                  <c:v>296493</c:v>
                </c:pt>
                <c:pt idx="93">
                  <c:v>287492</c:v>
                </c:pt>
                <c:pt idx="94">
                  <c:v>276272</c:v>
                </c:pt>
                <c:pt idx="95">
                  <c:v>231309</c:v>
                </c:pt>
                <c:pt idx="96">
                  <c:v>275894</c:v>
                </c:pt>
                <c:pt idx="97">
                  <c:v>291520</c:v>
                </c:pt>
                <c:pt idx="98">
                  <c:v>318314</c:v>
                </c:pt>
                <c:pt idx="99">
                  <c:v>298344</c:v>
                </c:pt>
                <c:pt idx="100">
                  <c:v>289241</c:v>
                </c:pt>
                <c:pt idx="101">
                  <c:v>277437</c:v>
                </c:pt>
                <c:pt idx="102">
                  <c:v>281714</c:v>
                </c:pt>
                <c:pt idx="103">
                  <c:v>301146</c:v>
                </c:pt>
                <c:pt idx="104">
                  <c:v>269268</c:v>
                </c:pt>
                <c:pt idx="105">
                  <c:v>287472</c:v>
                </c:pt>
                <c:pt idx="106">
                  <c:v>258614</c:v>
                </c:pt>
                <c:pt idx="107">
                  <c:v>205353</c:v>
                </c:pt>
                <c:pt idx="108">
                  <c:v>284114</c:v>
                </c:pt>
                <c:pt idx="109">
                  <c:v>287365</c:v>
                </c:pt>
                <c:pt idx="110">
                  <c:v>298742</c:v>
                </c:pt>
                <c:pt idx="111">
                  <c:v>312629</c:v>
                </c:pt>
                <c:pt idx="112">
                  <c:v>294659</c:v>
                </c:pt>
                <c:pt idx="113">
                  <c:v>280248</c:v>
                </c:pt>
                <c:pt idx="114">
                  <c:v>279393</c:v>
                </c:pt>
                <c:pt idx="115">
                  <c:v>304024</c:v>
                </c:pt>
                <c:pt idx="116">
                  <c:v>293451</c:v>
                </c:pt>
                <c:pt idx="117">
                  <c:v>300661</c:v>
                </c:pt>
                <c:pt idx="118">
                  <c:v>261183</c:v>
                </c:pt>
                <c:pt idx="119">
                  <c:v>181036</c:v>
                </c:pt>
                <c:pt idx="120">
                  <c:v>287869</c:v>
                </c:pt>
                <c:pt idx="121">
                  <c:v>329823</c:v>
                </c:pt>
                <c:pt idx="122">
                  <c:v>288764</c:v>
                </c:pt>
                <c:pt idx="123">
                  <c:v>305705</c:v>
                </c:pt>
                <c:pt idx="124">
                  <c:v>295082</c:v>
                </c:pt>
                <c:pt idx="125">
                  <c:v>259545</c:v>
                </c:pt>
                <c:pt idx="126">
                  <c:v>278054</c:v>
                </c:pt>
                <c:pt idx="127">
                  <c:v>292717</c:v>
                </c:pt>
                <c:pt idx="128">
                  <c:v>284573</c:v>
                </c:pt>
                <c:pt idx="129">
                  <c:v>284695</c:v>
                </c:pt>
                <c:pt idx="130">
                  <c:v>262739</c:v>
                </c:pt>
                <c:pt idx="131">
                  <c:v>195554</c:v>
                </c:pt>
                <c:pt idx="132">
                  <c:v>262562</c:v>
                </c:pt>
                <c:pt idx="133">
                  <c:v>275688</c:v>
                </c:pt>
                <c:pt idx="134">
                  <c:v>288823</c:v>
                </c:pt>
                <c:pt idx="135">
                  <c:v>250667</c:v>
                </c:pt>
                <c:pt idx="136">
                  <c:v>243423</c:v>
                </c:pt>
                <c:pt idx="137">
                  <c:v>239084</c:v>
                </c:pt>
                <c:pt idx="138">
                  <c:v>228670</c:v>
                </c:pt>
                <c:pt idx="139">
                  <c:v>231470</c:v>
                </c:pt>
                <c:pt idx="140">
                  <c:v>215183</c:v>
                </c:pt>
                <c:pt idx="141">
                  <c:v>210328</c:v>
                </c:pt>
                <c:pt idx="142">
                  <c:v>197401</c:v>
                </c:pt>
                <c:pt idx="143">
                  <c:v>151484</c:v>
                </c:pt>
                <c:pt idx="144">
                  <c:v>193832</c:v>
                </c:pt>
                <c:pt idx="145">
                  <c:v>206399</c:v>
                </c:pt>
                <c:pt idx="146">
                  <c:v>224227</c:v>
                </c:pt>
                <c:pt idx="147">
                  <c:v>203783</c:v>
                </c:pt>
                <c:pt idx="148">
                  <c:v>195231</c:v>
                </c:pt>
                <c:pt idx="149">
                  <c:v>195905</c:v>
                </c:pt>
                <c:pt idx="150">
                  <c:v>190399</c:v>
                </c:pt>
                <c:pt idx="151">
                  <c:v>206475</c:v>
                </c:pt>
                <c:pt idx="152">
                  <c:v>184698</c:v>
                </c:pt>
                <c:pt idx="153">
                  <c:v>186406</c:v>
                </c:pt>
                <c:pt idx="154">
                  <c:v>186243</c:v>
                </c:pt>
                <c:pt idx="155">
                  <c:v>143842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B9A-4DFD-9EF2-94290DCC4905}"/>
            </c:ext>
          </c:extLst>
        </c:ser>
        <c:ser>
          <c:idx val="1"/>
          <c:order val="1"/>
          <c:tx>
            <c:v>SP Disc</c:v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cat>
            <c:strRef>
              <c:f>Planilha1!$I$3:$I$158</c:f>
              <c:strCache>
                <c:ptCount val="156"/>
                <c:pt idx="0">
                  <c:v>2004M01</c:v>
                </c:pt>
                <c:pt idx="1">
                  <c:v>2004M02</c:v>
                </c:pt>
                <c:pt idx="2">
                  <c:v>2004M03</c:v>
                </c:pt>
                <c:pt idx="3">
                  <c:v>2004M04</c:v>
                </c:pt>
                <c:pt idx="4">
                  <c:v>2004M05</c:v>
                </c:pt>
                <c:pt idx="5">
                  <c:v>2004M06</c:v>
                </c:pt>
                <c:pt idx="6">
                  <c:v>2004M07</c:v>
                </c:pt>
                <c:pt idx="7">
                  <c:v>2004M08</c:v>
                </c:pt>
                <c:pt idx="8">
                  <c:v>2004M09</c:v>
                </c:pt>
                <c:pt idx="9">
                  <c:v>2004M10</c:v>
                </c:pt>
                <c:pt idx="10">
                  <c:v>2004M11</c:v>
                </c:pt>
                <c:pt idx="11">
                  <c:v>2004M12</c:v>
                </c:pt>
                <c:pt idx="12">
                  <c:v>2005M01</c:v>
                </c:pt>
                <c:pt idx="13">
                  <c:v>2005M02</c:v>
                </c:pt>
                <c:pt idx="14">
                  <c:v>2005M03</c:v>
                </c:pt>
                <c:pt idx="15">
                  <c:v>2005M04</c:v>
                </c:pt>
                <c:pt idx="16">
                  <c:v>2005M05</c:v>
                </c:pt>
                <c:pt idx="17">
                  <c:v>2005M06</c:v>
                </c:pt>
                <c:pt idx="18">
                  <c:v>2005M07</c:v>
                </c:pt>
                <c:pt idx="19">
                  <c:v>2005M08</c:v>
                </c:pt>
                <c:pt idx="20">
                  <c:v>2005M09</c:v>
                </c:pt>
                <c:pt idx="21">
                  <c:v>2005M10</c:v>
                </c:pt>
                <c:pt idx="22">
                  <c:v>2005M11</c:v>
                </c:pt>
                <c:pt idx="23">
                  <c:v>2005M12</c:v>
                </c:pt>
                <c:pt idx="24">
                  <c:v>2006M01</c:v>
                </c:pt>
                <c:pt idx="25">
                  <c:v>2006M02</c:v>
                </c:pt>
                <c:pt idx="26">
                  <c:v>2006M03</c:v>
                </c:pt>
                <c:pt idx="27">
                  <c:v>2006M04</c:v>
                </c:pt>
                <c:pt idx="28">
                  <c:v>2006M05</c:v>
                </c:pt>
                <c:pt idx="29">
                  <c:v>2006M06</c:v>
                </c:pt>
                <c:pt idx="30">
                  <c:v>2006M07</c:v>
                </c:pt>
                <c:pt idx="31">
                  <c:v>2006M08</c:v>
                </c:pt>
                <c:pt idx="32">
                  <c:v>2006M09</c:v>
                </c:pt>
                <c:pt idx="33">
                  <c:v>2006M10</c:v>
                </c:pt>
                <c:pt idx="34">
                  <c:v>2006M11</c:v>
                </c:pt>
                <c:pt idx="35">
                  <c:v>2006M12</c:v>
                </c:pt>
                <c:pt idx="36">
                  <c:v>2007M01</c:v>
                </c:pt>
                <c:pt idx="37">
                  <c:v>2007M02</c:v>
                </c:pt>
                <c:pt idx="38">
                  <c:v>2007M03</c:v>
                </c:pt>
                <c:pt idx="39">
                  <c:v>2007M04</c:v>
                </c:pt>
                <c:pt idx="40">
                  <c:v>2007M05</c:v>
                </c:pt>
                <c:pt idx="41">
                  <c:v>2007M06</c:v>
                </c:pt>
                <c:pt idx="42">
                  <c:v>2007M07</c:v>
                </c:pt>
                <c:pt idx="43">
                  <c:v>2007M08</c:v>
                </c:pt>
                <c:pt idx="44">
                  <c:v>2007M09</c:v>
                </c:pt>
                <c:pt idx="45">
                  <c:v>2007M10</c:v>
                </c:pt>
                <c:pt idx="46">
                  <c:v>2007M11</c:v>
                </c:pt>
                <c:pt idx="47">
                  <c:v>2007M12</c:v>
                </c:pt>
                <c:pt idx="48">
                  <c:v>2008M01</c:v>
                </c:pt>
                <c:pt idx="49">
                  <c:v>2008M02</c:v>
                </c:pt>
                <c:pt idx="50">
                  <c:v>2008M03</c:v>
                </c:pt>
                <c:pt idx="51">
                  <c:v>2008M04</c:v>
                </c:pt>
                <c:pt idx="52">
                  <c:v>2008M05</c:v>
                </c:pt>
                <c:pt idx="53">
                  <c:v>2008M06</c:v>
                </c:pt>
                <c:pt idx="54">
                  <c:v>2008M07</c:v>
                </c:pt>
                <c:pt idx="55">
                  <c:v>2008M08</c:v>
                </c:pt>
                <c:pt idx="56">
                  <c:v>2008M09</c:v>
                </c:pt>
                <c:pt idx="57">
                  <c:v>2008M10</c:v>
                </c:pt>
                <c:pt idx="58">
                  <c:v>2008M11</c:v>
                </c:pt>
                <c:pt idx="59">
                  <c:v>2008M12</c:v>
                </c:pt>
                <c:pt idx="60">
                  <c:v>2009M01</c:v>
                </c:pt>
                <c:pt idx="61">
                  <c:v>2009M02</c:v>
                </c:pt>
                <c:pt idx="62">
                  <c:v>2009M03</c:v>
                </c:pt>
                <c:pt idx="63">
                  <c:v>2009M04</c:v>
                </c:pt>
                <c:pt idx="64">
                  <c:v>2009M05</c:v>
                </c:pt>
                <c:pt idx="65">
                  <c:v>2009M06</c:v>
                </c:pt>
                <c:pt idx="66">
                  <c:v>2009M07</c:v>
                </c:pt>
                <c:pt idx="67">
                  <c:v>2009M08</c:v>
                </c:pt>
                <c:pt idx="68">
                  <c:v>2009M09</c:v>
                </c:pt>
                <c:pt idx="69">
                  <c:v>2009M10</c:v>
                </c:pt>
                <c:pt idx="70">
                  <c:v>2009M11</c:v>
                </c:pt>
                <c:pt idx="71">
                  <c:v>2009M12</c:v>
                </c:pt>
                <c:pt idx="72">
                  <c:v>2010M01</c:v>
                </c:pt>
                <c:pt idx="73">
                  <c:v>2010M02</c:v>
                </c:pt>
                <c:pt idx="74">
                  <c:v>2010M03</c:v>
                </c:pt>
                <c:pt idx="75">
                  <c:v>2010M04</c:v>
                </c:pt>
                <c:pt idx="76">
                  <c:v>2010M05</c:v>
                </c:pt>
                <c:pt idx="77">
                  <c:v>2010M06</c:v>
                </c:pt>
                <c:pt idx="78">
                  <c:v>2010M07</c:v>
                </c:pt>
                <c:pt idx="79">
                  <c:v>2010M08</c:v>
                </c:pt>
                <c:pt idx="80">
                  <c:v>2010M09</c:v>
                </c:pt>
                <c:pt idx="81">
                  <c:v>2010M10</c:v>
                </c:pt>
                <c:pt idx="82">
                  <c:v>2010M11</c:v>
                </c:pt>
                <c:pt idx="83">
                  <c:v>2010M12</c:v>
                </c:pt>
                <c:pt idx="84">
                  <c:v>2011M01</c:v>
                </c:pt>
                <c:pt idx="85">
                  <c:v>2011M02</c:v>
                </c:pt>
                <c:pt idx="86">
                  <c:v>2011M03</c:v>
                </c:pt>
                <c:pt idx="87">
                  <c:v>2011M04</c:v>
                </c:pt>
                <c:pt idx="88">
                  <c:v>2011M05</c:v>
                </c:pt>
                <c:pt idx="89">
                  <c:v>2011M06</c:v>
                </c:pt>
                <c:pt idx="90">
                  <c:v>2011M07</c:v>
                </c:pt>
                <c:pt idx="91">
                  <c:v>2011M08</c:v>
                </c:pt>
                <c:pt idx="92">
                  <c:v>2011M09</c:v>
                </c:pt>
                <c:pt idx="93">
                  <c:v>2011M10</c:v>
                </c:pt>
                <c:pt idx="94">
                  <c:v>2011M11</c:v>
                </c:pt>
                <c:pt idx="95">
                  <c:v>2011M12</c:v>
                </c:pt>
                <c:pt idx="96">
                  <c:v>2012M01</c:v>
                </c:pt>
                <c:pt idx="97">
                  <c:v>2012M02</c:v>
                </c:pt>
                <c:pt idx="98">
                  <c:v>2012M03</c:v>
                </c:pt>
                <c:pt idx="99">
                  <c:v>2012M04</c:v>
                </c:pt>
                <c:pt idx="100">
                  <c:v>2012M05</c:v>
                </c:pt>
                <c:pt idx="101">
                  <c:v>2012M06</c:v>
                </c:pt>
                <c:pt idx="102">
                  <c:v>2012M07</c:v>
                </c:pt>
                <c:pt idx="103">
                  <c:v>2012M08</c:v>
                </c:pt>
                <c:pt idx="104">
                  <c:v>2012M09</c:v>
                </c:pt>
                <c:pt idx="105">
                  <c:v>2012M10</c:v>
                </c:pt>
                <c:pt idx="106">
                  <c:v>2012M11</c:v>
                </c:pt>
                <c:pt idx="107">
                  <c:v>2012M12</c:v>
                </c:pt>
                <c:pt idx="108">
                  <c:v>2013M01</c:v>
                </c:pt>
                <c:pt idx="109">
                  <c:v>2013M02</c:v>
                </c:pt>
                <c:pt idx="110">
                  <c:v>2013M03</c:v>
                </c:pt>
                <c:pt idx="111">
                  <c:v>2013M04</c:v>
                </c:pt>
                <c:pt idx="112">
                  <c:v>2013M05</c:v>
                </c:pt>
                <c:pt idx="113">
                  <c:v>2013M06</c:v>
                </c:pt>
                <c:pt idx="114">
                  <c:v>2013M07</c:v>
                </c:pt>
                <c:pt idx="115">
                  <c:v>2013M08</c:v>
                </c:pt>
                <c:pt idx="116">
                  <c:v>2013M09</c:v>
                </c:pt>
                <c:pt idx="117">
                  <c:v>2013M10</c:v>
                </c:pt>
                <c:pt idx="118">
                  <c:v>2013M11</c:v>
                </c:pt>
                <c:pt idx="119">
                  <c:v>2013M12</c:v>
                </c:pt>
                <c:pt idx="120">
                  <c:v>2014M01</c:v>
                </c:pt>
                <c:pt idx="121">
                  <c:v>2014M02</c:v>
                </c:pt>
                <c:pt idx="122">
                  <c:v>2014M03</c:v>
                </c:pt>
                <c:pt idx="123">
                  <c:v>2014M04</c:v>
                </c:pt>
                <c:pt idx="124">
                  <c:v>2014M05</c:v>
                </c:pt>
                <c:pt idx="125">
                  <c:v>2014M06</c:v>
                </c:pt>
                <c:pt idx="126">
                  <c:v>2014M07</c:v>
                </c:pt>
                <c:pt idx="127">
                  <c:v>2014M08</c:v>
                </c:pt>
                <c:pt idx="128">
                  <c:v>2014M09</c:v>
                </c:pt>
                <c:pt idx="129">
                  <c:v>2014M10</c:v>
                </c:pt>
                <c:pt idx="130">
                  <c:v>2014M11</c:v>
                </c:pt>
                <c:pt idx="131">
                  <c:v>2014M12</c:v>
                </c:pt>
                <c:pt idx="132">
                  <c:v>2015M01</c:v>
                </c:pt>
                <c:pt idx="133">
                  <c:v>2015M02</c:v>
                </c:pt>
                <c:pt idx="134">
                  <c:v>2015M03</c:v>
                </c:pt>
                <c:pt idx="135">
                  <c:v>2015M04</c:v>
                </c:pt>
                <c:pt idx="136">
                  <c:v>2015M05</c:v>
                </c:pt>
                <c:pt idx="137">
                  <c:v>2015M06</c:v>
                </c:pt>
                <c:pt idx="138">
                  <c:v>2015M07</c:v>
                </c:pt>
                <c:pt idx="139">
                  <c:v>2015M08</c:v>
                </c:pt>
                <c:pt idx="140">
                  <c:v>2015M09</c:v>
                </c:pt>
                <c:pt idx="141">
                  <c:v>2015M10</c:v>
                </c:pt>
                <c:pt idx="142">
                  <c:v>2015M11</c:v>
                </c:pt>
                <c:pt idx="143">
                  <c:v>2015M12</c:v>
                </c:pt>
                <c:pt idx="144">
                  <c:v>2016M01</c:v>
                </c:pt>
                <c:pt idx="145">
                  <c:v>2016M02</c:v>
                </c:pt>
                <c:pt idx="146">
                  <c:v>2016M03</c:v>
                </c:pt>
                <c:pt idx="147">
                  <c:v>2016M04</c:v>
                </c:pt>
                <c:pt idx="148">
                  <c:v>2016M05</c:v>
                </c:pt>
                <c:pt idx="149">
                  <c:v>2016M06</c:v>
                </c:pt>
                <c:pt idx="150">
                  <c:v>2016M07</c:v>
                </c:pt>
                <c:pt idx="151">
                  <c:v>2016M08</c:v>
                </c:pt>
                <c:pt idx="152">
                  <c:v>2016M09</c:v>
                </c:pt>
                <c:pt idx="153">
                  <c:v>2016M10</c:v>
                </c:pt>
                <c:pt idx="154">
                  <c:v>2016M11</c:v>
                </c:pt>
                <c:pt idx="155">
                  <c:v>2016M12</c:v>
                </c:pt>
              </c:strCache>
            </c:strRef>
          </c:cat>
          <c:val>
            <c:numRef>
              <c:f>Planilha1!$B$3:$B$158</c:f>
              <c:numCache>
                <c:formatCode>General</c:formatCode>
                <c:ptCount val="156"/>
                <c:pt idx="0">
                  <c:v>107413</c:v>
                </c:pt>
                <c:pt idx="1">
                  <c:v>109528</c:v>
                </c:pt>
                <c:pt idx="2">
                  <c:v>130487</c:v>
                </c:pt>
                <c:pt idx="3">
                  <c:v>110332</c:v>
                </c:pt>
                <c:pt idx="4">
                  <c:v>113433</c:v>
                </c:pt>
                <c:pt idx="5">
                  <c:v>118684</c:v>
                </c:pt>
                <c:pt idx="6">
                  <c:v>116643</c:v>
                </c:pt>
                <c:pt idx="7">
                  <c:v>117790</c:v>
                </c:pt>
                <c:pt idx="8">
                  <c:v>116256</c:v>
                </c:pt>
                <c:pt idx="9">
                  <c:v>113308</c:v>
                </c:pt>
                <c:pt idx="10">
                  <c:v>112501</c:v>
                </c:pt>
                <c:pt idx="11">
                  <c:v>127989</c:v>
                </c:pt>
                <c:pt idx="12">
                  <c:v>119888</c:v>
                </c:pt>
                <c:pt idx="13">
                  <c:v>127103</c:v>
                </c:pt>
                <c:pt idx="14">
                  <c:v>144037</c:v>
                </c:pt>
                <c:pt idx="15">
                  <c:v>123781</c:v>
                </c:pt>
                <c:pt idx="16">
                  <c:v>135584</c:v>
                </c:pt>
                <c:pt idx="17">
                  <c:v>137972</c:v>
                </c:pt>
                <c:pt idx="18">
                  <c:v>134392</c:v>
                </c:pt>
                <c:pt idx="19">
                  <c:v>136196</c:v>
                </c:pt>
                <c:pt idx="20">
                  <c:v>125738</c:v>
                </c:pt>
                <c:pt idx="21">
                  <c:v>122372</c:v>
                </c:pt>
                <c:pt idx="22">
                  <c:v>127033</c:v>
                </c:pt>
                <c:pt idx="23">
                  <c:v>139858</c:v>
                </c:pt>
                <c:pt idx="24">
                  <c:v>143779</c:v>
                </c:pt>
                <c:pt idx="25">
                  <c:v>135434</c:v>
                </c:pt>
                <c:pt idx="26">
                  <c:v>162646</c:v>
                </c:pt>
                <c:pt idx="27">
                  <c:v>134367</c:v>
                </c:pt>
                <c:pt idx="28">
                  <c:v>150781</c:v>
                </c:pt>
                <c:pt idx="29">
                  <c:v>148728</c:v>
                </c:pt>
                <c:pt idx="30">
                  <c:v>143244</c:v>
                </c:pt>
                <c:pt idx="31">
                  <c:v>157067</c:v>
                </c:pt>
                <c:pt idx="32">
                  <c:v>144441</c:v>
                </c:pt>
                <c:pt idx="33">
                  <c:v>143199</c:v>
                </c:pt>
                <c:pt idx="34">
                  <c:v>145938</c:v>
                </c:pt>
                <c:pt idx="35">
                  <c:v>153040</c:v>
                </c:pt>
                <c:pt idx="36">
                  <c:v>160461</c:v>
                </c:pt>
                <c:pt idx="37">
                  <c:v>154319</c:v>
                </c:pt>
                <c:pt idx="38">
                  <c:v>176942</c:v>
                </c:pt>
                <c:pt idx="39">
                  <c:v>152967</c:v>
                </c:pt>
                <c:pt idx="40">
                  <c:v>178889</c:v>
                </c:pt>
                <c:pt idx="41">
                  <c:v>168067</c:v>
                </c:pt>
                <c:pt idx="42">
                  <c:v>167387</c:v>
                </c:pt>
                <c:pt idx="43">
                  <c:v>176676</c:v>
                </c:pt>
                <c:pt idx="44">
                  <c:v>157665</c:v>
                </c:pt>
                <c:pt idx="45">
                  <c:v>171356</c:v>
                </c:pt>
                <c:pt idx="46">
                  <c:v>158414</c:v>
                </c:pt>
                <c:pt idx="47">
                  <c:v>167037</c:v>
                </c:pt>
                <c:pt idx="48">
                  <c:v>185721</c:v>
                </c:pt>
                <c:pt idx="49">
                  <c:v>192575</c:v>
                </c:pt>
                <c:pt idx="50">
                  <c:v>201120</c:v>
                </c:pt>
                <c:pt idx="51">
                  <c:v>203389</c:v>
                </c:pt>
                <c:pt idx="52">
                  <c:v>200096</c:v>
                </c:pt>
                <c:pt idx="53">
                  <c:v>198670</c:v>
                </c:pt>
                <c:pt idx="54">
                  <c:v>214705</c:v>
                </c:pt>
                <c:pt idx="55">
                  <c:v>203635</c:v>
                </c:pt>
                <c:pt idx="56">
                  <c:v>211899</c:v>
                </c:pt>
                <c:pt idx="57">
                  <c:v>222335</c:v>
                </c:pt>
                <c:pt idx="58">
                  <c:v>212432</c:v>
                </c:pt>
                <c:pt idx="59">
                  <c:v>218577</c:v>
                </c:pt>
                <c:pt idx="60">
                  <c:v>219557</c:v>
                </c:pt>
                <c:pt idx="61">
                  <c:v>206365</c:v>
                </c:pt>
                <c:pt idx="62">
                  <c:v>223377</c:v>
                </c:pt>
                <c:pt idx="63">
                  <c:v>202230</c:v>
                </c:pt>
                <c:pt idx="64">
                  <c:v>200998</c:v>
                </c:pt>
                <c:pt idx="65">
                  <c:v>208984</c:v>
                </c:pt>
                <c:pt idx="66">
                  <c:v>202444</c:v>
                </c:pt>
                <c:pt idx="67">
                  <c:v>200332</c:v>
                </c:pt>
                <c:pt idx="68">
                  <c:v>207164</c:v>
                </c:pt>
                <c:pt idx="69">
                  <c:v>203449</c:v>
                </c:pt>
                <c:pt idx="70">
                  <c:v>193939</c:v>
                </c:pt>
                <c:pt idx="71">
                  <c:v>210767</c:v>
                </c:pt>
                <c:pt idx="72">
                  <c:v>203480</c:v>
                </c:pt>
                <c:pt idx="73">
                  <c:v>225355</c:v>
                </c:pt>
                <c:pt idx="74">
                  <c:v>257751</c:v>
                </c:pt>
                <c:pt idx="75">
                  <c:v>231743</c:v>
                </c:pt>
                <c:pt idx="76">
                  <c:v>242928</c:v>
                </c:pt>
                <c:pt idx="77">
                  <c:v>243120</c:v>
                </c:pt>
                <c:pt idx="78">
                  <c:v>236748</c:v>
                </c:pt>
                <c:pt idx="79">
                  <c:v>239552</c:v>
                </c:pt>
                <c:pt idx="80">
                  <c:v>241308</c:v>
                </c:pt>
                <c:pt idx="81">
                  <c:v>229562</c:v>
                </c:pt>
                <c:pt idx="82">
                  <c:v>226598</c:v>
                </c:pt>
                <c:pt idx="83">
                  <c:v>246001</c:v>
                </c:pt>
                <c:pt idx="84">
                  <c:v>246179</c:v>
                </c:pt>
                <c:pt idx="85">
                  <c:v>260951</c:v>
                </c:pt>
                <c:pt idx="86">
                  <c:v>279859</c:v>
                </c:pt>
                <c:pt idx="87">
                  <c:v>258991</c:v>
                </c:pt>
                <c:pt idx="88">
                  <c:v>287989</c:v>
                </c:pt>
                <c:pt idx="89">
                  <c:v>274741</c:v>
                </c:pt>
                <c:pt idx="90">
                  <c:v>260093</c:v>
                </c:pt>
                <c:pt idx="91">
                  <c:v>279865</c:v>
                </c:pt>
                <c:pt idx="92">
                  <c:v>267137</c:v>
                </c:pt>
                <c:pt idx="93">
                  <c:v>254372</c:v>
                </c:pt>
                <c:pt idx="94">
                  <c:v>261534</c:v>
                </c:pt>
                <c:pt idx="95">
                  <c:v>276939</c:v>
                </c:pt>
                <c:pt idx="96">
                  <c:v>267687</c:v>
                </c:pt>
                <c:pt idx="97">
                  <c:v>269368</c:v>
                </c:pt>
                <c:pt idx="98">
                  <c:v>291534</c:v>
                </c:pt>
                <c:pt idx="99">
                  <c:v>269744</c:v>
                </c:pt>
                <c:pt idx="100">
                  <c:v>283213</c:v>
                </c:pt>
                <c:pt idx="101">
                  <c:v>273282</c:v>
                </c:pt>
                <c:pt idx="102">
                  <c:v>267608</c:v>
                </c:pt>
                <c:pt idx="103">
                  <c:v>288574</c:v>
                </c:pt>
                <c:pt idx="104">
                  <c:v>253142</c:v>
                </c:pt>
                <c:pt idx="105">
                  <c:v>270961</c:v>
                </c:pt>
                <c:pt idx="106">
                  <c:v>245357</c:v>
                </c:pt>
                <c:pt idx="107">
                  <c:v>248920</c:v>
                </c:pt>
                <c:pt idx="108">
                  <c:v>281471</c:v>
                </c:pt>
                <c:pt idx="109">
                  <c:v>265192</c:v>
                </c:pt>
                <c:pt idx="110">
                  <c:v>283349</c:v>
                </c:pt>
                <c:pt idx="111">
                  <c:v>289053</c:v>
                </c:pt>
                <c:pt idx="112">
                  <c:v>294723</c:v>
                </c:pt>
                <c:pt idx="113">
                  <c:v>273175</c:v>
                </c:pt>
                <c:pt idx="114">
                  <c:v>281569</c:v>
                </c:pt>
                <c:pt idx="115">
                  <c:v>283806</c:v>
                </c:pt>
                <c:pt idx="116">
                  <c:v>264878</c:v>
                </c:pt>
                <c:pt idx="117">
                  <c:v>290085</c:v>
                </c:pt>
                <c:pt idx="118">
                  <c:v>250159</c:v>
                </c:pt>
                <c:pt idx="119">
                  <c:v>231718</c:v>
                </c:pt>
                <c:pt idx="120">
                  <c:v>291784</c:v>
                </c:pt>
                <c:pt idx="121">
                  <c:v>293704</c:v>
                </c:pt>
                <c:pt idx="122">
                  <c:v>283626</c:v>
                </c:pt>
                <c:pt idx="123">
                  <c:v>293609</c:v>
                </c:pt>
                <c:pt idx="124">
                  <c:v>298117</c:v>
                </c:pt>
                <c:pt idx="125">
                  <c:v>263934</c:v>
                </c:pt>
                <c:pt idx="126">
                  <c:v>277207</c:v>
                </c:pt>
                <c:pt idx="127">
                  <c:v>271507</c:v>
                </c:pt>
                <c:pt idx="128">
                  <c:v>270439</c:v>
                </c:pt>
                <c:pt idx="129">
                  <c:v>285583</c:v>
                </c:pt>
                <c:pt idx="130">
                  <c:v>252308</c:v>
                </c:pt>
                <c:pt idx="131">
                  <c:v>268867</c:v>
                </c:pt>
                <c:pt idx="132">
                  <c:v>276477</c:v>
                </c:pt>
                <c:pt idx="133">
                  <c:v>269068</c:v>
                </c:pt>
                <c:pt idx="134">
                  <c:v>285789</c:v>
                </c:pt>
                <c:pt idx="135">
                  <c:v>272675</c:v>
                </c:pt>
                <c:pt idx="136">
                  <c:v>266664</c:v>
                </c:pt>
                <c:pt idx="137">
                  <c:v>272190</c:v>
                </c:pt>
                <c:pt idx="138">
                  <c:v>253791</c:v>
                </c:pt>
                <c:pt idx="139">
                  <c:v>242545</c:v>
                </c:pt>
                <c:pt idx="140">
                  <c:v>239787</c:v>
                </c:pt>
                <c:pt idx="141">
                  <c:v>235822</c:v>
                </c:pt>
                <c:pt idx="142">
                  <c:v>212812</c:v>
                </c:pt>
                <c:pt idx="143">
                  <c:v>233255</c:v>
                </c:pt>
                <c:pt idx="144">
                  <c:v>213647</c:v>
                </c:pt>
                <c:pt idx="145">
                  <c:v>231114</c:v>
                </c:pt>
                <c:pt idx="146">
                  <c:v>252223</c:v>
                </c:pt>
                <c:pt idx="147">
                  <c:v>223674</c:v>
                </c:pt>
                <c:pt idx="148">
                  <c:v>216607</c:v>
                </c:pt>
                <c:pt idx="149">
                  <c:v>219652</c:v>
                </c:pt>
                <c:pt idx="150">
                  <c:v>201725</c:v>
                </c:pt>
                <c:pt idx="151">
                  <c:v>211729</c:v>
                </c:pt>
                <c:pt idx="152">
                  <c:v>199100</c:v>
                </c:pt>
                <c:pt idx="153">
                  <c:v>193294</c:v>
                </c:pt>
                <c:pt idx="154">
                  <c:v>193135</c:v>
                </c:pt>
                <c:pt idx="155">
                  <c:v>207097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B9A-4DFD-9EF2-94290DCC4905}"/>
            </c:ext>
          </c:extLst>
        </c:ser>
        <c:ser>
          <c:idx val="2"/>
          <c:order val="2"/>
          <c:tx>
            <c:v>RJ Adm</c:v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Planilha1!$I$3:$I$158</c:f>
              <c:strCache>
                <c:ptCount val="156"/>
                <c:pt idx="0">
                  <c:v>2004M01</c:v>
                </c:pt>
                <c:pt idx="1">
                  <c:v>2004M02</c:v>
                </c:pt>
                <c:pt idx="2">
                  <c:v>2004M03</c:v>
                </c:pt>
                <c:pt idx="3">
                  <c:v>2004M04</c:v>
                </c:pt>
                <c:pt idx="4">
                  <c:v>2004M05</c:v>
                </c:pt>
                <c:pt idx="5">
                  <c:v>2004M06</c:v>
                </c:pt>
                <c:pt idx="6">
                  <c:v>2004M07</c:v>
                </c:pt>
                <c:pt idx="7">
                  <c:v>2004M08</c:v>
                </c:pt>
                <c:pt idx="8">
                  <c:v>2004M09</c:v>
                </c:pt>
                <c:pt idx="9">
                  <c:v>2004M10</c:v>
                </c:pt>
                <c:pt idx="10">
                  <c:v>2004M11</c:v>
                </c:pt>
                <c:pt idx="11">
                  <c:v>2004M12</c:v>
                </c:pt>
                <c:pt idx="12">
                  <c:v>2005M01</c:v>
                </c:pt>
                <c:pt idx="13">
                  <c:v>2005M02</c:v>
                </c:pt>
                <c:pt idx="14">
                  <c:v>2005M03</c:v>
                </c:pt>
                <c:pt idx="15">
                  <c:v>2005M04</c:v>
                </c:pt>
                <c:pt idx="16">
                  <c:v>2005M05</c:v>
                </c:pt>
                <c:pt idx="17">
                  <c:v>2005M06</c:v>
                </c:pt>
                <c:pt idx="18">
                  <c:v>2005M07</c:v>
                </c:pt>
                <c:pt idx="19">
                  <c:v>2005M08</c:v>
                </c:pt>
                <c:pt idx="20">
                  <c:v>2005M09</c:v>
                </c:pt>
                <c:pt idx="21">
                  <c:v>2005M10</c:v>
                </c:pt>
                <c:pt idx="22">
                  <c:v>2005M11</c:v>
                </c:pt>
                <c:pt idx="23">
                  <c:v>2005M12</c:v>
                </c:pt>
                <c:pt idx="24">
                  <c:v>2006M01</c:v>
                </c:pt>
                <c:pt idx="25">
                  <c:v>2006M02</c:v>
                </c:pt>
                <c:pt idx="26">
                  <c:v>2006M03</c:v>
                </c:pt>
                <c:pt idx="27">
                  <c:v>2006M04</c:v>
                </c:pt>
                <c:pt idx="28">
                  <c:v>2006M05</c:v>
                </c:pt>
                <c:pt idx="29">
                  <c:v>2006M06</c:v>
                </c:pt>
                <c:pt idx="30">
                  <c:v>2006M07</c:v>
                </c:pt>
                <c:pt idx="31">
                  <c:v>2006M08</c:v>
                </c:pt>
                <c:pt idx="32">
                  <c:v>2006M09</c:v>
                </c:pt>
                <c:pt idx="33">
                  <c:v>2006M10</c:v>
                </c:pt>
                <c:pt idx="34">
                  <c:v>2006M11</c:v>
                </c:pt>
                <c:pt idx="35">
                  <c:v>2006M12</c:v>
                </c:pt>
                <c:pt idx="36">
                  <c:v>2007M01</c:v>
                </c:pt>
                <c:pt idx="37">
                  <c:v>2007M02</c:v>
                </c:pt>
                <c:pt idx="38">
                  <c:v>2007M03</c:v>
                </c:pt>
                <c:pt idx="39">
                  <c:v>2007M04</c:v>
                </c:pt>
                <c:pt idx="40">
                  <c:v>2007M05</c:v>
                </c:pt>
                <c:pt idx="41">
                  <c:v>2007M06</c:v>
                </c:pt>
                <c:pt idx="42">
                  <c:v>2007M07</c:v>
                </c:pt>
                <c:pt idx="43">
                  <c:v>2007M08</c:v>
                </c:pt>
                <c:pt idx="44">
                  <c:v>2007M09</c:v>
                </c:pt>
                <c:pt idx="45">
                  <c:v>2007M10</c:v>
                </c:pt>
                <c:pt idx="46">
                  <c:v>2007M11</c:v>
                </c:pt>
                <c:pt idx="47">
                  <c:v>2007M12</c:v>
                </c:pt>
                <c:pt idx="48">
                  <c:v>2008M01</c:v>
                </c:pt>
                <c:pt idx="49">
                  <c:v>2008M02</c:v>
                </c:pt>
                <c:pt idx="50">
                  <c:v>2008M03</c:v>
                </c:pt>
                <c:pt idx="51">
                  <c:v>2008M04</c:v>
                </c:pt>
                <c:pt idx="52">
                  <c:v>2008M05</c:v>
                </c:pt>
                <c:pt idx="53">
                  <c:v>2008M06</c:v>
                </c:pt>
                <c:pt idx="54">
                  <c:v>2008M07</c:v>
                </c:pt>
                <c:pt idx="55">
                  <c:v>2008M08</c:v>
                </c:pt>
                <c:pt idx="56">
                  <c:v>2008M09</c:v>
                </c:pt>
                <c:pt idx="57">
                  <c:v>2008M10</c:v>
                </c:pt>
                <c:pt idx="58">
                  <c:v>2008M11</c:v>
                </c:pt>
                <c:pt idx="59">
                  <c:v>2008M12</c:v>
                </c:pt>
                <c:pt idx="60">
                  <c:v>2009M01</c:v>
                </c:pt>
                <c:pt idx="61">
                  <c:v>2009M02</c:v>
                </c:pt>
                <c:pt idx="62">
                  <c:v>2009M03</c:v>
                </c:pt>
                <c:pt idx="63">
                  <c:v>2009M04</c:v>
                </c:pt>
                <c:pt idx="64">
                  <c:v>2009M05</c:v>
                </c:pt>
                <c:pt idx="65">
                  <c:v>2009M06</c:v>
                </c:pt>
                <c:pt idx="66">
                  <c:v>2009M07</c:v>
                </c:pt>
                <c:pt idx="67">
                  <c:v>2009M08</c:v>
                </c:pt>
                <c:pt idx="68">
                  <c:v>2009M09</c:v>
                </c:pt>
                <c:pt idx="69">
                  <c:v>2009M10</c:v>
                </c:pt>
                <c:pt idx="70">
                  <c:v>2009M11</c:v>
                </c:pt>
                <c:pt idx="71">
                  <c:v>2009M12</c:v>
                </c:pt>
                <c:pt idx="72">
                  <c:v>2010M01</c:v>
                </c:pt>
                <c:pt idx="73">
                  <c:v>2010M02</c:v>
                </c:pt>
                <c:pt idx="74">
                  <c:v>2010M03</c:v>
                </c:pt>
                <c:pt idx="75">
                  <c:v>2010M04</c:v>
                </c:pt>
                <c:pt idx="76">
                  <c:v>2010M05</c:v>
                </c:pt>
                <c:pt idx="77">
                  <c:v>2010M06</c:v>
                </c:pt>
                <c:pt idx="78">
                  <c:v>2010M07</c:v>
                </c:pt>
                <c:pt idx="79">
                  <c:v>2010M08</c:v>
                </c:pt>
                <c:pt idx="80">
                  <c:v>2010M09</c:v>
                </c:pt>
                <c:pt idx="81">
                  <c:v>2010M10</c:v>
                </c:pt>
                <c:pt idx="82">
                  <c:v>2010M11</c:v>
                </c:pt>
                <c:pt idx="83">
                  <c:v>2010M12</c:v>
                </c:pt>
                <c:pt idx="84">
                  <c:v>2011M01</c:v>
                </c:pt>
                <c:pt idx="85">
                  <c:v>2011M02</c:v>
                </c:pt>
                <c:pt idx="86">
                  <c:v>2011M03</c:v>
                </c:pt>
                <c:pt idx="87">
                  <c:v>2011M04</c:v>
                </c:pt>
                <c:pt idx="88">
                  <c:v>2011M05</c:v>
                </c:pt>
                <c:pt idx="89">
                  <c:v>2011M06</c:v>
                </c:pt>
                <c:pt idx="90">
                  <c:v>2011M07</c:v>
                </c:pt>
                <c:pt idx="91">
                  <c:v>2011M08</c:v>
                </c:pt>
                <c:pt idx="92">
                  <c:v>2011M09</c:v>
                </c:pt>
                <c:pt idx="93">
                  <c:v>2011M10</c:v>
                </c:pt>
                <c:pt idx="94">
                  <c:v>2011M11</c:v>
                </c:pt>
                <c:pt idx="95">
                  <c:v>2011M12</c:v>
                </c:pt>
                <c:pt idx="96">
                  <c:v>2012M01</c:v>
                </c:pt>
                <c:pt idx="97">
                  <c:v>2012M02</c:v>
                </c:pt>
                <c:pt idx="98">
                  <c:v>2012M03</c:v>
                </c:pt>
                <c:pt idx="99">
                  <c:v>2012M04</c:v>
                </c:pt>
                <c:pt idx="100">
                  <c:v>2012M05</c:v>
                </c:pt>
                <c:pt idx="101">
                  <c:v>2012M06</c:v>
                </c:pt>
                <c:pt idx="102">
                  <c:v>2012M07</c:v>
                </c:pt>
                <c:pt idx="103">
                  <c:v>2012M08</c:v>
                </c:pt>
                <c:pt idx="104">
                  <c:v>2012M09</c:v>
                </c:pt>
                <c:pt idx="105">
                  <c:v>2012M10</c:v>
                </c:pt>
                <c:pt idx="106">
                  <c:v>2012M11</c:v>
                </c:pt>
                <c:pt idx="107">
                  <c:v>2012M12</c:v>
                </c:pt>
                <c:pt idx="108">
                  <c:v>2013M01</c:v>
                </c:pt>
                <c:pt idx="109">
                  <c:v>2013M02</c:v>
                </c:pt>
                <c:pt idx="110">
                  <c:v>2013M03</c:v>
                </c:pt>
                <c:pt idx="111">
                  <c:v>2013M04</c:v>
                </c:pt>
                <c:pt idx="112">
                  <c:v>2013M05</c:v>
                </c:pt>
                <c:pt idx="113">
                  <c:v>2013M06</c:v>
                </c:pt>
                <c:pt idx="114">
                  <c:v>2013M07</c:v>
                </c:pt>
                <c:pt idx="115">
                  <c:v>2013M08</c:v>
                </c:pt>
                <c:pt idx="116">
                  <c:v>2013M09</c:v>
                </c:pt>
                <c:pt idx="117">
                  <c:v>2013M10</c:v>
                </c:pt>
                <c:pt idx="118">
                  <c:v>2013M11</c:v>
                </c:pt>
                <c:pt idx="119">
                  <c:v>2013M12</c:v>
                </c:pt>
                <c:pt idx="120">
                  <c:v>2014M01</c:v>
                </c:pt>
                <c:pt idx="121">
                  <c:v>2014M02</c:v>
                </c:pt>
                <c:pt idx="122">
                  <c:v>2014M03</c:v>
                </c:pt>
                <c:pt idx="123">
                  <c:v>2014M04</c:v>
                </c:pt>
                <c:pt idx="124">
                  <c:v>2014M05</c:v>
                </c:pt>
                <c:pt idx="125">
                  <c:v>2014M06</c:v>
                </c:pt>
                <c:pt idx="126">
                  <c:v>2014M07</c:v>
                </c:pt>
                <c:pt idx="127">
                  <c:v>2014M08</c:v>
                </c:pt>
                <c:pt idx="128">
                  <c:v>2014M09</c:v>
                </c:pt>
                <c:pt idx="129">
                  <c:v>2014M10</c:v>
                </c:pt>
                <c:pt idx="130">
                  <c:v>2014M11</c:v>
                </c:pt>
                <c:pt idx="131">
                  <c:v>2014M12</c:v>
                </c:pt>
                <c:pt idx="132">
                  <c:v>2015M01</c:v>
                </c:pt>
                <c:pt idx="133">
                  <c:v>2015M02</c:v>
                </c:pt>
                <c:pt idx="134">
                  <c:v>2015M03</c:v>
                </c:pt>
                <c:pt idx="135">
                  <c:v>2015M04</c:v>
                </c:pt>
                <c:pt idx="136">
                  <c:v>2015M05</c:v>
                </c:pt>
                <c:pt idx="137">
                  <c:v>2015M06</c:v>
                </c:pt>
                <c:pt idx="138">
                  <c:v>2015M07</c:v>
                </c:pt>
                <c:pt idx="139">
                  <c:v>2015M08</c:v>
                </c:pt>
                <c:pt idx="140">
                  <c:v>2015M09</c:v>
                </c:pt>
                <c:pt idx="141">
                  <c:v>2015M10</c:v>
                </c:pt>
                <c:pt idx="142">
                  <c:v>2015M11</c:v>
                </c:pt>
                <c:pt idx="143">
                  <c:v>2015M12</c:v>
                </c:pt>
                <c:pt idx="144">
                  <c:v>2016M01</c:v>
                </c:pt>
                <c:pt idx="145">
                  <c:v>2016M02</c:v>
                </c:pt>
                <c:pt idx="146">
                  <c:v>2016M03</c:v>
                </c:pt>
                <c:pt idx="147">
                  <c:v>2016M04</c:v>
                </c:pt>
                <c:pt idx="148">
                  <c:v>2016M05</c:v>
                </c:pt>
                <c:pt idx="149">
                  <c:v>2016M06</c:v>
                </c:pt>
                <c:pt idx="150">
                  <c:v>2016M07</c:v>
                </c:pt>
                <c:pt idx="151">
                  <c:v>2016M08</c:v>
                </c:pt>
                <c:pt idx="152">
                  <c:v>2016M09</c:v>
                </c:pt>
                <c:pt idx="153">
                  <c:v>2016M10</c:v>
                </c:pt>
                <c:pt idx="154">
                  <c:v>2016M11</c:v>
                </c:pt>
                <c:pt idx="155">
                  <c:v>2016M12</c:v>
                </c:pt>
              </c:strCache>
            </c:strRef>
          </c:cat>
          <c:val>
            <c:numRef>
              <c:f>Planilha1!$C$3:$C$158</c:f>
              <c:numCache>
                <c:formatCode>General</c:formatCode>
                <c:ptCount val="156"/>
                <c:pt idx="0">
                  <c:v>60021</c:v>
                </c:pt>
                <c:pt idx="1">
                  <c:v>58880</c:v>
                </c:pt>
                <c:pt idx="2">
                  <c:v>66560</c:v>
                </c:pt>
                <c:pt idx="3">
                  <c:v>61132</c:v>
                </c:pt>
                <c:pt idx="4">
                  <c:v>64252</c:v>
                </c:pt>
                <c:pt idx="5">
                  <c:v>61439</c:v>
                </c:pt>
                <c:pt idx="6">
                  <c:v>65616</c:v>
                </c:pt>
                <c:pt idx="7">
                  <c:v>68513</c:v>
                </c:pt>
                <c:pt idx="8">
                  <c:v>61201</c:v>
                </c:pt>
                <c:pt idx="9">
                  <c:v>59010</c:v>
                </c:pt>
                <c:pt idx="10">
                  <c:v>64929</c:v>
                </c:pt>
                <c:pt idx="11">
                  <c:v>56900</c:v>
                </c:pt>
                <c:pt idx="12">
                  <c:v>63691</c:v>
                </c:pt>
                <c:pt idx="13">
                  <c:v>60188</c:v>
                </c:pt>
                <c:pt idx="14">
                  <c:v>70394</c:v>
                </c:pt>
                <c:pt idx="15">
                  <c:v>69588</c:v>
                </c:pt>
                <c:pt idx="16">
                  <c:v>70947</c:v>
                </c:pt>
                <c:pt idx="17">
                  <c:v>70534</c:v>
                </c:pt>
                <c:pt idx="18">
                  <c:v>66579</c:v>
                </c:pt>
                <c:pt idx="19">
                  <c:v>72082</c:v>
                </c:pt>
                <c:pt idx="20">
                  <c:v>69065</c:v>
                </c:pt>
                <c:pt idx="21">
                  <c:v>66847</c:v>
                </c:pt>
                <c:pt idx="22">
                  <c:v>74072</c:v>
                </c:pt>
                <c:pt idx="23">
                  <c:v>63347</c:v>
                </c:pt>
                <c:pt idx="24">
                  <c:v>72518</c:v>
                </c:pt>
                <c:pt idx="25">
                  <c:v>68137</c:v>
                </c:pt>
                <c:pt idx="26">
                  <c:v>72174</c:v>
                </c:pt>
                <c:pt idx="27">
                  <c:v>72766</c:v>
                </c:pt>
                <c:pt idx="28">
                  <c:v>72663</c:v>
                </c:pt>
                <c:pt idx="29">
                  <c:v>64614</c:v>
                </c:pt>
                <c:pt idx="30">
                  <c:v>69928</c:v>
                </c:pt>
                <c:pt idx="31">
                  <c:v>73478</c:v>
                </c:pt>
                <c:pt idx="32">
                  <c:v>70220</c:v>
                </c:pt>
                <c:pt idx="33">
                  <c:v>71349</c:v>
                </c:pt>
                <c:pt idx="34">
                  <c:v>74258</c:v>
                </c:pt>
                <c:pt idx="35">
                  <c:v>66101</c:v>
                </c:pt>
                <c:pt idx="36">
                  <c:v>76104</c:v>
                </c:pt>
                <c:pt idx="37">
                  <c:v>71076</c:v>
                </c:pt>
                <c:pt idx="38">
                  <c:v>80942</c:v>
                </c:pt>
                <c:pt idx="39">
                  <c:v>81681</c:v>
                </c:pt>
                <c:pt idx="40">
                  <c:v>77596</c:v>
                </c:pt>
                <c:pt idx="41">
                  <c:v>79045</c:v>
                </c:pt>
                <c:pt idx="42">
                  <c:v>78518</c:v>
                </c:pt>
                <c:pt idx="43">
                  <c:v>81773</c:v>
                </c:pt>
                <c:pt idx="44">
                  <c:v>80667</c:v>
                </c:pt>
                <c:pt idx="45">
                  <c:v>83377</c:v>
                </c:pt>
                <c:pt idx="46">
                  <c:v>82803</c:v>
                </c:pt>
                <c:pt idx="47">
                  <c:v>71113</c:v>
                </c:pt>
                <c:pt idx="48">
                  <c:v>81503</c:v>
                </c:pt>
                <c:pt idx="49">
                  <c:v>82268</c:v>
                </c:pt>
                <c:pt idx="50">
                  <c:v>95315</c:v>
                </c:pt>
                <c:pt idx="51">
                  <c:v>92655</c:v>
                </c:pt>
                <c:pt idx="52">
                  <c:v>87447</c:v>
                </c:pt>
                <c:pt idx="53">
                  <c:v>93880</c:v>
                </c:pt>
                <c:pt idx="54">
                  <c:v>99902</c:v>
                </c:pt>
                <c:pt idx="55">
                  <c:v>94616</c:v>
                </c:pt>
                <c:pt idx="56">
                  <c:v>99134</c:v>
                </c:pt>
                <c:pt idx="57">
                  <c:v>98928</c:v>
                </c:pt>
                <c:pt idx="58">
                  <c:v>96173</c:v>
                </c:pt>
                <c:pt idx="59">
                  <c:v>73975</c:v>
                </c:pt>
                <c:pt idx="60">
                  <c:v>80753</c:v>
                </c:pt>
                <c:pt idx="61">
                  <c:v>84645</c:v>
                </c:pt>
                <c:pt idx="62">
                  <c:v>100063</c:v>
                </c:pt>
                <c:pt idx="63">
                  <c:v>87676</c:v>
                </c:pt>
                <c:pt idx="64">
                  <c:v>92210</c:v>
                </c:pt>
                <c:pt idx="65">
                  <c:v>89595</c:v>
                </c:pt>
                <c:pt idx="66">
                  <c:v>92005</c:v>
                </c:pt>
                <c:pt idx="67">
                  <c:v>94364</c:v>
                </c:pt>
                <c:pt idx="68">
                  <c:v>94627</c:v>
                </c:pt>
                <c:pt idx="69">
                  <c:v>94713</c:v>
                </c:pt>
                <c:pt idx="70">
                  <c:v>96981</c:v>
                </c:pt>
                <c:pt idx="71">
                  <c:v>84832</c:v>
                </c:pt>
                <c:pt idx="72">
                  <c:v>93181</c:v>
                </c:pt>
                <c:pt idx="73">
                  <c:v>97135</c:v>
                </c:pt>
                <c:pt idx="74">
                  <c:v>117965</c:v>
                </c:pt>
                <c:pt idx="75">
                  <c:v>97577</c:v>
                </c:pt>
                <c:pt idx="76">
                  <c:v>107160</c:v>
                </c:pt>
                <c:pt idx="77">
                  <c:v>104875</c:v>
                </c:pt>
                <c:pt idx="78">
                  <c:v>107954</c:v>
                </c:pt>
                <c:pt idx="79">
                  <c:v>115770</c:v>
                </c:pt>
                <c:pt idx="80">
                  <c:v>111954</c:v>
                </c:pt>
                <c:pt idx="81">
                  <c:v>110047</c:v>
                </c:pt>
                <c:pt idx="82">
                  <c:v>115065</c:v>
                </c:pt>
                <c:pt idx="83">
                  <c:v>96799</c:v>
                </c:pt>
                <c:pt idx="84">
                  <c:v>109969</c:v>
                </c:pt>
                <c:pt idx="85">
                  <c:v>120352</c:v>
                </c:pt>
                <c:pt idx="86">
                  <c:v>110749</c:v>
                </c:pt>
                <c:pt idx="87">
                  <c:v>120464</c:v>
                </c:pt>
                <c:pt idx="88">
                  <c:v>126201</c:v>
                </c:pt>
                <c:pt idx="89">
                  <c:v>119194</c:v>
                </c:pt>
                <c:pt idx="90">
                  <c:v>113559</c:v>
                </c:pt>
                <c:pt idx="91">
                  <c:v>123284</c:v>
                </c:pt>
                <c:pt idx="92">
                  <c:v>121479</c:v>
                </c:pt>
                <c:pt idx="93">
                  <c:v>113816</c:v>
                </c:pt>
                <c:pt idx="94">
                  <c:v>122171</c:v>
                </c:pt>
                <c:pt idx="95">
                  <c:v>104557</c:v>
                </c:pt>
                <c:pt idx="96">
                  <c:v>115370</c:v>
                </c:pt>
                <c:pt idx="97">
                  <c:v>119767</c:v>
                </c:pt>
                <c:pt idx="98">
                  <c:v>129190</c:v>
                </c:pt>
                <c:pt idx="99">
                  <c:v>122683</c:v>
                </c:pt>
                <c:pt idx="100">
                  <c:v>121068</c:v>
                </c:pt>
                <c:pt idx="101">
                  <c:v>122084</c:v>
                </c:pt>
                <c:pt idx="102">
                  <c:v>126892</c:v>
                </c:pt>
                <c:pt idx="103">
                  <c:v>129890</c:v>
                </c:pt>
                <c:pt idx="104">
                  <c:v>117863</c:v>
                </c:pt>
                <c:pt idx="105">
                  <c:v>118343</c:v>
                </c:pt>
                <c:pt idx="106">
                  <c:v>120131</c:v>
                </c:pt>
                <c:pt idx="107">
                  <c:v>101891</c:v>
                </c:pt>
                <c:pt idx="108">
                  <c:v>120752</c:v>
                </c:pt>
                <c:pt idx="109">
                  <c:v>118109</c:v>
                </c:pt>
                <c:pt idx="110">
                  <c:v>135846</c:v>
                </c:pt>
                <c:pt idx="111">
                  <c:v>134282</c:v>
                </c:pt>
                <c:pt idx="112">
                  <c:v>132780</c:v>
                </c:pt>
                <c:pt idx="113">
                  <c:v>127332</c:v>
                </c:pt>
                <c:pt idx="114">
                  <c:v>124710</c:v>
                </c:pt>
                <c:pt idx="115">
                  <c:v>130367</c:v>
                </c:pt>
                <c:pt idx="116">
                  <c:v>127289</c:v>
                </c:pt>
                <c:pt idx="117">
                  <c:v>131585</c:v>
                </c:pt>
                <c:pt idx="118">
                  <c:v>120528</c:v>
                </c:pt>
                <c:pt idx="119">
                  <c:v>86112</c:v>
                </c:pt>
                <c:pt idx="120">
                  <c:v>115558</c:v>
                </c:pt>
                <c:pt idx="121">
                  <c:v>140206</c:v>
                </c:pt>
                <c:pt idx="122">
                  <c:v>119055</c:v>
                </c:pt>
                <c:pt idx="123">
                  <c:v>129688</c:v>
                </c:pt>
                <c:pt idx="124">
                  <c:v>134548</c:v>
                </c:pt>
                <c:pt idx="125">
                  <c:v>118445</c:v>
                </c:pt>
                <c:pt idx="126">
                  <c:v>122204</c:v>
                </c:pt>
                <c:pt idx="127">
                  <c:v>127854</c:v>
                </c:pt>
                <c:pt idx="128">
                  <c:v>126459</c:v>
                </c:pt>
                <c:pt idx="129">
                  <c:v>122554</c:v>
                </c:pt>
                <c:pt idx="130">
                  <c:v>123367</c:v>
                </c:pt>
                <c:pt idx="131">
                  <c:v>97988</c:v>
                </c:pt>
                <c:pt idx="132">
                  <c:v>101759</c:v>
                </c:pt>
                <c:pt idx="133">
                  <c:v>110439</c:v>
                </c:pt>
                <c:pt idx="134">
                  <c:v>127180</c:v>
                </c:pt>
                <c:pt idx="135">
                  <c:v>105480</c:v>
                </c:pt>
                <c:pt idx="136">
                  <c:v>105845</c:v>
                </c:pt>
                <c:pt idx="137">
                  <c:v>106250</c:v>
                </c:pt>
                <c:pt idx="138">
                  <c:v>100893</c:v>
                </c:pt>
                <c:pt idx="139">
                  <c:v>102957</c:v>
                </c:pt>
                <c:pt idx="140">
                  <c:v>100593</c:v>
                </c:pt>
                <c:pt idx="141">
                  <c:v>90711</c:v>
                </c:pt>
                <c:pt idx="142">
                  <c:v>91989</c:v>
                </c:pt>
                <c:pt idx="143">
                  <c:v>78841</c:v>
                </c:pt>
                <c:pt idx="144">
                  <c:v>79727</c:v>
                </c:pt>
                <c:pt idx="145">
                  <c:v>82918</c:v>
                </c:pt>
                <c:pt idx="146">
                  <c:v>99688</c:v>
                </c:pt>
                <c:pt idx="147">
                  <c:v>92215</c:v>
                </c:pt>
                <c:pt idx="148">
                  <c:v>84217</c:v>
                </c:pt>
                <c:pt idx="149">
                  <c:v>85933</c:v>
                </c:pt>
                <c:pt idx="150">
                  <c:v>93145</c:v>
                </c:pt>
                <c:pt idx="151">
                  <c:v>84372</c:v>
                </c:pt>
                <c:pt idx="152">
                  <c:v>82323</c:v>
                </c:pt>
                <c:pt idx="153">
                  <c:v>72217</c:v>
                </c:pt>
                <c:pt idx="154">
                  <c:v>77748</c:v>
                </c:pt>
                <c:pt idx="155">
                  <c:v>67650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B9A-4DFD-9EF2-94290DCC4905}"/>
            </c:ext>
          </c:extLst>
        </c:ser>
        <c:ser>
          <c:idx val="3"/>
          <c:order val="3"/>
          <c:tx>
            <c:v>RJ Disc</c:v>
          </c:tx>
          <c:spPr>
            <a:ln w="28575" cap="rnd">
              <a:solidFill>
                <a:srgbClr val="FFC000"/>
              </a:solidFill>
              <a:round/>
            </a:ln>
            <a:effectLst/>
          </c:spPr>
          <c:marker>
            <c:symbol val="none"/>
          </c:marker>
          <c:cat>
            <c:strRef>
              <c:f>Planilha1!$I$3:$I$158</c:f>
              <c:strCache>
                <c:ptCount val="156"/>
                <c:pt idx="0">
                  <c:v>2004M01</c:v>
                </c:pt>
                <c:pt idx="1">
                  <c:v>2004M02</c:v>
                </c:pt>
                <c:pt idx="2">
                  <c:v>2004M03</c:v>
                </c:pt>
                <c:pt idx="3">
                  <c:v>2004M04</c:v>
                </c:pt>
                <c:pt idx="4">
                  <c:v>2004M05</c:v>
                </c:pt>
                <c:pt idx="5">
                  <c:v>2004M06</c:v>
                </c:pt>
                <c:pt idx="6">
                  <c:v>2004M07</c:v>
                </c:pt>
                <c:pt idx="7">
                  <c:v>2004M08</c:v>
                </c:pt>
                <c:pt idx="8">
                  <c:v>2004M09</c:v>
                </c:pt>
                <c:pt idx="9">
                  <c:v>2004M10</c:v>
                </c:pt>
                <c:pt idx="10">
                  <c:v>2004M11</c:v>
                </c:pt>
                <c:pt idx="11">
                  <c:v>2004M12</c:v>
                </c:pt>
                <c:pt idx="12">
                  <c:v>2005M01</c:v>
                </c:pt>
                <c:pt idx="13">
                  <c:v>2005M02</c:v>
                </c:pt>
                <c:pt idx="14">
                  <c:v>2005M03</c:v>
                </c:pt>
                <c:pt idx="15">
                  <c:v>2005M04</c:v>
                </c:pt>
                <c:pt idx="16">
                  <c:v>2005M05</c:v>
                </c:pt>
                <c:pt idx="17">
                  <c:v>2005M06</c:v>
                </c:pt>
                <c:pt idx="18">
                  <c:v>2005M07</c:v>
                </c:pt>
                <c:pt idx="19">
                  <c:v>2005M08</c:v>
                </c:pt>
                <c:pt idx="20">
                  <c:v>2005M09</c:v>
                </c:pt>
                <c:pt idx="21">
                  <c:v>2005M10</c:v>
                </c:pt>
                <c:pt idx="22">
                  <c:v>2005M11</c:v>
                </c:pt>
                <c:pt idx="23">
                  <c:v>2005M12</c:v>
                </c:pt>
                <c:pt idx="24">
                  <c:v>2006M01</c:v>
                </c:pt>
                <c:pt idx="25">
                  <c:v>2006M02</c:v>
                </c:pt>
                <c:pt idx="26">
                  <c:v>2006M03</c:v>
                </c:pt>
                <c:pt idx="27">
                  <c:v>2006M04</c:v>
                </c:pt>
                <c:pt idx="28">
                  <c:v>2006M05</c:v>
                </c:pt>
                <c:pt idx="29">
                  <c:v>2006M06</c:v>
                </c:pt>
                <c:pt idx="30">
                  <c:v>2006M07</c:v>
                </c:pt>
                <c:pt idx="31">
                  <c:v>2006M08</c:v>
                </c:pt>
                <c:pt idx="32">
                  <c:v>2006M09</c:v>
                </c:pt>
                <c:pt idx="33">
                  <c:v>2006M10</c:v>
                </c:pt>
                <c:pt idx="34">
                  <c:v>2006M11</c:v>
                </c:pt>
                <c:pt idx="35">
                  <c:v>2006M12</c:v>
                </c:pt>
                <c:pt idx="36">
                  <c:v>2007M01</c:v>
                </c:pt>
                <c:pt idx="37">
                  <c:v>2007M02</c:v>
                </c:pt>
                <c:pt idx="38">
                  <c:v>2007M03</c:v>
                </c:pt>
                <c:pt idx="39">
                  <c:v>2007M04</c:v>
                </c:pt>
                <c:pt idx="40">
                  <c:v>2007M05</c:v>
                </c:pt>
                <c:pt idx="41">
                  <c:v>2007M06</c:v>
                </c:pt>
                <c:pt idx="42">
                  <c:v>2007M07</c:v>
                </c:pt>
                <c:pt idx="43">
                  <c:v>2007M08</c:v>
                </c:pt>
                <c:pt idx="44">
                  <c:v>2007M09</c:v>
                </c:pt>
                <c:pt idx="45">
                  <c:v>2007M10</c:v>
                </c:pt>
                <c:pt idx="46">
                  <c:v>2007M11</c:v>
                </c:pt>
                <c:pt idx="47">
                  <c:v>2007M12</c:v>
                </c:pt>
                <c:pt idx="48">
                  <c:v>2008M01</c:v>
                </c:pt>
                <c:pt idx="49">
                  <c:v>2008M02</c:v>
                </c:pt>
                <c:pt idx="50">
                  <c:v>2008M03</c:v>
                </c:pt>
                <c:pt idx="51">
                  <c:v>2008M04</c:v>
                </c:pt>
                <c:pt idx="52">
                  <c:v>2008M05</c:v>
                </c:pt>
                <c:pt idx="53">
                  <c:v>2008M06</c:v>
                </c:pt>
                <c:pt idx="54">
                  <c:v>2008M07</c:v>
                </c:pt>
                <c:pt idx="55">
                  <c:v>2008M08</c:v>
                </c:pt>
                <c:pt idx="56">
                  <c:v>2008M09</c:v>
                </c:pt>
                <c:pt idx="57">
                  <c:v>2008M10</c:v>
                </c:pt>
                <c:pt idx="58">
                  <c:v>2008M11</c:v>
                </c:pt>
                <c:pt idx="59">
                  <c:v>2008M12</c:v>
                </c:pt>
                <c:pt idx="60">
                  <c:v>2009M01</c:v>
                </c:pt>
                <c:pt idx="61">
                  <c:v>2009M02</c:v>
                </c:pt>
                <c:pt idx="62">
                  <c:v>2009M03</c:v>
                </c:pt>
                <c:pt idx="63">
                  <c:v>2009M04</c:v>
                </c:pt>
                <c:pt idx="64">
                  <c:v>2009M05</c:v>
                </c:pt>
                <c:pt idx="65">
                  <c:v>2009M06</c:v>
                </c:pt>
                <c:pt idx="66">
                  <c:v>2009M07</c:v>
                </c:pt>
                <c:pt idx="67">
                  <c:v>2009M08</c:v>
                </c:pt>
                <c:pt idx="68">
                  <c:v>2009M09</c:v>
                </c:pt>
                <c:pt idx="69">
                  <c:v>2009M10</c:v>
                </c:pt>
                <c:pt idx="70">
                  <c:v>2009M11</c:v>
                </c:pt>
                <c:pt idx="71">
                  <c:v>2009M12</c:v>
                </c:pt>
                <c:pt idx="72">
                  <c:v>2010M01</c:v>
                </c:pt>
                <c:pt idx="73">
                  <c:v>2010M02</c:v>
                </c:pt>
                <c:pt idx="74">
                  <c:v>2010M03</c:v>
                </c:pt>
                <c:pt idx="75">
                  <c:v>2010M04</c:v>
                </c:pt>
                <c:pt idx="76">
                  <c:v>2010M05</c:v>
                </c:pt>
                <c:pt idx="77">
                  <c:v>2010M06</c:v>
                </c:pt>
                <c:pt idx="78">
                  <c:v>2010M07</c:v>
                </c:pt>
                <c:pt idx="79">
                  <c:v>2010M08</c:v>
                </c:pt>
                <c:pt idx="80">
                  <c:v>2010M09</c:v>
                </c:pt>
                <c:pt idx="81">
                  <c:v>2010M10</c:v>
                </c:pt>
                <c:pt idx="82">
                  <c:v>2010M11</c:v>
                </c:pt>
                <c:pt idx="83">
                  <c:v>2010M12</c:v>
                </c:pt>
                <c:pt idx="84">
                  <c:v>2011M01</c:v>
                </c:pt>
                <c:pt idx="85">
                  <c:v>2011M02</c:v>
                </c:pt>
                <c:pt idx="86">
                  <c:v>2011M03</c:v>
                </c:pt>
                <c:pt idx="87">
                  <c:v>2011M04</c:v>
                </c:pt>
                <c:pt idx="88">
                  <c:v>2011M05</c:v>
                </c:pt>
                <c:pt idx="89">
                  <c:v>2011M06</c:v>
                </c:pt>
                <c:pt idx="90">
                  <c:v>2011M07</c:v>
                </c:pt>
                <c:pt idx="91">
                  <c:v>2011M08</c:v>
                </c:pt>
                <c:pt idx="92">
                  <c:v>2011M09</c:v>
                </c:pt>
                <c:pt idx="93">
                  <c:v>2011M10</c:v>
                </c:pt>
                <c:pt idx="94">
                  <c:v>2011M11</c:v>
                </c:pt>
                <c:pt idx="95">
                  <c:v>2011M12</c:v>
                </c:pt>
                <c:pt idx="96">
                  <c:v>2012M01</c:v>
                </c:pt>
                <c:pt idx="97">
                  <c:v>2012M02</c:v>
                </c:pt>
                <c:pt idx="98">
                  <c:v>2012M03</c:v>
                </c:pt>
                <c:pt idx="99">
                  <c:v>2012M04</c:v>
                </c:pt>
                <c:pt idx="100">
                  <c:v>2012M05</c:v>
                </c:pt>
                <c:pt idx="101">
                  <c:v>2012M06</c:v>
                </c:pt>
                <c:pt idx="102">
                  <c:v>2012M07</c:v>
                </c:pt>
                <c:pt idx="103">
                  <c:v>2012M08</c:v>
                </c:pt>
                <c:pt idx="104">
                  <c:v>2012M09</c:v>
                </c:pt>
                <c:pt idx="105">
                  <c:v>2012M10</c:v>
                </c:pt>
                <c:pt idx="106">
                  <c:v>2012M11</c:v>
                </c:pt>
                <c:pt idx="107">
                  <c:v>2012M12</c:v>
                </c:pt>
                <c:pt idx="108">
                  <c:v>2013M01</c:v>
                </c:pt>
                <c:pt idx="109">
                  <c:v>2013M02</c:v>
                </c:pt>
                <c:pt idx="110">
                  <c:v>2013M03</c:v>
                </c:pt>
                <c:pt idx="111">
                  <c:v>2013M04</c:v>
                </c:pt>
                <c:pt idx="112">
                  <c:v>2013M05</c:v>
                </c:pt>
                <c:pt idx="113">
                  <c:v>2013M06</c:v>
                </c:pt>
                <c:pt idx="114">
                  <c:v>2013M07</c:v>
                </c:pt>
                <c:pt idx="115">
                  <c:v>2013M08</c:v>
                </c:pt>
                <c:pt idx="116">
                  <c:v>2013M09</c:v>
                </c:pt>
                <c:pt idx="117">
                  <c:v>2013M10</c:v>
                </c:pt>
                <c:pt idx="118">
                  <c:v>2013M11</c:v>
                </c:pt>
                <c:pt idx="119">
                  <c:v>2013M12</c:v>
                </c:pt>
                <c:pt idx="120">
                  <c:v>2014M01</c:v>
                </c:pt>
                <c:pt idx="121">
                  <c:v>2014M02</c:v>
                </c:pt>
                <c:pt idx="122">
                  <c:v>2014M03</c:v>
                </c:pt>
                <c:pt idx="123">
                  <c:v>2014M04</c:v>
                </c:pt>
                <c:pt idx="124">
                  <c:v>2014M05</c:v>
                </c:pt>
                <c:pt idx="125">
                  <c:v>2014M06</c:v>
                </c:pt>
                <c:pt idx="126">
                  <c:v>2014M07</c:v>
                </c:pt>
                <c:pt idx="127">
                  <c:v>2014M08</c:v>
                </c:pt>
                <c:pt idx="128">
                  <c:v>2014M09</c:v>
                </c:pt>
                <c:pt idx="129">
                  <c:v>2014M10</c:v>
                </c:pt>
                <c:pt idx="130">
                  <c:v>2014M11</c:v>
                </c:pt>
                <c:pt idx="131">
                  <c:v>2014M12</c:v>
                </c:pt>
                <c:pt idx="132">
                  <c:v>2015M01</c:v>
                </c:pt>
                <c:pt idx="133">
                  <c:v>2015M02</c:v>
                </c:pt>
                <c:pt idx="134">
                  <c:v>2015M03</c:v>
                </c:pt>
                <c:pt idx="135">
                  <c:v>2015M04</c:v>
                </c:pt>
                <c:pt idx="136">
                  <c:v>2015M05</c:v>
                </c:pt>
                <c:pt idx="137">
                  <c:v>2015M06</c:v>
                </c:pt>
                <c:pt idx="138">
                  <c:v>2015M07</c:v>
                </c:pt>
                <c:pt idx="139">
                  <c:v>2015M08</c:v>
                </c:pt>
                <c:pt idx="140">
                  <c:v>2015M09</c:v>
                </c:pt>
                <c:pt idx="141">
                  <c:v>2015M10</c:v>
                </c:pt>
                <c:pt idx="142">
                  <c:v>2015M11</c:v>
                </c:pt>
                <c:pt idx="143">
                  <c:v>2015M12</c:v>
                </c:pt>
                <c:pt idx="144">
                  <c:v>2016M01</c:v>
                </c:pt>
                <c:pt idx="145">
                  <c:v>2016M02</c:v>
                </c:pt>
                <c:pt idx="146">
                  <c:v>2016M03</c:v>
                </c:pt>
                <c:pt idx="147">
                  <c:v>2016M04</c:v>
                </c:pt>
                <c:pt idx="148">
                  <c:v>2016M05</c:v>
                </c:pt>
                <c:pt idx="149">
                  <c:v>2016M06</c:v>
                </c:pt>
                <c:pt idx="150">
                  <c:v>2016M07</c:v>
                </c:pt>
                <c:pt idx="151">
                  <c:v>2016M08</c:v>
                </c:pt>
                <c:pt idx="152">
                  <c:v>2016M09</c:v>
                </c:pt>
                <c:pt idx="153">
                  <c:v>2016M10</c:v>
                </c:pt>
                <c:pt idx="154">
                  <c:v>2016M11</c:v>
                </c:pt>
                <c:pt idx="155">
                  <c:v>2016M12</c:v>
                </c:pt>
              </c:strCache>
            </c:strRef>
          </c:cat>
          <c:val>
            <c:numRef>
              <c:f>Planilha1!$D$3:$D$158</c:f>
              <c:numCache>
                <c:formatCode>General</c:formatCode>
                <c:ptCount val="156"/>
                <c:pt idx="0">
                  <c:v>59154</c:v>
                </c:pt>
                <c:pt idx="1">
                  <c:v>52276</c:v>
                </c:pt>
                <c:pt idx="2">
                  <c:v>64582</c:v>
                </c:pt>
                <c:pt idx="3">
                  <c:v>52375</c:v>
                </c:pt>
                <c:pt idx="4">
                  <c:v>52700</c:v>
                </c:pt>
                <c:pt idx="5">
                  <c:v>56464</c:v>
                </c:pt>
                <c:pt idx="6">
                  <c:v>56342</c:v>
                </c:pt>
                <c:pt idx="7">
                  <c:v>54070</c:v>
                </c:pt>
                <c:pt idx="8">
                  <c:v>53099</c:v>
                </c:pt>
                <c:pt idx="9">
                  <c:v>51785</c:v>
                </c:pt>
                <c:pt idx="10">
                  <c:v>54487</c:v>
                </c:pt>
                <c:pt idx="11">
                  <c:v>59107</c:v>
                </c:pt>
                <c:pt idx="12">
                  <c:v>65152</c:v>
                </c:pt>
                <c:pt idx="13">
                  <c:v>54444</c:v>
                </c:pt>
                <c:pt idx="14">
                  <c:v>66622</c:v>
                </c:pt>
                <c:pt idx="15">
                  <c:v>57725</c:v>
                </c:pt>
                <c:pt idx="16">
                  <c:v>61903</c:v>
                </c:pt>
                <c:pt idx="17">
                  <c:v>60000</c:v>
                </c:pt>
                <c:pt idx="18">
                  <c:v>59987</c:v>
                </c:pt>
                <c:pt idx="19">
                  <c:v>60716</c:v>
                </c:pt>
                <c:pt idx="20">
                  <c:v>56662</c:v>
                </c:pt>
                <c:pt idx="21">
                  <c:v>55609</c:v>
                </c:pt>
                <c:pt idx="22">
                  <c:v>57633</c:v>
                </c:pt>
                <c:pt idx="23">
                  <c:v>65010</c:v>
                </c:pt>
                <c:pt idx="24">
                  <c:v>70605</c:v>
                </c:pt>
                <c:pt idx="25">
                  <c:v>56809</c:v>
                </c:pt>
                <c:pt idx="26">
                  <c:v>70669</c:v>
                </c:pt>
                <c:pt idx="27">
                  <c:v>57628</c:v>
                </c:pt>
                <c:pt idx="28">
                  <c:v>66276</c:v>
                </c:pt>
                <c:pt idx="29">
                  <c:v>62552</c:v>
                </c:pt>
                <c:pt idx="30">
                  <c:v>61360</c:v>
                </c:pt>
                <c:pt idx="31">
                  <c:v>69633</c:v>
                </c:pt>
                <c:pt idx="32">
                  <c:v>57666</c:v>
                </c:pt>
                <c:pt idx="33">
                  <c:v>58856</c:v>
                </c:pt>
                <c:pt idx="34">
                  <c:v>58203</c:v>
                </c:pt>
                <c:pt idx="35">
                  <c:v>65653</c:v>
                </c:pt>
                <c:pt idx="36">
                  <c:v>77101</c:v>
                </c:pt>
                <c:pt idx="37">
                  <c:v>62459</c:v>
                </c:pt>
                <c:pt idx="38">
                  <c:v>72615</c:v>
                </c:pt>
                <c:pt idx="39">
                  <c:v>61551</c:v>
                </c:pt>
                <c:pt idx="40">
                  <c:v>71291</c:v>
                </c:pt>
                <c:pt idx="41">
                  <c:v>66452</c:v>
                </c:pt>
                <c:pt idx="42">
                  <c:v>73185</c:v>
                </c:pt>
                <c:pt idx="43">
                  <c:v>74448</c:v>
                </c:pt>
                <c:pt idx="44">
                  <c:v>62835</c:v>
                </c:pt>
                <c:pt idx="45">
                  <c:v>67202</c:v>
                </c:pt>
                <c:pt idx="46">
                  <c:v>63918</c:v>
                </c:pt>
                <c:pt idx="47">
                  <c:v>66678</c:v>
                </c:pt>
                <c:pt idx="48">
                  <c:v>83517</c:v>
                </c:pt>
                <c:pt idx="49">
                  <c:v>72862</c:v>
                </c:pt>
                <c:pt idx="50">
                  <c:v>79550</c:v>
                </c:pt>
                <c:pt idx="51">
                  <c:v>76579</c:v>
                </c:pt>
                <c:pt idx="52">
                  <c:v>76355</c:v>
                </c:pt>
                <c:pt idx="53">
                  <c:v>82629</c:v>
                </c:pt>
                <c:pt idx="54">
                  <c:v>85355</c:v>
                </c:pt>
                <c:pt idx="55">
                  <c:v>81307</c:v>
                </c:pt>
                <c:pt idx="56">
                  <c:v>81543</c:v>
                </c:pt>
                <c:pt idx="57">
                  <c:v>86675</c:v>
                </c:pt>
                <c:pt idx="58">
                  <c:v>79945</c:v>
                </c:pt>
                <c:pt idx="59">
                  <c:v>86508</c:v>
                </c:pt>
                <c:pt idx="60">
                  <c:v>94076</c:v>
                </c:pt>
                <c:pt idx="61">
                  <c:v>79914</c:v>
                </c:pt>
                <c:pt idx="62">
                  <c:v>92426</c:v>
                </c:pt>
                <c:pt idx="63">
                  <c:v>84307</c:v>
                </c:pt>
                <c:pt idx="64">
                  <c:v>87179</c:v>
                </c:pt>
                <c:pt idx="65">
                  <c:v>85072</c:v>
                </c:pt>
                <c:pt idx="66">
                  <c:v>85842</c:v>
                </c:pt>
                <c:pt idx="67">
                  <c:v>81337</c:v>
                </c:pt>
                <c:pt idx="68">
                  <c:v>82019</c:v>
                </c:pt>
                <c:pt idx="69">
                  <c:v>80317</c:v>
                </c:pt>
                <c:pt idx="70">
                  <c:v>75320</c:v>
                </c:pt>
                <c:pt idx="71">
                  <c:v>88453</c:v>
                </c:pt>
                <c:pt idx="72">
                  <c:v>90033</c:v>
                </c:pt>
                <c:pt idx="73">
                  <c:v>90016</c:v>
                </c:pt>
                <c:pt idx="74">
                  <c:v>99742</c:v>
                </c:pt>
                <c:pt idx="75">
                  <c:v>87724</c:v>
                </c:pt>
                <c:pt idx="76">
                  <c:v>92859</c:v>
                </c:pt>
                <c:pt idx="77">
                  <c:v>92383</c:v>
                </c:pt>
                <c:pt idx="78">
                  <c:v>97378</c:v>
                </c:pt>
                <c:pt idx="79">
                  <c:v>97080</c:v>
                </c:pt>
                <c:pt idx="80">
                  <c:v>94378</c:v>
                </c:pt>
                <c:pt idx="81">
                  <c:v>93176</c:v>
                </c:pt>
                <c:pt idx="82">
                  <c:v>88423</c:v>
                </c:pt>
                <c:pt idx="83">
                  <c:v>101169</c:v>
                </c:pt>
                <c:pt idx="84">
                  <c:v>111121</c:v>
                </c:pt>
                <c:pt idx="85">
                  <c:v>103185</c:v>
                </c:pt>
                <c:pt idx="86">
                  <c:v>109024</c:v>
                </c:pt>
                <c:pt idx="87">
                  <c:v>98964</c:v>
                </c:pt>
                <c:pt idx="88">
                  <c:v>113410</c:v>
                </c:pt>
                <c:pt idx="89">
                  <c:v>107195</c:v>
                </c:pt>
                <c:pt idx="90">
                  <c:v>105550</c:v>
                </c:pt>
                <c:pt idx="91">
                  <c:v>108750</c:v>
                </c:pt>
                <c:pt idx="92">
                  <c:v>101812</c:v>
                </c:pt>
                <c:pt idx="93">
                  <c:v>103433</c:v>
                </c:pt>
                <c:pt idx="94">
                  <c:v>100340</c:v>
                </c:pt>
                <c:pt idx="95">
                  <c:v>113661</c:v>
                </c:pt>
                <c:pt idx="96">
                  <c:v>116814</c:v>
                </c:pt>
                <c:pt idx="97">
                  <c:v>105005</c:v>
                </c:pt>
                <c:pt idx="98">
                  <c:v>118562</c:v>
                </c:pt>
                <c:pt idx="99">
                  <c:v>107549</c:v>
                </c:pt>
                <c:pt idx="100">
                  <c:v>112999</c:v>
                </c:pt>
                <c:pt idx="101">
                  <c:v>117103</c:v>
                </c:pt>
                <c:pt idx="102">
                  <c:v>117096</c:v>
                </c:pt>
                <c:pt idx="103">
                  <c:v>120555</c:v>
                </c:pt>
                <c:pt idx="104">
                  <c:v>104426</c:v>
                </c:pt>
                <c:pt idx="105">
                  <c:v>112163</c:v>
                </c:pt>
                <c:pt idx="106">
                  <c:v>106773</c:v>
                </c:pt>
                <c:pt idx="107">
                  <c:v>114810</c:v>
                </c:pt>
                <c:pt idx="108">
                  <c:v>141759</c:v>
                </c:pt>
                <c:pt idx="109">
                  <c:v>110751</c:v>
                </c:pt>
                <c:pt idx="110">
                  <c:v>122731</c:v>
                </c:pt>
                <c:pt idx="111">
                  <c:v>122589</c:v>
                </c:pt>
                <c:pt idx="112">
                  <c:v>129235</c:v>
                </c:pt>
                <c:pt idx="113">
                  <c:v>123165</c:v>
                </c:pt>
                <c:pt idx="114">
                  <c:v>125365</c:v>
                </c:pt>
                <c:pt idx="115">
                  <c:v>123038</c:v>
                </c:pt>
                <c:pt idx="116">
                  <c:v>115312</c:v>
                </c:pt>
                <c:pt idx="117">
                  <c:v>127227</c:v>
                </c:pt>
                <c:pt idx="118">
                  <c:v>105371</c:v>
                </c:pt>
                <c:pt idx="119">
                  <c:v>94440</c:v>
                </c:pt>
                <c:pt idx="120">
                  <c:v>132649</c:v>
                </c:pt>
                <c:pt idx="121">
                  <c:v>117471</c:v>
                </c:pt>
                <c:pt idx="122">
                  <c:v>122410</c:v>
                </c:pt>
                <c:pt idx="123">
                  <c:v>121456</c:v>
                </c:pt>
                <c:pt idx="124">
                  <c:v>127325</c:v>
                </c:pt>
                <c:pt idx="125">
                  <c:v>114272</c:v>
                </c:pt>
                <c:pt idx="126">
                  <c:v>130240</c:v>
                </c:pt>
                <c:pt idx="127">
                  <c:v>117883</c:v>
                </c:pt>
                <c:pt idx="128">
                  <c:v>116438</c:v>
                </c:pt>
                <c:pt idx="129">
                  <c:v>120897</c:v>
                </c:pt>
                <c:pt idx="130">
                  <c:v>110655</c:v>
                </c:pt>
                <c:pt idx="131">
                  <c:v>114778</c:v>
                </c:pt>
                <c:pt idx="132">
                  <c:v>136586</c:v>
                </c:pt>
                <c:pt idx="133">
                  <c:v>116830</c:v>
                </c:pt>
                <c:pt idx="134">
                  <c:v>123102</c:v>
                </c:pt>
                <c:pt idx="135">
                  <c:v>115705</c:v>
                </c:pt>
                <c:pt idx="136">
                  <c:v>113785</c:v>
                </c:pt>
                <c:pt idx="137">
                  <c:v>112764</c:v>
                </c:pt>
                <c:pt idx="138">
                  <c:v>115653</c:v>
                </c:pt>
                <c:pt idx="139">
                  <c:v>110031</c:v>
                </c:pt>
                <c:pt idx="140">
                  <c:v>105187</c:v>
                </c:pt>
                <c:pt idx="141">
                  <c:v>104250</c:v>
                </c:pt>
                <c:pt idx="142">
                  <c:v>93976</c:v>
                </c:pt>
                <c:pt idx="143">
                  <c:v>108954</c:v>
                </c:pt>
                <c:pt idx="144">
                  <c:v>100011</c:v>
                </c:pt>
                <c:pt idx="145">
                  <c:v>98058</c:v>
                </c:pt>
                <c:pt idx="146">
                  <c:v>107840</c:v>
                </c:pt>
                <c:pt idx="147">
                  <c:v>100603</c:v>
                </c:pt>
                <c:pt idx="148">
                  <c:v>96282</c:v>
                </c:pt>
                <c:pt idx="149">
                  <c:v>99044</c:v>
                </c:pt>
                <c:pt idx="150">
                  <c:v>101603</c:v>
                </c:pt>
                <c:pt idx="151">
                  <c:v>109132</c:v>
                </c:pt>
                <c:pt idx="152">
                  <c:v>103959</c:v>
                </c:pt>
                <c:pt idx="153">
                  <c:v>89718</c:v>
                </c:pt>
                <c:pt idx="154">
                  <c:v>88145</c:v>
                </c:pt>
                <c:pt idx="155">
                  <c:v>102430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6B9A-4DFD-9EF2-94290DCC4905}"/>
            </c:ext>
          </c:extLst>
        </c:ser>
        <c:ser>
          <c:idx val="4"/>
          <c:order val="4"/>
          <c:tx>
            <c:v>DF Adm</c:v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strRef>
              <c:f>Planilha1!$I$3:$I$158</c:f>
              <c:strCache>
                <c:ptCount val="156"/>
                <c:pt idx="0">
                  <c:v>2004M01</c:v>
                </c:pt>
                <c:pt idx="1">
                  <c:v>2004M02</c:v>
                </c:pt>
                <c:pt idx="2">
                  <c:v>2004M03</c:v>
                </c:pt>
                <c:pt idx="3">
                  <c:v>2004M04</c:v>
                </c:pt>
                <c:pt idx="4">
                  <c:v>2004M05</c:v>
                </c:pt>
                <c:pt idx="5">
                  <c:v>2004M06</c:v>
                </c:pt>
                <c:pt idx="6">
                  <c:v>2004M07</c:v>
                </c:pt>
                <c:pt idx="7">
                  <c:v>2004M08</c:v>
                </c:pt>
                <c:pt idx="8">
                  <c:v>2004M09</c:v>
                </c:pt>
                <c:pt idx="9">
                  <c:v>2004M10</c:v>
                </c:pt>
                <c:pt idx="10">
                  <c:v>2004M11</c:v>
                </c:pt>
                <c:pt idx="11">
                  <c:v>2004M12</c:v>
                </c:pt>
                <c:pt idx="12">
                  <c:v>2005M01</c:v>
                </c:pt>
                <c:pt idx="13">
                  <c:v>2005M02</c:v>
                </c:pt>
                <c:pt idx="14">
                  <c:v>2005M03</c:v>
                </c:pt>
                <c:pt idx="15">
                  <c:v>2005M04</c:v>
                </c:pt>
                <c:pt idx="16">
                  <c:v>2005M05</c:v>
                </c:pt>
                <c:pt idx="17">
                  <c:v>2005M06</c:v>
                </c:pt>
                <c:pt idx="18">
                  <c:v>2005M07</c:v>
                </c:pt>
                <c:pt idx="19">
                  <c:v>2005M08</c:v>
                </c:pt>
                <c:pt idx="20">
                  <c:v>2005M09</c:v>
                </c:pt>
                <c:pt idx="21">
                  <c:v>2005M10</c:v>
                </c:pt>
                <c:pt idx="22">
                  <c:v>2005M11</c:v>
                </c:pt>
                <c:pt idx="23">
                  <c:v>2005M12</c:v>
                </c:pt>
                <c:pt idx="24">
                  <c:v>2006M01</c:v>
                </c:pt>
                <c:pt idx="25">
                  <c:v>2006M02</c:v>
                </c:pt>
                <c:pt idx="26">
                  <c:v>2006M03</c:v>
                </c:pt>
                <c:pt idx="27">
                  <c:v>2006M04</c:v>
                </c:pt>
                <c:pt idx="28">
                  <c:v>2006M05</c:v>
                </c:pt>
                <c:pt idx="29">
                  <c:v>2006M06</c:v>
                </c:pt>
                <c:pt idx="30">
                  <c:v>2006M07</c:v>
                </c:pt>
                <c:pt idx="31">
                  <c:v>2006M08</c:v>
                </c:pt>
                <c:pt idx="32">
                  <c:v>2006M09</c:v>
                </c:pt>
                <c:pt idx="33">
                  <c:v>2006M10</c:v>
                </c:pt>
                <c:pt idx="34">
                  <c:v>2006M11</c:v>
                </c:pt>
                <c:pt idx="35">
                  <c:v>2006M12</c:v>
                </c:pt>
                <c:pt idx="36">
                  <c:v>2007M01</c:v>
                </c:pt>
                <c:pt idx="37">
                  <c:v>2007M02</c:v>
                </c:pt>
                <c:pt idx="38">
                  <c:v>2007M03</c:v>
                </c:pt>
                <c:pt idx="39">
                  <c:v>2007M04</c:v>
                </c:pt>
                <c:pt idx="40">
                  <c:v>2007M05</c:v>
                </c:pt>
                <c:pt idx="41">
                  <c:v>2007M06</c:v>
                </c:pt>
                <c:pt idx="42">
                  <c:v>2007M07</c:v>
                </c:pt>
                <c:pt idx="43">
                  <c:v>2007M08</c:v>
                </c:pt>
                <c:pt idx="44">
                  <c:v>2007M09</c:v>
                </c:pt>
                <c:pt idx="45">
                  <c:v>2007M10</c:v>
                </c:pt>
                <c:pt idx="46">
                  <c:v>2007M11</c:v>
                </c:pt>
                <c:pt idx="47">
                  <c:v>2007M12</c:v>
                </c:pt>
                <c:pt idx="48">
                  <c:v>2008M01</c:v>
                </c:pt>
                <c:pt idx="49">
                  <c:v>2008M02</c:v>
                </c:pt>
                <c:pt idx="50">
                  <c:v>2008M03</c:v>
                </c:pt>
                <c:pt idx="51">
                  <c:v>2008M04</c:v>
                </c:pt>
                <c:pt idx="52">
                  <c:v>2008M05</c:v>
                </c:pt>
                <c:pt idx="53">
                  <c:v>2008M06</c:v>
                </c:pt>
                <c:pt idx="54">
                  <c:v>2008M07</c:v>
                </c:pt>
                <c:pt idx="55">
                  <c:v>2008M08</c:v>
                </c:pt>
                <c:pt idx="56">
                  <c:v>2008M09</c:v>
                </c:pt>
                <c:pt idx="57">
                  <c:v>2008M10</c:v>
                </c:pt>
                <c:pt idx="58">
                  <c:v>2008M11</c:v>
                </c:pt>
                <c:pt idx="59">
                  <c:v>2008M12</c:v>
                </c:pt>
                <c:pt idx="60">
                  <c:v>2009M01</c:v>
                </c:pt>
                <c:pt idx="61">
                  <c:v>2009M02</c:v>
                </c:pt>
                <c:pt idx="62">
                  <c:v>2009M03</c:v>
                </c:pt>
                <c:pt idx="63">
                  <c:v>2009M04</c:v>
                </c:pt>
                <c:pt idx="64">
                  <c:v>2009M05</c:v>
                </c:pt>
                <c:pt idx="65">
                  <c:v>2009M06</c:v>
                </c:pt>
                <c:pt idx="66">
                  <c:v>2009M07</c:v>
                </c:pt>
                <c:pt idx="67">
                  <c:v>2009M08</c:v>
                </c:pt>
                <c:pt idx="68">
                  <c:v>2009M09</c:v>
                </c:pt>
                <c:pt idx="69">
                  <c:v>2009M10</c:v>
                </c:pt>
                <c:pt idx="70">
                  <c:v>2009M11</c:v>
                </c:pt>
                <c:pt idx="71">
                  <c:v>2009M12</c:v>
                </c:pt>
                <c:pt idx="72">
                  <c:v>2010M01</c:v>
                </c:pt>
                <c:pt idx="73">
                  <c:v>2010M02</c:v>
                </c:pt>
                <c:pt idx="74">
                  <c:v>2010M03</c:v>
                </c:pt>
                <c:pt idx="75">
                  <c:v>2010M04</c:v>
                </c:pt>
                <c:pt idx="76">
                  <c:v>2010M05</c:v>
                </c:pt>
                <c:pt idx="77">
                  <c:v>2010M06</c:v>
                </c:pt>
                <c:pt idx="78">
                  <c:v>2010M07</c:v>
                </c:pt>
                <c:pt idx="79">
                  <c:v>2010M08</c:v>
                </c:pt>
                <c:pt idx="80">
                  <c:v>2010M09</c:v>
                </c:pt>
                <c:pt idx="81">
                  <c:v>2010M10</c:v>
                </c:pt>
                <c:pt idx="82">
                  <c:v>2010M11</c:v>
                </c:pt>
                <c:pt idx="83">
                  <c:v>2010M12</c:v>
                </c:pt>
                <c:pt idx="84">
                  <c:v>2011M01</c:v>
                </c:pt>
                <c:pt idx="85">
                  <c:v>2011M02</c:v>
                </c:pt>
                <c:pt idx="86">
                  <c:v>2011M03</c:v>
                </c:pt>
                <c:pt idx="87">
                  <c:v>2011M04</c:v>
                </c:pt>
                <c:pt idx="88">
                  <c:v>2011M05</c:v>
                </c:pt>
                <c:pt idx="89">
                  <c:v>2011M06</c:v>
                </c:pt>
                <c:pt idx="90">
                  <c:v>2011M07</c:v>
                </c:pt>
                <c:pt idx="91">
                  <c:v>2011M08</c:v>
                </c:pt>
                <c:pt idx="92">
                  <c:v>2011M09</c:v>
                </c:pt>
                <c:pt idx="93">
                  <c:v>2011M10</c:v>
                </c:pt>
                <c:pt idx="94">
                  <c:v>2011M11</c:v>
                </c:pt>
                <c:pt idx="95">
                  <c:v>2011M12</c:v>
                </c:pt>
                <c:pt idx="96">
                  <c:v>2012M01</c:v>
                </c:pt>
                <c:pt idx="97">
                  <c:v>2012M02</c:v>
                </c:pt>
                <c:pt idx="98">
                  <c:v>2012M03</c:v>
                </c:pt>
                <c:pt idx="99">
                  <c:v>2012M04</c:v>
                </c:pt>
                <c:pt idx="100">
                  <c:v>2012M05</c:v>
                </c:pt>
                <c:pt idx="101">
                  <c:v>2012M06</c:v>
                </c:pt>
                <c:pt idx="102">
                  <c:v>2012M07</c:v>
                </c:pt>
                <c:pt idx="103">
                  <c:v>2012M08</c:v>
                </c:pt>
                <c:pt idx="104">
                  <c:v>2012M09</c:v>
                </c:pt>
                <c:pt idx="105">
                  <c:v>2012M10</c:v>
                </c:pt>
                <c:pt idx="106">
                  <c:v>2012M11</c:v>
                </c:pt>
                <c:pt idx="107">
                  <c:v>2012M12</c:v>
                </c:pt>
                <c:pt idx="108">
                  <c:v>2013M01</c:v>
                </c:pt>
                <c:pt idx="109">
                  <c:v>2013M02</c:v>
                </c:pt>
                <c:pt idx="110">
                  <c:v>2013M03</c:v>
                </c:pt>
                <c:pt idx="111">
                  <c:v>2013M04</c:v>
                </c:pt>
                <c:pt idx="112">
                  <c:v>2013M05</c:v>
                </c:pt>
                <c:pt idx="113">
                  <c:v>2013M06</c:v>
                </c:pt>
                <c:pt idx="114">
                  <c:v>2013M07</c:v>
                </c:pt>
                <c:pt idx="115">
                  <c:v>2013M08</c:v>
                </c:pt>
                <c:pt idx="116">
                  <c:v>2013M09</c:v>
                </c:pt>
                <c:pt idx="117">
                  <c:v>2013M10</c:v>
                </c:pt>
                <c:pt idx="118">
                  <c:v>2013M11</c:v>
                </c:pt>
                <c:pt idx="119">
                  <c:v>2013M12</c:v>
                </c:pt>
                <c:pt idx="120">
                  <c:v>2014M01</c:v>
                </c:pt>
                <c:pt idx="121">
                  <c:v>2014M02</c:v>
                </c:pt>
                <c:pt idx="122">
                  <c:v>2014M03</c:v>
                </c:pt>
                <c:pt idx="123">
                  <c:v>2014M04</c:v>
                </c:pt>
                <c:pt idx="124">
                  <c:v>2014M05</c:v>
                </c:pt>
                <c:pt idx="125">
                  <c:v>2014M06</c:v>
                </c:pt>
                <c:pt idx="126">
                  <c:v>2014M07</c:v>
                </c:pt>
                <c:pt idx="127">
                  <c:v>2014M08</c:v>
                </c:pt>
                <c:pt idx="128">
                  <c:v>2014M09</c:v>
                </c:pt>
                <c:pt idx="129">
                  <c:v>2014M10</c:v>
                </c:pt>
                <c:pt idx="130">
                  <c:v>2014M11</c:v>
                </c:pt>
                <c:pt idx="131">
                  <c:v>2014M12</c:v>
                </c:pt>
                <c:pt idx="132">
                  <c:v>2015M01</c:v>
                </c:pt>
                <c:pt idx="133">
                  <c:v>2015M02</c:v>
                </c:pt>
                <c:pt idx="134">
                  <c:v>2015M03</c:v>
                </c:pt>
                <c:pt idx="135">
                  <c:v>2015M04</c:v>
                </c:pt>
                <c:pt idx="136">
                  <c:v>2015M05</c:v>
                </c:pt>
                <c:pt idx="137">
                  <c:v>2015M06</c:v>
                </c:pt>
                <c:pt idx="138">
                  <c:v>2015M07</c:v>
                </c:pt>
                <c:pt idx="139">
                  <c:v>2015M08</c:v>
                </c:pt>
                <c:pt idx="140">
                  <c:v>2015M09</c:v>
                </c:pt>
                <c:pt idx="141">
                  <c:v>2015M10</c:v>
                </c:pt>
                <c:pt idx="142">
                  <c:v>2015M11</c:v>
                </c:pt>
                <c:pt idx="143">
                  <c:v>2015M12</c:v>
                </c:pt>
                <c:pt idx="144">
                  <c:v>2016M01</c:v>
                </c:pt>
                <c:pt idx="145">
                  <c:v>2016M02</c:v>
                </c:pt>
                <c:pt idx="146">
                  <c:v>2016M03</c:v>
                </c:pt>
                <c:pt idx="147">
                  <c:v>2016M04</c:v>
                </c:pt>
                <c:pt idx="148">
                  <c:v>2016M05</c:v>
                </c:pt>
                <c:pt idx="149">
                  <c:v>2016M06</c:v>
                </c:pt>
                <c:pt idx="150">
                  <c:v>2016M07</c:v>
                </c:pt>
                <c:pt idx="151">
                  <c:v>2016M08</c:v>
                </c:pt>
                <c:pt idx="152">
                  <c:v>2016M09</c:v>
                </c:pt>
                <c:pt idx="153">
                  <c:v>2016M10</c:v>
                </c:pt>
                <c:pt idx="154">
                  <c:v>2016M11</c:v>
                </c:pt>
                <c:pt idx="155">
                  <c:v>2016M12</c:v>
                </c:pt>
              </c:strCache>
            </c:strRef>
          </c:cat>
          <c:val>
            <c:numRef>
              <c:f>Planilha1!$E$3:$E$158</c:f>
              <c:numCache>
                <c:formatCode>General</c:formatCode>
                <c:ptCount val="156"/>
                <c:pt idx="0">
                  <c:v>14010</c:v>
                </c:pt>
                <c:pt idx="1">
                  <c:v>13983</c:v>
                </c:pt>
                <c:pt idx="2">
                  <c:v>17146</c:v>
                </c:pt>
                <c:pt idx="3">
                  <c:v>14305</c:v>
                </c:pt>
                <c:pt idx="4">
                  <c:v>15040</c:v>
                </c:pt>
                <c:pt idx="5">
                  <c:v>16982</c:v>
                </c:pt>
                <c:pt idx="6">
                  <c:v>15194</c:v>
                </c:pt>
                <c:pt idx="7">
                  <c:v>16323</c:v>
                </c:pt>
                <c:pt idx="8">
                  <c:v>14681</c:v>
                </c:pt>
                <c:pt idx="9">
                  <c:v>15415</c:v>
                </c:pt>
                <c:pt idx="10">
                  <c:v>14646</c:v>
                </c:pt>
                <c:pt idx="11">
                  <c:v>12557</c:v>
                </c:pt>
                <c:pt idx="12">
                  <c:v>14491</c:v>
                </c:pt>
                <c:pt idx="13">
                  <c:v>15119</c:v>
                </c:pt>
                <c:pt idx="14">
                  <c:v>17735</c:v>
                </c:pt>
                <c:pt idx="15">
                  <c:v>16330</c:v>
                </c:pt>
                <c:pt idx="16">
                  <c:v>16521</c:v>
                </c:pt>
                <c:pt idx="17">
                  <c:v>16659</c:v>
                </c:pt>
                <c:pt idx="18">
                  <c:v>16266</c:v>
                </c:pt>
                <c:pt idx="19">
                  <c:v>18124</c:v>
                </c:pt>
                <c:pt idx="20">
                  <c:v>18300</c:v>
                </c:pt>
                <c:pt idx="21">
                  <c:v>16326</c:v>
                </c:pt>
                <c:pt idx="22">
                  <c:v>16662</c:v>
                </c:pt>
                <c:pt idx="23">
                  <c:v>13305</c:v>
                </c:pt>
                <c:pt idx="24">
                  <c:v>15923</c:v>
                </c:pt>
                <c:pt idx="25">
                  <c:v>16944</c:v>
                </c:pt>
                <c:pt idx="26">
                  <c:v>18502</c:v>
                </c:pt>
                <c:pt idx="27">
                  <c:v>16318</c:v>
                </c:pt>
                <c:pt idx="28">
                  <c:v>16257</c:v>
                </c:pt>
                <c:pt idx="29">
                  <c:v>15672</c:v>
                </c:pt>
                <c:pt idx="30">
                  <c:v>18726</c:v>
                </c:pt>
                <c:pt idx="31">
                  <c:v>17735</c:v>
                </c:pt>
                <c:pt idx="32">
                  <c:v>16503</c:v>
                </c:pt>
                <c:pt idx="33">
                  <c:v>16538</c:v>
                </c:pt>
                <c:pt idx="34">
                  <c:v>16220</c:v>
                </c:pt>
                <c:pt idx="35">
                  <c:v>15190</c:v>
                </c:pt>
                <c:pt idx="36">
                  <c:v>16997</c:v>
                </c:pt>
                <c:pt idx="37">
                  <c:v>16809</c:v>
                </c:pt>
                <c:pt idx="38">
                  <c:v>18706</c:v>
                </c:pt>
                <c:pt idx="39">
                  <c:v>17079</c:v>
                </c:pt>
                <c:pt idx="40">
                  <c:v>18785</c:v>
                </c:pt>
                <c:pt idx="41">
                  <c:v>17319</c:v>
                </c:pt>
                <c:pt idx="42">
                  <c:v>18350</c:v>
                </c:pt>
                <c:pt idx="43">
                  <c:v>19945</c:v>
                </c:pt>
                <c:pt idx="44">
                  <c:v>18124</c:v>
                </c:pt>
                <c:pt idx="45">
                  <c:v>19918</c:v>
                </c:pt>
                <c:pt idx="46">
                  <c:v>18632</c:v>
                </c:pt>
                <c:pt idx="47">
                  <c:v>16275</c:v>
                </c:pt>
                <c:pt idx="48">
                  <c:v>19766</c:v>
                </c:pt>
                <c:pt idx="49">
                  <c:v>21619</c:v>
                </c:pt>
                <c:pt idx="50">
                  <c:v>23486</c:v>
                </c:pt>
                <c:pt idx="51">
                  <c:v>22059</c:v>
                </c:pt>
                <c:pt idx="52">
                  <c:v>20525</c:v>
                </c:pt>
                <c:pt idx="53">
                  <c:v>22768</c:v>
                </c:pt>
                <c:pt idx="54">
                  <c:v>21585</c:v>
                </c:pt>
                <c:pt idx="55">
                  <c:v>23931</c:v>
                </c:pt>
                <c:pt idx="56">
                  <c:v>21459</c:v>
                </c:pt>
                <c:pt idx="57">
                  <c:v>21744</c:v>
                </c:pt>
                <c:pt idx="58">
                  <c:v>22108</c:v>
                </c:pt>
                <c:pt idx="59">
                  <c:v>15540</c:v>
                </c:pt>
                <c:pt idx="60">
                  <c:v>21429</c:v>
                </c:pt>
                <c:pt idx="61">
                  <c:v>23452</c:v>
                </c:pt>
                <c:pt idx="62">
                  <c:v>25255</c:v>
                </c:pt>
                <c:pt idx="63">
                  <c:v>23117</c:v>
                </c:pt>
                <c:pt idx="64">
                  <c:v>22642</c:v>
                </c:pt>
                <c:pt idx="65">
                  <c:v>24542</c:v>
                </c:pt>
                <c:pt idx="66">
                  <c:v>26713</c:v>
                </c:pt>
                <c:pt idx="67">
                  <c:v>25568</c:v>
                </c:pt>
                <c:pt idx="68">
                  <c:v>26790</c:v>
                </c:pt>
                <c:pt idx="69">
                  <c:v>24246</c:v>
                </c:pt>
                <c:pt idx="70">
                  <c:v>24213</c:v>
                </c:pt>
                <c:pt idx="71">
                  <c:v>17956</c:v>
                </c:pt>
                <c:pt idx="72">
                  <c:v>23769</c:v>
                </c:pt>
                <c:pt idx="73">
                  <c:v>25749</c:v>
                </c:pt>
                <c:pt idx="74">
                  <c:v>29897</c:v>
                </c:pt>
                <c:pt idx="75">
                  <c:v>27849</c:v>
                </c:pt>
                <c:pt idx="76">
                  <c:v>28329</c:v>
                </c:pt>
                <c:pt idx="77">
                  <c:v>25388</c:v>
                </c:pt>
                <c:pt idx="78">
                  <c:v>26144</c:v>
                </c:pt>
                <c:pt idx="79">
                  <c:v>29052</c:v>
                </c:pt>
                <c:pt idx="80">
                  <c:v>28996</c:v>
                </c:pt>
                <c:pt idx="81">
                  <c:v>26723</c:v>
                </c:pt>
                <c:pt idx="82">
                  <c:v>25073</c:v>
                </c:pt>
                <c:pt idx="83">
                  <c:v>22131</c:v>
                </c:pt>
                <c:pt idx="84">
                  <c:v>30159</c:v>
                </c:pt>
                <c:pt idx="85">
                  <c:v>28818</c:v>
                </c:pt>
                <c:pt idx="86">
                  <c:v>29545</c:v>
                </c:pt>
                <c:pt idx="87">
                  <c:v>28719</c:v>
                </c:pt>
                <c:pt idx="88">
                  <c:v>29863</c:v>
                </c:pt>
                <c:pt idx="89">
                  <c:v>27955</c:v>
                </c:pt>
                <c:pt idx="90">
                  <c:v>27163</c:v>
                </c:pt>
                <c:pt idx="91">
                  <c:v>29700</c:v>
                </c:pt>
                <c:pt idx="92">
                  <c:v>28810</c:v>
                </c:pt>
                <c:pt idx="93">
                  <c:v>27695</c:v>
                </c:pt>
                <c:pt idx="94">
                  <c:v>26580</c:v>
                </c:pt>
                <c:pt idx="95">
                  <c:v>22729</c:v>
                </c:pt>
                <c:pt idx="96">
                  <c:v>28434</c:v>
                </c:pt>
                <c:pt idx="97">
                  <c:v>28791</c:v>
                </c:pt>
                <c:pt idx="98">
                  <c:v>29831</c:v>
                </c:pt>
                <c:pt idx="99">
                  <c:v>28837</c:v>
                </c:pt>
                <c:pt idx="100">
                  <c:v>29679</c:v>
                </c:pt>
                <c:pt idx="101">
                  <c:v>30636</c:v>
                </c:pt>
                <c:pt idx="102">
                  <c:v>29090</c:v>
                </c:pt>
                <c:pt idx="103">
                  <c:v>30871</c:v>
                </c:pt>
                <c:pt idx="104">
                  <c:v>25897</c:v>
                </c:pt>
                <c:pt idx="105">
                  <c:v>26860</c:v>
                </c:pt>
                <c:pt idx="106">
                  <c:v>25943</c:v>
                </c:pt>
                <c:pt idx="107">
                  <c:v>21084</c:v>
                </c:pt>
                <c:pt idx="108">
                  <c:v>29223</c:v>
                </c:pt>
                <c:pt idx="109">
                  <c:v>29700</c:v>
                </c:pt>
                <c:pt idx="110">
                  <c:v>29792</c:v>
                </c:pt>
                <c:pt idx="111">
                  <c:v>31897</c:v>
                </c:pt>
                <c:pt idx="112">
                  <c:v>29606</c:v>
                </c:pt>
                <c:pt idx="113">
                  <c:v>30297</c:v>
                </c:pt>
                <c:pt idx="114">
                  <c:v>31678</c:v>
                </c:pt>
                <c:pt idx="115">
                  <c:v>31184</c:v>
                </c:pt>
                <c:pt idx="116">
                  <c:v>29475</c:v>
                </c:pt>
                <c:pt idx="117">
                  <c:v>30825</c:v>
                </c:pt>
                <c:pt idx="118">
                  <c:v>27571</c:v>
                </c:pt>
                <c:pt idx="119">
                  <c:v>22423</c:v>
                </c:pt>
                <c:pt idx="120">
                  <c:v>30967</c:v>
                </c:pt>
                <c:pt idx="121">
                  <c:v>36420</c:v>
                </c:pt>
                <c:pt idx="122">
                  <c:v>30122</c:v>
                </c:pt>
                <c:pt idx="123">
                  <c:v>31016</c:v>
                </c:pt>
                <c:pt idx="124">
                  <c:v>32492</c:v>
                </c:pt>
                <c:pt idx="125">
                  <c:v>31969</c:v>
                </c:pt>
                <c:pt idx="126">
                  <c:v>31017</c:v>
                </c:pt>
                <c:pt idx="127">
                  <c:v>31706</c:v>
                </c:pt>
                <c:pt idx="128">
                  <c:v>32070</c:v>
                </c:pt>
                <c:pt idx="129">
                  <c:v>28945</c:v>
                </c:pt>
                <c:pt idx="130">
                  <c:v>27946</c:v>
                </c:pt>
                <c:pt idx="131">
                  <c:v>20729</c:v>
                </c:pt>
                <c:pt idx="132">
                  <c:v>25619</c:v>
                </c:pt>
                <c:pt idx="133">
                  <c:v>26922</c:v>
                </c:pt>
                <c:pt idx="134">
                  <c:v>28763</c:v>
                </c:pt>
                <c:pt idx="135">
                  <c:v>24610</c:v>
                </c:pt>
                <c:pt idx="136">
                  <c:v>25070</c:v>
                </c:pt>
                <c:pt idx="137">
                  <c:v>25740</c:v>
                </c:pt>
                <c:pt idx="138">
                  <c:v>26489</c:v>
                </c:pt>
                <c:pt idx="139">
                  <c:v>26945</c:v>
                </c:pt>
                <c:pt idx="140">
                  <c:v>23865</c:v>
                </c:pt>
                <c:pt idx="141">
                  <c:v>20480</c:v>
                </c:pt>
                <c:pt idx="142">
                  <c:v>19864</c:v>
                </c:pt>
                <c:pt idx="143">
                  <c:v>15801</c:v>
                </c:pt>
                <c:pt idx="144">
                  <c:v>19202</c:v>
                </c:pt>
                <c:pt idx="145">
                  <c:v>20111</c:v>
                </c:pt>
                <c:pt idx="146">
                  <c:v>23514</c:v>
                </c:pt>
                <c:pt idx="147">
                  <c:v>20448</c:v>
                </c:pt>
                <c:pt idx="148">
                  <c:v>20295</c:v>
                </c:pt>
                <c:pt idx="149">
                  <c:v>21500</c:v>
                </c:pt>
                <c:pt idx="150">
                  <c:v>20857</c:v>
                </c:pt>
                <c:pt idx="151">
                  <c:v>20796</c:v>
                </c:pt>
                <c:pt idx="152">
                  <c:v>19599</c:v>
                </c:pt>
                <c:pt idx="153">
                  <c:v>17874</c:v>
                </c:pt>
                <c:pt idx="154">
                  <c:v>18779</c:v>
                </c:pt>
                <c:pt idx="155">
                  <c:v>17941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6B9A-4DFD-9EF2-94290DCC4905}"/>
            </c:ext>
          </c:extLst>
        </c:ser>
        <c:ser>
          <c:idx val="5"/>
          <c:order val="5"/>
          <c:tx>
            <c:v>DF Disc</c:v>
          </c:tx>
          <c:spPr>
            <a:ln w="28575" cap="rnd">
              <a:solidFill>
                <a:srgbClr val="92D050"/>
              </a:solidFill>
              <a:round/>
            </a:ln>
            <a:effectLst/>
          </c:spPr>
          <c:marker>
            <c:symbol val="none"/>
          </c:marker>
          <c:cat>
            <c:strRef>
              <c:f>Planilha1!$I$3:$I$158</c:f>
              <c:strCache>
                <c:ptCount val="156"/>
                <c:pt idx="0">
                  <c:v>2004M01</c:v>
                </c:pt>
                <c:pt idx="1">
                  <c:v>2004M02</c:v>
                </c:pt>
                <c:pt idx="2">
                  <c:v>2004M03</c:v>
                </c:pt>
                <c:pt idx="3">
                  <c:v>2004M04</c:v>
                </c:pt>
                <c:pt idx="4">
                  <c:v>2004M05</c:v>
                </c:pt>
                <c:pt idx="5">
                  <c:v>2004M06</c:v>
                </c:pt>
                <c:pt idx="6">
                  <c:v>2004M07</c:v>
                </c:pt>
                <c:pt idx="7">
                  <c:v>2004M08</c:v>
                </c:pt>
                <c:pt idx="8">
                  <c:v>2004M09</c:v>
                </c:pt>
                <c:pt idx="9">
                  <c:v>2004M10</c:v>
                </c:pt>
                <c:pt idx="10">
                  <c:v>2004M11</c:v>
                </c:pt>
                <c:pt idx="11">
                  <c:v>2004M12</c:v>
                </c:pt>
                <c:pt idx="12">
                  <c:v>2005M01</c:v>
                </c:pt>
                <c:pt idx="13">
                  <c:v>2005M02</c:v>
                </c:pt>
                <c:pt idx="14">
                  <c:v>2005M03</c:v>
                </c:pt>
                <c:pt idx="15">
                  <c:v>2005M04</c:v>
                </c:pt>
                <c:pt idx="16">
                  <c:v>2005M05</c:v>
                </c:pt>
                <c:pt idx="17">
                  <c:v>2005M06</c:v>
                </c:pt>
                <c:pt idx="18">
                  <c:v>2005M07</c:v>
                </c:pt>
                <c:pt idx="19">
                  <c:v>2005M08</c:v>
                </c:pt>
                <c:pt idx="20">
                  <c:v>2005M09</c:v>
                </c:pt>
                <c:pt idx="21">
                  <c:v>2005M10</c:v>
                </c:pt>
                <c:pt idx="22">
                  <c:v>2005M11</c:v>
                </c:pt>
                <c:pt idx="23">
                  <c:v>2005M12</c:v>
                </c:pt>
                <c:pt idx="24">
                  <c:v>2006M01</c:v>
                </c:pt>
                <c:pt idx="25">
                  <c:v>2006M02</c:v>
                </c:pt>
                <c:pt idx="26">
                  <c:v>2006M03</c:v>
                </c:pt>
                <c:pt idx="27">
                  <c:v>2006M04</c:v>
                </c:pt>
                <c:pt idx="28">
                  <c:v>2006M05</c:v>
                </c:pt>
                <c:pt idx="29">
                  <c:v>2006M06</c:v>
                </c:pt>
                <c:pt idx="30">
                  <c:v>2006M07</c:v>
                </c:pt>
                <c:pt idx="31">
                  <c:v>2006M08</c:v>
                </c:pt>
                <c:pt idx="32">
                  <c:v>2006M09</c:v>
                </c:pt>
                <c:pt idx="33">
                  <c:v>2006M10</c:v>
                </c:pt>
                <c:pt idx="34">
                  <c:v>2006M11</c:v>
                </c:pt>
                <c:pt idx="35">
                  <c:v>2006M12</c:v>
                </c:pt>
                <c:pt idx="36">
                  <c:v>2007M01</c:v>
                </c:pt>
                <c:pt idx="37">
                  <c:v>2007M02</c:v>
                </c:pt>
                <c:pt idx="38">
                  <c:v>2007M03</c:v>
                </c:pt>
                <c:pt idx="39">
                  <c:v>2007M04</c:v>
                </c:pt>
                <c:pt idx="40">
                  <c:v>2007M05</c:v>
                </c:pt>
                <c:pt idx="41">
                  <c:v>2007M06</c:v>
                </c:pt>
                <c:pt idx="42">
                  <c:v>2007M07</c:v>
                </c:pt>
                <c:pt idx="43">
                  <c:v>2007M08</c:v>
                </c:pt>
                <c:pt idx="44">
                  <c:v>2007M09</c:v>
                </c:pt>
                <c:pt idx="45">
                  <c:v>2007M10</c:v>
                </c:pt>
                <c:pt idx="46">
                  <c:v>2007M11</c:v>
                </c:pt>
                <c:pt idx="47">
                  <c:v>2007M12</c:v>
                </c:pt>
                <c:pt idx="48">
                  <c:v>2008M01</c:v>
                </c:pt>
                <c:pt idx="49">
                  <c:v>2008M02</c:v>
                </c:pt>
                <c:pt idx="50">
                  <c:v>2008M03</c:v>
                </c:pt>
                <c:pt idx="51">
                  <c:v>2008M04</c:v>
                </c:pt>
                <c:pt idx="52">
                  <c:v>2008M05</c:v>
                </c:pt>
                <c:pt idx="53">
                  <c:v>2008M06</c:v>
                </c:pt>
                <c:pt idx="54">
                  <c:v>2008M07</c:v>
                </c:pt>
                <c:pt idx="55">
                  <c:v>2008M08</c:v>
                </c:pt>
                <c:pt idx="56">
                  <c:v>2008M09</c:v>
                </c:pt>
                <c:pt idx="57">
                  <c:v>2008M10</c:v>
                </c:pt>
                <c:pt idx="58">
                  <c:v>2008M11</c:v>
                </c:pt>
                <c:pt idx="59">
                  <c:v>2008M12</c:v>
                </c:pt>
                <c:pt idx="60">
                  <c:v>2009M01</c:v>
                </c:pt>
                <c:pt idx="61">
                  <c:v>2009M02</c:v>
                </c:pt>
                <c:pt idx="62">
                  <c:v>2009M03</c:v>
                </c:pt>
                <c:pt idx="63">
                  <c:v>2009M04</c:v>
                </c:pt>
                <c:pt idx="64">
                  <c:v>2009M05</c:v>
                </c:pt>
                <c:pt idx="65">
                  <c:v>2009M06</c:v>
                </c:pt>
                <c:pt idx="66">
                  <c:v>2009M07</c:v>
                </c:pt>
                <c:pt idx="67">
                  <c:v>2009M08</c:v>
                </c:pt>
                <c:pt idx="68">
                  <c:v>2009M09</c:v>
                </c:pt>
                <c:pt idx="69">
                  <c:v>2009M10</c:v>
                </c:pt>
                <c:pt idx="70">
                  <c:v>2009M11</c:v>
                </c:pt>
                <c:pt idx="71">
                  <c:v>2009M12</c:v>
                </c:pt>
                <c:pt idx="72">
                  <c:v>2010M01</c:v>
                </c:pt>
                <c:pt idx="73">
                  <c:v>2010M02</c:v>
                </c:pt>
                <c:pt idx="74">
                  <c:v>2010M03</c:v>
                </c:pt>
                <c:pt idx="75">
                  <c:v>2010M04</c:v>
                </c:pt>
                <c:pt idx="76">
                  <c:v>2010M05</c:v>
                </c:pt>
                <c:pt idx="77">
                  <c:v>2010M06</c:v>
                </c:pt>
                <c:pt idx="78">
                  <c:v>2010M07</c:v>
                </c:pt>
                <c:pt idx="79">
                  <c:v>2010M08</c:v>
                </c:pt>
                <c:pt idx="80">
                  <c:v>2010M09</c:v>
                </c:pt>
                <c:pt idx="81">
                  <c:v>2010M10</c:v>
                </c:pt>
                <c:pt idx="82">
                  <c:v>2010M11</c:v>
                </c:pt>
                <c:pt idx="83">
                  <c:v>2010M12</c:v>
                </c:pt>
                <c:pt idx="84">
                  <c:v>2011M01</c:v>
                </c:pt>
                <c:pt idx="85">
                  <c:v>2011M02</c:v>
                </c:pt>
                <c:pt idx="86">
                  <c:v>2011M03</c:v>
                </c:pt>
                <c:pt idx="87">
                  <c:v>2011M04</c:v>
                </c:pt>
                <c:pt idx="88">
                  <c:v>2011M05</c:v>
                </c:pt>
                <c:pt idx="89">
                  <c:v>2011M06</c:v>
                </c:pt>
                <c:pt idx="90">
                  <c:v>2011M07</c:v>
                </c:pt>
                <c:pt idx="91">
                  <c:v>2011M08</c:v>
                </c:pt>
                <c:pt idx="92">
                  <c:v>2011M09</c:v>
                </c:pt>
                <c:pt idx="93">
                  <c:v>2011M10</c:v>
                </c:pt>
                <c:pt idx="94">
                  <c:v>2011M11</c:v>
                </c:pt>
                <c:pt idx="95">
                  <c:v>2011M12</c:v>
                </c:pt>
                <c:pt idx="96">
                  <c:v>2012M01</c:v>
                </c:pt>
                <c:pt idx="97">
                  <c:v>2012M02</c:v>
                </c:pt>
                <c:pt idx="98">
                  <c:v>2012M03</c:v>
                </c:pt>
                <c:pt idx="99">
                  <c:v>2012M04</c:v>
                </c:pt>
                <c:pt idx="100">
                  <c:v>2012M05</c:v>
                </c:pt>
                <c:pt idx="101">
                  <c:v>2012M06</c:v>
                </c:pt>
                <c:pt idx="102">
                  <c:v>2012M07</c:v>
                </c:pt>
                <c:pt idx="103">
                  <c:v>2012M08</c:v>
                </c:pt>
                <c:pt idx="104">
                  <c:v>2012M09</c:v>
                </c:pt>
                <c:pt idx="105">
                  <c:v>2012M10</c:v>
                </c:pt>
                <c:pt idx="106">
                  <c:v>2012M11</c:v>
                </c:pt>
                <c:pt idx="107">
                  <c:v>2012M12</c:v>
                </c:pt>
                <c:pt idx="108">
                  <c:v>2013M01</c:v>
                </c:pt>
                <c:pt idx="109">
                  <c:v>2013M02</c:v>
                </c:pt>
                <c:pt idx="110">
                  <c:v>2013M03</c:v>
                </c:pt>
                <c:pt idx="111">
                  <c:v>2013M04</c:v>
                </c:pt>
                <c:pt idx="112">
                  <c:v>2013M05</c:v>
                </c:pt>
                <c:pt idx="113">
                  <c:v>2013M06</c:v>
                </c:pt>
                <c:pt idx="114">
                  <c:v>2013M07</c:v>
                </c:pt>
                <c:pt idx="115">
                  <c:v>2013M08</c:v>
                </c:pt>
                <c:pt idx="116">
                  <c:v>2013M09</c:v>
                </c:pt>
                <c:pt idx="117">
                  <c:v>2013M10</c:v>
                </c:pt>
                <c:pt idx="118">
                  <c:v>2013M11</c:v>
                </c:pt>
                <c:pt idx="119">
                  <c:v>2013M12</c:v>
                </c:pt>
                <c:pt idx="120">
                  <c:v>2014M01</c:v>
                </c:pt>
                <c:pt idx="121">
                  <c:v>2014M02</c:v>
                </c:pt>
                <c:pt idx="122">
                  <c:v>2014M03</c:v>
                </c:pt>
                <c:pt idx="123">
                  <c:v>2014M04</c:v>
                </c:pt>
                <c:pt idx="124">
                  <c:v>2014M05</c:v>
                </c:pt>
                <c:pt idx="125">
                  <c:v>2014M06</c:v>
                </c:pt>
                <c:pt idx="126">
                  <c:v>2014M07</c:v>
                </c:pt>
                <c:pt idx="127">
                  <c:v>2014M08</c:v>
                </c:pt>
                <c:pt idx="128">
                  <c:v>2014M09</c:v>
                </c:pt>
                <c:pt idx="129">
                  <c:v>2014M10</c:v>
                </c:pt>
                <c:pt idx="130">
                  <c:v>2014M11</c:v>
                </c:pt>
                <c:pt idx="131">
                  <c:v>2014M12</c:v>
                </c:pt>
                <c:pt idx="132">
                  <c:v>2015M01</c:v>
                </c:pt>
                <c:pt idx="133">
                  <c:v>2015M02</c:v>
                </c:pt>
                <c:pt idx="134">
                  <c:v>2015M03</c:v>
                </c:pt>
                <c:pt idx="135">
                  <c:v>2015M04</c:v>
                </c:pt>
                <c:pt idx="136">
                  <c:v>2015M05</c:v>
                </c:pt>
                <c:pt idx="137">
                  <c:v>2015M06</c:v>
                </c:pt>
                <c:pt idx="138">
                  <c:v>2015M07</c:v>
                </c:pt>
                <c:pt idx="139">
                  <c:v>2015M08</c:v>
                </c:pt>
                <c:pt idx="140">
                  <c:v>2015M09</c:v>
                </c:pt>
                <c:pt idx="141">
                  <c:v>2015M10</c:v>
                </c:pt>
                <c:pt idx="142">
                  <c:v>2015M11</c:v>
                </c:pt>
                <c:pt idx="143">
                  <c:v>2015M12</c:v>
                </c:pt>
                <c:pt idx="144">
                  <c:v>2016M01</c:v>
                </c:pt>
                <c:pt idx="145">
                  <c:v>2016M02</c:v>
                </c:pt>
                <c:pt idx="146">
                  <c:v>2016M03</c:v>
                </c:pt>
                <c:pt idx="147">
                  <c:v>2016M04</c:v>
                </c:pt>
                <c:pt idx="148">
                  <c:v>2016M05</c:v>
                </c:pt>
                <c:pt idx="149">
                  <c:v>2016M06</c:v>
                </c:pt>
                <c:pt idx="150">
                  <c:v>2016M07</c:v>
                </c:pt>
                <c:pt idx="151">
                  <c:v>2016M08</c:v>
                </c:pt>
                <c:pt idx="152">
                  <c:v>2016M09</c:v>
                </c:pt>
                <c:pt idx="153">
                  <c:v>2016M10</c:v>
                </c:pt>
                <c:pt idx="154">
                  <c:v>2016M11</c:v>
                </c:pt>
                <c:pt idx="155">
                  <c:v>2016M12</c:v>
                </c:pt>
              </c:strCache>
            </c:strRef>
          </c:cat>
          <c:val>
            <c:numRef>
              <c:f>Planilha1!$F$3:$F$158</c:f>
              <c:numCache>
                <c:formatCode>General</c:formatCode>
                <c:ptCount val="156"/>
                <c:pt idx="0">
                  <c:v>12413</c:v>
                </c:pt>
                <c:pt idx="1">
                  <c:v>11792</c:v>
                </c:pt>
                <c:pt idx="2">
                  <c:v>14634</c:v>
                </c:pt>
                <c:pt idx="3">
                  <c:v>10988</c:v>
                </c:pt>
                <c:pt idx="4">
                  <c:v>12427</c:v>
                </c:pt>
                <c:pt idx="5">
                  <c:v>14525</c:v>
                </c:pt>
                <c:pt idx="6">
                  <c:v>12886</c:v>
                </c:pt>
                <c:pt idx="7">
                  <c:v>12750</c:v>
                </c:pt>
                <c:pt idx="8">
                  <c:v>11951</c:v>
                </c:pt>
                <c:pt idx="9">
                  <c:v>11972</c:v>
                </c:pt>
                <c:pt idx="10">
                  <c:v>12566</c:v>
                </c:pt>
                <c:pt idx="11">
                  <c:v>15184</c:v>
                </c:pt>
                <c:pt idx="12">
                  <c:v>13470</c:v>
                </c:pt>
                <c:pt idx="13">
                  <c:v>13995</c:v>
                </c:pt>
                <c:pt idx="14">
                  <c:v>15800</c:v>
                </c:pt>
                <c:pt idx="15">
                  <c:v>11677</c:v>
                </c:pt>
                <c:pt idx="16">
                  <c:v>14571</c:v>
                </c:pt>
                <c:pt idx="17">
                  <c:v>14132</c:v>
                </c:pt>
                <c:pt idx="18">
                  <c:v>14425</c:v>
                </c:pt>
                <c:pt idx="19">
                  <c:v>14959</c:v>
                </c:pt>
                <c:pt idx="20">
                  <c:v>13964</c:v>
                </c:pt>
                <c:pt idx="21">
                  <c:v>12417</c:v>
                </c:pt>
                <c:pt idx="22">
                  <c:v>14912</c:v>
                </c:pt>
                <c:pt idx="23">
                  <c:v>16160</c:v>
                </c:pt>
                <c:pt idx="24">
                  <c:v>15958</c:v>
                </c:pt>
                <c:pt idx="25">
                  <c:v>14690</c:v>
                </c:pt>
                <c:pt idx="26">
                  <c:v>16162</c:v>
                </c:pt>
                <c:pt idx="27">
                  <c:v>12587</c:v>
                </c:pt>
                <c:pt idx="28">
                  <c:v>15478</c:v>
                </c:pt>
                <c:pt idx="29">
                  <c:v>16008</c:v>
                </c:pt>
                <c:pt idx="30">
                  <c:v>15561</c:v>
                </c:pt>
                <c:pt idx="31">
                  <c:v>16451</c:v>
                </c:pt>
                <c:pt idx="32">
                  <c:v>15523</c:v>
                </c:pt>
                <c:pt idx="33">
                  <c:v>13847</c:v>
                </c:pt>
                <c:pt idx="34">
                  <c:v>16774</c:v>
                </c:pt>
                <c:pt idx="35">
                  <c:v>18115</c:v>
                </c:pt>
                <c:pt idx="36">
                  <c:v>16721</c:v>
                </c:pt>
                <c:pt idx="37">
                  <c:v>18240</c:v>
                </c:pt>
                <c:pt idx="38">
                  <c:v>21785</c:v>
                </c:pt>
                <c:pt idx="39">
                  <c:v>13232</c:v>
                </c:pt>
                <c:pt idx="40">
                  <c:v>18200</c:v>
                </c:pt>
                <c:pt idx="41">
                  <c:v>15868</c:v>
                </c:pt>
                <c:pt idx="42">
                  <c:v>16178</c:v>
                </c:pt>
                <c:pt idx="43">
                  <c:v>17287</c:v>
                </c:pt>
                <c:pt idx="44">
                  <c:v>14939</c:v>
                </c:pt>
                <c:pt idx="45">
                  <c:v>15906</c:v>
                </c:pt>
                <c:pt idx="46">
                  <c:v>15968</c:v>
                </c:pt>
                <c:pt idx="47">
                  <c:v>16251</c:v>
                </c:pt>
                <c:pt idx="48">
                  <c:v>19014</c:v>
                </c:pt>
                <c:pt idx="49">
                  <c:v>17963</c:v>
                </c:pt>
                <c:pt idx="50">
                  <c:v>17985</c:v>
                </c:pt>
                <c:pt idx="51">
                  <c:v>17030</c:v>
                </c:pt>
                <c:pt idx="52">
                  <c:v>19753</c:v>
                </c:pt>
                <c:pt idx="53">
                  <c:v>18755</c:v>
                </c:pt>
                <c:pt idx="54">
                  <c:v>20105</c:v>
                </c:pt>
                <c:pt idx="55">
                  <c:v>19665</c:v>
                </c:pt>
                <c:pt idx="56">
                  <c:v>18584</c:v>
                </c:pt>
                <c:pt idx="57">
                  <c:v>20575</c:v>
                </c:pt>
                <c:pt idx="58">
                  <c:v>21202</c:v>
                </c:pt>
                <c:pt idx="59">
                  <c:v>19714</c:v>
                </c:pt>
                <c:pt idx="60">
                  <c:v>21604</c:v>
                </c:pt>
                <c:pt idx="61">
                  <c:v>20057</c:v>
                </c:pt>
                <c:pt idx="62">
                  <c:v>21964</c:v>
                </c:pt>
                <c:pt idx="63">
                  <c:v>18137</c:v>
                </c:pt>
                <c:pt idx="64">
                  <c:v>22597</c:v>
                </c:pt>
                <c:pt idx="65">
                  <c:v>28093</c:v>
                </c:pt>
                <c:pt idx="66">
                  <c:v>24725</c:v>
                </c:pt>
                <c:pt idx="67">
                  <c:v>22801</c:v>
                </c:pt>
                <c:pt idx="68">
                  <c:v>24701</c:v>
                </c:pt>
                <c:pt idx="69">
                  <c:v>19865</c:v>
                </c:pt>
                <c:pt idx="70">
                  <c:v>21250</c:v>
                </c:pt>
                <c:pt idx="71">
                  <c:v>22707</c:v>
                </c:pt>
                <c:pt idx="72">
                  <c:v>20215</c:v>
                </c:pt>
                <c:pt idx="73">
                  <c:v>21483</c:v>
                </c:pt>
                <c:pt idx="74">
                  <c:v>26979</c:v>
                </c:pt>
                <c:pt idx="75">
                  <c:v>21846</c:v>
                </c:pt>
                <c:pt idx="76">
                  <c:v>25244</c:v>
                </c:pt>
                <c:pt idx="77">
                  <c:v>24631</c:v>
                </c:pt>
                <c:pt idx="78">
                  <c:v>26222</c:v>
                </c:pt>
                <c:pt idx="79">
                  <c:v>27006</c:v>
                </c:pt>
                <c:pt idx="80">
                  <c:v>24806</c:v>
                </c:pt>
                <c:pt idx="81">
                  <c:v>23860</c:v>
                </c:pt>
                <c:pt idx="82">
                  <c:v>22360</c:v>
                </c:pt>
                <c:pt idx="83">
                  <c:v>29431</c:v>
                </c:pt>
                <c:pt idx="84">
                  <c:v>26037</c:v>
                </c:pt>
                <c:pt idx="85">
                  <c:v>25767</c:v>
                </c:pt>
                <c:pt idx="86">
                  <c:v>27632</c:v>
                </c:pt>
                <c:pt idx="87">
                  <c:v>23475</c:v>
                </c:pt>
                <c:pt idx="88">
                  <c:v>29825</c:v>
                </c:pt>
                <c:pt idx="89">
                  <c:v>26612</c:v>
                </c:pt>
                <c:pt idx="90">
                  <c:v>26848</c:v>
                </c:pt>
                <c:pt idx="91">
                  <c:v>26773</c:v>
                </c:pt>
                <c:pt idx="92">
                  <c:v>26330</c:v>
                </c:pt>
                <c:pt idx="93">
                  <c:v>24516</c:v>
                </c:pt>
                <c:pt idx="94">
                  <c:v>25150</c:v>
                </c:pt>
                <c:pt idx="95">
                  <c:v>30436</c:v>
                </c:pt>
                <c:pt idx="96">
                  <c:v>25927</c:v>
                </c:pt>
                <c:pt idx="97">
                  <c:v>24596</c:v>
                </c:pt>
                <c:pt idx="98">
                  <c:v>27981</c:v>
                </c:pt>
                <c:pt idx="99">
                  <c:v>24405</c:v>
                </c:pt>
                <c:pt idx="100">
                  <c:v>29582</c:v>
                </c:pt>
                <c:pt idx="101">
                  <c:v>30383</c:v>
                </c:pt>
                <c:pt idx="102">
                  <c:v>28529</c:v>
                </c:pt>
                <c:pt idx="103">
                  <c:v>29441</c:v>
                </c:pt>
                <c:pt idx="104">
                  <c:v>25872</c:v>
                </c:pt>
                <c:pt idx="105">
                  <c:v>27480</c:v>
                </c:pt>
                <c:pt idx="106">
                  <c:v>26491</c:v>
                </c:pt>
                <c:pt idx="107">
                  <c:v>25771</c:v>
                </c:pt>
                <c:pt idx="108">
                  <c:v>28375</c:v>
                </c:pt>
                <c:pt idx="109">
                  <c:v>26663</c:v>
                </c:pt>
                <c:pt idx="110">
                  <c:v>27391</c:v>
                </c:pt>
                <c:pt idx="111">
                  <c:v>27821</c:v>
                </c:pt>
                <c:pt idx="112">
                  <c:v>31538</c:v>
                </c:pt>
                <c:pt idx="113">
                  <c:v>30540</c:v>
                </c:pt>
                <c:pt idx="114">
                  <c:v>31217</c:v>
                </c:pt>
                <c:pt idx="115">
                  <c:v>30231</c:v>
                </c:pt>
                <c:pt idx="116">
                  <c:v>27306</c:v>
                </c:pt>
                <c:pt idx="117">
                  <c:v>30510</c:v>
                </c:pt>
                <c:pt idx="118">
                  <c:v>27039</c:v>
                </c:pt>
                <c:pt idx="119">
                  <c:v>29617</c:v>
                </c:pt>
                <c:pt idx="120">
                  <c:v>30863</c:v>
                </c:pt>
                <c:pt idx="121">
                  <c:v>31239</c:v>
                </c:pt>
                <c:pt idx="122">
                  <c:v>28568</c:v>
                </c:pt>
                <c:pt idx="123">
                  <c:v>26856</c:v>
                </c:pt>
                <c:pt idx="124">
                  <c:v>33552</c:v>
                </c:pt>
                <c:pt idx="125">
                  <c:v>31502</c:v>
                </c:pt>
                <c:pt idx="126">
                  <c:v>31905</c:v>
                </c:pt>
                <c:pt idx="127">
                  <c:v>29043</c:v>
                </c:pt>
                <c:pt idx="128">
                  <c:v>29671</c:v>
                </c:pt>
                <c:pt idx="129">
                  <c:v>31440</c:v>
                </c:pt>
                <c:pt idx="130">
                  <c:v>28521</c:v>
                </c:pt>
                <c:pt idx="131">
                  <c:v>30646</c:v>
                </c:pt>
                <c:pt idx="132">
                  <c:v>29220</c:v>
                </c:pt>
                <c:pt idx="133">
                  <c:v>27333</c:v>
                </c:pt>
                <c:pt idx="134">
                  <c:v>26577</c:v>
                </c:pt>
                <c:pt idx="135">
                  <c:v>23557</c:v>
                </c:pt>
                <c:pt idx="136">
                  <c:v>26701</c:v>
                </c:pt>
                <c:pt idx="137">
                  <c:v>27461</c:v>
                </c:pt>
                <c:pt idx="138">
                  <c:v>28113</c:v>
                </c:pt>
                <c:pt idx="139">
                  <c:v>26989</c:v>
                </c:pt>
                <c:pt idx="140">
                  <c:v>24387</c:v>
                </c:pt>
                <c:pt idx="141">
                  <c:v>22820</c:v>
                </c:pt>
                <c:pt idx="142">
                  <c:v>21532</c:v>
                </c:pt>
                <c:pt idx="143">
                  <c:v>25432</c:v>
                </c:pt>
                <c:pt idx="144">
                  <c:v>22700</c:v>
                </c:pt>
                <c:pt idx="145">
                  <c:v>22586</c:v>
                </c:pt>
                <c:pt idx="146">
                  <c:v>24022</c:v>
                </c:pt>
                <c:pt idx="147">
                  <c:v>19246</c:v>
                </c:pt>
                <c:pt idx="148">
                  <c:v>24618</c:v>
                </c:pt>
                <c:pt idx="149">
                  <c:v>24383</c:v>
                </c:pt>
                <c:pt idx="150">
                  <c:v>24212</c:v>
                </c:pt>
                <c:pt idx="151">
                  <c:v>22525</c:v>
                </c:pt>
                <c:pt idx="152">
                  <c:v>21323</c:v>
                </c:pt>
                <c:pt idx="153">
                  <c:v>20278</c:v>
                </c:pt>
                <c:pt idx="154">
                  <c:v>19455</c:v>
                </c:pt>
                <c:pt idx="155">
                  <c:v>24095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6B9A-4DFD-9EF2-94290DCC49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11156032"/>
        <c:axId val="611156360"/>
      </c:lineChart>
      <c:catAx>
        <c:axId val="61115603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1156360"/>
        <c:crosses val="autoZero"/>
        <c:auto val="1"/>
        <c:lblAlgn val="ctr"/>
        <c:lblOffset val="100"/>
        <c:tickLblSkip val="12"/>
        <c:tickMarkSkip val="12"/>
        <c:noMultiLvlLbl val="0"/>
      </c:catAx>
      <c:valAx>
        <c:axId val="6111563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1156032"/>
        <c:crosses val="autoZero"/>
        <c:crossBetween val="between"/>
        <c:dispUnits>
          <c:builtInUnit val="thousands"/>
          <c:dispUnitsLbl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b="1" i="0" cap="all" baseline="0" dirty="0" err="1">
                <a:effectLst/>
              </a:rPr>
              <a:t>emprego</a:t>
            </a:r>
            <a:r>
              <a:rPr lang="en-US" sz="1800" b="1" i="0" cap="all" baseline="0" dirty="0">
                <a:effectLst/>
              </a:rPr>
              <a:t> </a:t>
            </a:r>
            <a:r>
              <a:rPr lang="en-US" sz="1800" b="1" i="0" cap="all" baseline="0" dirty="0" err="1">
                <a:effectLst/>
              </a:rPr>
              <a:t>acumulado</a:t>
            </a:r>
            <a:r>
              <a:rPr lang="en-US" sz="1800" b="1" i="0" cap="all" baseline="0" dirty="0">
                <a:effectLst/>
              </a:rPr>
              <a:t> </a:t>
            </a:r>
            <a:endParaRPr lang="en-US" sz="1600" dirty="0">
              <a:effectLst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all" spc="120" normalizeH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Planilha6!$B$13</c:f>
              <c:strCache>
                <c:ptCount val="1"/>
                <c:pt idx="0">
                  <c:v>0% grow</c:v>
                </c:pt>
              </c:strCache>
            </c:strRef>
          </c:tx>
          <c:spPr>
            <a:ln w="19050" cap="rnd">
              <a:solidFill>
                <a:srgbClr val="7030A0"/>
              </a:solidFill>
              <a:prstDash val="sysDash"/>
              <a:round/>
            </a:ln>
            <a:effectLst/>
          </c:spPr>
          <c:marker>
            <c:symbol val="none"/>
          </c:marker>
          <c:cat>
            <c:numRef>
              <c:f>Planilha6!$C$3:$CT$3</c:f>
              <c:numCache>
                <c:formatCode>[$-409]mmm-yy;@</c:formatCode>
                <c:ptCount val="96"/>
                <c:pt idx="0">
                  <c:v>42736</c:v>
                </c:pt>
                <c:pt idx="1">
                  <c:v>42767</c:v>
                </c:pt>
                <c:pt idx="2">
                  <c:v>42795</c:v>
                </c:pt>
                <c:pt idx="3">
                  <c:v>42826</c:v>
                </c:pt>
                <c:pt idx="4">
                  <c:v>42856</c:v>
                </c:pt>
                <c:pt idx="5">
                  <c:v>42887</c:v>
                </c:pt>
                <c:pt idx="6">
                  <c:v>42917</c:v>
                </c:pt>
                <c:pt idx="7">
                  <c:v>42948</c:v>
                </c:pt>
                <c:pt idx="8">
                  <c:v>42979</c:v>
                </c:pt>
                <c:pt idx="9">
                  <c:v>43009</c:v>
                </c:pt>
                <c:pt idx="10">
                  <c:v>43040</c:v>
                </c:pt>
                <c:pt idx="11">
                  <c:v>43070</c:v>
                </c:pt>
                <c:pt idx="12">
                  <c:v>43101</c:v>
                </c:pt>
                <c:pt idx="13">
                  <c:v>43132</c:v>
                </c:pt>
                <c:pt idx="14">
                  <c:v>43160</c:v>
                </c:pt>
                <c:pt idx="15">
                  <c:v>43191</c:v>
                </c:pt>
                <c:pt idx="16">
                  <c:v>43221</c:v>
                </c:pt>
                <c:pt idx="17">
                  <c:v>43252</c:v>
                </c:pt>
                <c:pt idx="18">
                  <c:v>43282</c:v>
                </c:pt>
                <c:pt idx="19">
                  <c:v>43313</c:v>
                </c:pt>
                <c:pt idx="20">
                  <c:v>43344</c:v>
                </c:pt>
                <c:pt idx="21">
                  <c:v>43374</c:v>
                </c:pt>
                <c:pt idx="22">
                  <c:v>43405</c:v>
                </c:pt>
                <c:pt idx="23">
                  <c:v>43435</c:v>
                </c:pt>
                <c:pt idx="24">
                  <c:v>43466</c:v>
                </c:pt>
                <c:pt idx="25">
                  <c:v>43497</c:v>
                </c:pt>
                <c:pt idx="26">
                  <c:v>43525</c:v>
                </c:pt>
                <c:pt idx="27">
                  <c:v>43556</c:v>
                </c:pt>
                <c:pt idx="28">
                  <c:v>43586</c:v>
                </c:pt>
                <c:pt idx="29">
                  <c:v>43617</c:v>
                </c:pt>
                <c:pt idx="30">
                  <c:v>43647</c:v>
                </c:pt>
                <c:pt idx="31">
                  <c:v>43678</c:v>
                </c:pt>
                <c:pt idx="32">
                  <c:v>43709</c:v>
                </c:pt>
                <c:pt idx="33">
                  <c:v>43739</c:v>
                </c:pt>
                <c:pt idx="34">
                  <c:v>43770</c:v>
                </c:pt>
                <c:pt idx="35">
                  <c:v>43800</c:v>
                </c:pt>
                <c:pt idx="36">
                  <c:v>43831</c:v>
                </c:pt>
                <c:pt idx="37">
                  <c:v>43862</c:v>
                </c:pt>
                <c:pt idx="38">
                  <c:v>43891</c:v>
                </c:pt>
                <c:pt idx="39">
                  <c:v>43922</c:v>
                </c:pt>
                <c:pt idx="40">
                  <c:v>43952</c:v>
                </c:pt>
                <c:pt idx="41">
                  <c:v>43983</c:v>
                </c:pt>
                <c:pt idx="42">
                  <c:v>44013</c:v>
                </c:pt>
                <c:pt idx="43">
                  <c:v>44044</c:v>
                </c:pt>
                <c:pt idx="44">
                  <c:v>44075</c:v>
                </c:pt>
                <c:pt idx="45">
                  <c:v>44105</c:v>
                </c:pt>
                <c:pt idx="46">
                  <c:v>44136</c:v>
                </c:pt>
                <c:pt idx="47">
                  <c:v>44166</c:v>
                </c:pt>
                <c:pt idx="48">
                  <c:v>44197</c:v>
                </c:pt>
                <c:pt idx="49">
                  <c:v>44228</c:v>
                </c:pt>
                <c:pt idx="50">
                  <c:v>44256</c:v>
                </c:pt>
                <c:pt idx="51">
                  <c:v>44287</c:v>
                </c:pt>
                <c:pt idx="52">
                  <c:v>44317</c:v>
                </c:pt>
                <c:pt idx="53">
                  <c:v>44348</c:v>
                </c:pt>
                <c:pt idx="54">
                  <c:v>44378</c:v>
                </c:pt>
                <c:pt idx="55">
                  <c:v>44409</c:v>
                </c:pt>
                <c:pt idx="56">
                  <c:v>44440</c:v>
                </c:pt>
                <c:pt idx="57">
                  <c:v>44470</c:v>
                </c:pt>
                <c:pt idx="58">
                  <c:v>44501</c:v>
                </c:pt>
                <c:pt idx="59">
                  <c:v>44531</c:v>
                </c:pt>
                <c:pt idx="60">
                  <c:v>44562</c:v>
                </c:pt>
                <c:pt idx="61">
                  <c:v>44593</c:v>
                </c:pt>
                <c:pt idx="62">
                  <c:v>44621</c:v>
                </c:pt>
                <c:pt idx="63">
                  <c:v>44652</c:v>
                </c:pt>
                <c:pt idx="64">
                  <c:v>44682</c:v>
                </c:pt>
                <c:pt idx="65">
                  <c:v>44713</c:v>
                </c:pt>
                <c:pt idx="66">
                  <c:v>44743</c:v>
                </c:pt>
                <c:pt idx="67">
                  <c:v>44774</c:v>
                </c:pt>
                <c:pt idx="68">
                  <c:v>44805</c:v>
                </c:pt>
                <c:pt idx="69">
                  <c:v>44835</c:v>
                </c:pt>
                <c:pt idx="70">
                  <c:v>44866</c:v>
                </c:pt>
                <c:pt idx="71">
                  <c:v>44896</c:v>
                </c:pt>
                <c:pt idx="72">
                  <c:v>44927</c:v>
                </c:pt>
                <c:pt idx="73">
                  <c:v>44958</c:v>
                </c:pt>
                <c:pt idx="74">
                  <c:v>44986</c:v>
                </c:pt>
                <c:pt idx="75">
                  <c:v>45017</c:v>
                </c:pt>
                <c:pt idx="76">
                  <c:v>45047</c:v>
                </c:pt>
                <c:pt idx="77">
                  <c:v>45078</c:v>
                </c:pt>
                <c:pt idx="78">
                  <c:v>45108</c:v>
                </c:pt>
                <c:pt idx="79">
                  <c:v>45139</c:v>
                </c:pt>
                <c:pt idx="80">
                  <c:v>45170</c:v>
                </c:pt>
                <c:pt idx="81">
                  <c:v>45200</c:v>
                </c:pt>
                <c:pt idx="82">
                  <c:v>45231</c:v>
                </c:pt>
                <c:pt idx="83">
                  <c:v>45261</c:v>
                </c:pt>
                <c:pt idx="84">
                  <c:v>45292</c:v>
                </c:pt>
                <c:pt idx="85">
                  <c:v>45323</c:v>
                </c:pt>
                <c:pt idx="86">
                  <c:v>45352</c:v>
                </c:pt>
                <c:pt idx="87">
                  <c:v>45383</c:v>
                </c:pt>
                <c:pt idx="88">
                  <c:v>45413</c:v>
                </c:pt>
                <c:pt idx="89">
                  <c:v>45444</c:v>
                </c:pt>
                <c:pt idx="90">
                  <c:v>45474</c:v>
                </c:pt>
                <c:pt idx="91">
                  <c:v>45505</c:v>
                </c:pt>
                <c:pt idx="92">
                  <c:v>45536</c:v>
                </c:pt>
                <c:pt idx="93">
                  <c:v>45566</c:v>
                </c:pt>
                <c:pt idx="94">
                  <c:v>45597</c:v>
                </c:pt>
                <c:pt idx="95">
                  <c:v>45627</c:v>
                </c:pt>
              </c:numCache>
            </c:numRef>
          </c:cat>
          <c:val>
            <c:numRef>
              <c:f>Planilha6!$C$13:$CT$13</c:f>
              <c:numCache>
                <c:formatCode>General</c:formatCode>
                <c:ptCount val="96"/>
                <c:pt idx="0">
                  <c:v>-243895.53243511831</c:v>
                </c:pt>
                <c:pt idx="1">
                  <c:v>-360200.33739734662</c:v>
                </c:pt>
                <c:pt idx="2">
                  <c:v>-419259.58697420079</c:v>
                </c:pt>
                <c:pt idx="3">
                  <c:v>-387221.97334732558</c:v>
                </c:pt>
                <c:pt idx="4">
                  <c:v>-419672.09994925826</c:v>
                </c:pt>
                <c:pt idx="5">
                  <c:v>-291617.08973849867</c:v>
                </c:pt>
                <c:pt idx="6">
                  <c:v>-256128.40917827954</c:v>
                </c:pt>
                <c:pt idx="7">
                  <c:v>-279069.22907365242</c:v>
                </c:pt>
                <c:pt idx="8">
                  <c:v>-253405.06058867273</c:v>
                </c:pt>
                <c:pt idx="9">
                  <c:v>-476959.39832426666</c:v>
                </c:pt>
                <c:pt idx="10">
                  <c:v>-782147.87627912359</c:v>
                </c:pt>
                <c:pt idx="11">
                  <c:v>-1244051.9511981334</c:v>
                </c:pt>
                <c:pt idx="12">
                  <c:v>-1454184.421588354</c:v>
                </c:pt>
                <c:pt idx="13">
                  <c:v>-1514727.7298439941</c:v>
                </c:pt>
                <c:pt idx="14">
                  <c:v>-1519590.4005004333</c:v>
                </c:pt>
                <c:pt idx="15">
                  <c:v>-1435056.0012054227</c:v>
                </c:pt>
                <c:pt idx="16">
                  <c:v>-1427419.9354702979</c:v>
                </c:pt>
                <c:pt idx="17">
                  <c:v>-1273141.2550420954</c:v>
                </c:pt>
                <c:pt idx="18">
                  <c:v>-1219957.3961850347</c:v>
                </c:pt>
                <c:pt idx="19">
                  <c:v>-1230756.0417389425</c:v>
                </c:pt>
                <c:pt idx="20">
                  <c:v>-1194070.6698698939</c:v>
                </c:pt>
                <c:pt idx="21">
                  <c:v>-1403031.0747619595</c:v>
                </c:pt>
                <c:pt idx="22">
                  <c:v>-1687542.0552583123</c:v>
                </c:pt>
                <c:pt idx="23">
                  <c:v>-2122370.5060001919</c:v>
                </c:pt>
                <c:pt idx="24">
                  <c:v>-2300516.7974244221</c:v>
                </c:pt>
                <c:pt idx="25">
                  <c:v>-2326587.9546215674</c:v>
                </c:pt>
                <c:pt idx="26">
                  <c:v>-2296905.5072800508</c:v>
                </c:pt>
                <c:pt idx="27">
                  <c:v>-2179512.834752406</c:v>
                </c:pt>
                <c:pt idx="28">
                  <c:v>-2141605.6588796382</c:v>
                </c:pt>
                <c:pt idx="29">
                  <c:v>-1959774.2828650335</c:v>
                </c:pt>
                <c:pt idx="30">
                  <c:v>-1881351.0967100689</c:v>
                </c:pt>
                <c:pt idx="31">
                  <c:v>-1868532.0863421119</c:v>
                </c:pt>
                <c:pt idx="32">
                  <c:v>-1809078.1974780867</c:v>
                </c:pt>
                <c:pt idx="33">
                  <c:v>-1995414.3402803224</c:v>
                </c:pt>
                <c:pt idx="34">
                  <c:v>-2256908.8444206859</c:v>
                </c:pt>
                <c:pt idx="35">
                  <c:v>-2668018.7620229567</c:v>
                </c:pt>
                <c:pt idx="36">
                  <c:v>-2821682.3961584591</c:v>
                </c:pt>
                <c:pt idx="37">
                  <c:v>-2822672.7525254283</c:v>
                </c:pt>
                <c:pt idx="38">
                  <c:v>-2767640.3829505546</c:v>
                </c:pt>
                <c:pt idx="39">
                  <c:v>-2625021.8453600709</c:v>
                </c:pt>
                <c:pt idx="40">
                  <c:v>-2562365.2625211454</c:v>
                </c:pt>
                <c:pt idx="41">
                  <c:v>-2356491.948946401</c:v>
                </c:pt>
                <c:pt idx="42">
                  <c:v>-2254808.0218156087</c:v>
                </c:pt>
                <c:pt idx="43">
                  <c:v>-2219438.4853146109</c:v>
                </c:pt>
                <c:pt idx="44">
                  <c:v>-2137977.5642177411</c:v>
                </c:pt>
                <c:pt idx="45">
                  <c:v>-2302651.8481451985</c:v>
                </c:pt>
                <c:pt idx="46">
                  <c:v>-2542657.3999709706</c:v>
                </c:pt>
                <c:pt idx="47">
                  <c:v>-2932341.2465294376</c:v>
                </c:pt>
                <c:pt idx="48">
                  <c:v>-3064603.7399282078</c:v>
                </c:pt>
                <c:pt idx="49">
                  <c:v>-3044239.7590423692</c:v>
                </c:pt>
                <c:pt idx="50">
                  <c:v>-2967956.7976691364</c:v>
                </c:pt>
                <c:pt idx="51">
                  <c:v>-2804256.630963454</c:v>
                </c:pt>
                <c:pt idx="52">
                  <c:v>-2720740.1501049567</c:v>
                </c:pt>
                <c:pt idx="53">
                  <c:v>-2494258.5661449945</c:v>
                </c:pt>
                <c:pt idx="54">
                  <c:v>-2372225.2302539498</c:v>
                </c:pt>
                <c:pt idx="55">
                  <c:v>-2316757.885585147</c:v>
                </c:pt>
                <c:pt idx="56">
                  <c:v>-2215440.7355273324</c:v>
                </c:pt>
                <c:pt idx="57">
                  <c:v>-2360498.1326250858</c:v>
                </c:pt>
                <c:pt idx="58">
                  <c:v>-2581137.1407642243</c:v>
                </c:pt>
                <c:pt idx="59">
                  <c:v>-2951727.2877197838</c:v>
                </c:pt>
                <c:pt idx="60">
                  <c:v>-3065194.2028883924</c:v>
                </c:pt>
                <c:pt idx="61">
                  <c:v>-3026347.577165985</c:v>
                </c:pt>
                <c:pt idx="62">
                  <c:v>-2931885.6066166344</c:v>
                </c:pt>
                <c:pt idx="63">
                  <c:v>-2750267.3128914735</c:v>
                </c:pt>
                <c:pt idx="64">
                  <c:v>-2649016.3999982686</c:v>
                </c:pt>
                <c:pt idx="65">
                  <c:v>-2404882.3084983607</c:v>
                </c:pt>
                <c:pt idx="66">
                  <c:v>-2265172.9654641342</c:v>
                </c:pt>
                <c:pt idx="67">
                  <c:v>-2191926.6873021941</c:v>
                </c:pt>
                <c:pt idx="68">
                  <c:v>-2072707.325342681</c:v>
                </c:pt>
                <c:pt idx="69">
                  <c:v>-2199805.967056185</c:v>
                </c:pt>
                <c:pt idx="70">
                  <c:v>-2402595.2114466676</c:v>
                </c:pt>
                <c:pt idx="71">
                  <c:v>-2755693.3837552629</c:v>
                </c:pt>
                <c:pt idx="72">
                  <c:v>-2852309.6116708219</c:v>
                </c:pt>
                <c:pt idx="73">
                  <c:v>-2797493.1153850225</c:v>
                </c:pt>
                <c:pt idx="74">
                  <c:v>-2688043.4866793971</c:v>
                </c:pt>
                <c:pt idx="75">
                  <c:v>-2492301.5696127289</c:v>
                </c:pt>
                <c:pt idx="76">
                  <c:v>-2377420.9428266296</c:v>
                </c:pt>
                <c:pt idx="77">
                  <c:v>-2119577.115163323</c:v>
                </c:pt>
                <c:pt idx="78">
                  <c:v>-1965431.5750248404</c:v>
                </c:pt>
                <c:pt idx="79">
                  <c:v>-1876491.120716902</c:v>
                </c:pt>
                <c:pt idx="80">
                  <c:v>-1740086.7612805185</c:v>
                </c:pt>
                <c:pt idx="81">
                  <c:v>-1848692.4203934188</c:v>
                </c:pt>
                <c:pt idx="82">
                  <c:v>-2032359.7608522917</c:v>
                </c:pt>
                <c:pt idx="83">
                  <c:v>-2366721.241359198</c:v>
                </c:pt>
                <c:pt idx="84">
                  <c:v>-2446007.554709164</c:v>
                </c:pt>
                <c:pt idx="85">
                  <c:v>-2376634.3932956848</c:v>
                </c:pt>
                <c:pt idx="86">
                  <c:v>-2255939.7064245157</c:v>
                </c:pt>
                <c:pt idx="87">
                  <c:v>-2051685.1784231602</c:v>
                </c:pt>
                <c:pt idx="88">
                  <c:v>-1932151.0783559312</c:v>
                </c:pt>
                <c:pt idx="89">
                  <c:v>-1669076.9432891267</c:v>
                </c:pt>
                <c:pt idx="90">
                  <c:v>-1510717.0985670723</c:v>
                </c:pt>
                <c:pt idx="91">
                  <c:v>-1421001.0592209306</c:v>
                </c:pt>
                <c:pt idx="92">
                  <c:v>-1246774.8566461077</c:v>
                </c:pt>
                <c:pt idx="93">
                  <c:v>-1371972.7515152365</c:v>
                </c:pt>
                <c:pt idx="94">
                  <c:v>-1558154.5465304181</c:v>
                </c:pt>
                <c:pt idx="95" formatCode="_(* #,##0.00_);_(* \(#,##0.00\);_(* &quot;-&quot;??_);_(@_)">
                  <c:v>-1682770.8133217331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A23-45A6-AC5B-0F8DC5ABAF68}"/>
            </c:ext>
          </c:extLst>
        </c:ser>
        <c:ser>
          <c:idx val="1"/>
          <c:order val="1"/>
          <c:tx>
            <c:strRef>
              <c:f>Planilha6!$B$14</c:f>
              <c:strCache>
                <c:ptCount val="1"/>
                <c:pt idx="0">
                  <c:v>2% grow</c:v>
                </c:pt>
              </c:strCache>
            </c:strRef>
          </c:tx>
          <c:spPr>
            <a:ln w="19050" cap="rnd">
              <a:solidFill>
                <a:srgbClr val="FF0000"/>
              </a:solidFill>
              <a:prstDash val="dashDot"/>
              <a:round/>
            </a:ln>
            <a:effectLst/>
          </c:spPr>
          <c:marker>
            <c:symbol val="none"/>
          </c:marker>
          <c:cat>
            <c:numRef>
              <c:f>Planilha6!$C$3:$CT$3</c:f>
              <c:numCache>
                <c:formatCode>[$-409]mmm-yy;@</c:formatCode>
                <c:ptCount val="96"/>
                <c:pt idx="0">
                  <c:v>42736</c:v>
                </c:pt>
                <c:pt idx="1">
                  <c:v>42767</c:v>
                </c:pt>
                <c:pt idx="2">
                  <c:v>42795</c:v>
                </c:pt>
                <c:pt idx="3">
                  <c:v>42826</c:v>
                </c:pt>
                <c:pt idx="4">
                  <c:v>42856</c:v>
                </c:pt>
                <c:pt idx="5">
                  <c:v>42887</c:v>
                </c:pt>
                <c:pt idx="6">
                  <c:v>42917</c:v>
                </c:pt>
                <c:pt idx="7">
                  <c:v>42948</c:v>
                </c:pt>
                <c:pt idx="8">
                  <c:v>42979</c:v>
                </c:pt>
                <c:pt idx="9">
                  <c:v>43009</c:v>
                </c:pt>
                <c:pt idx="10">
                  <c:v>43040</c:v>
                </c:pt>
                <c:pt idx="11">
                  <c:v>43070</c:v>
                </c:pt>
                <c:pt idx="12">
                  <c:v>43101</c:v>
                </c:pt>
                <c:pt idx="13">
                  <c:v>43132</c:v>
                </c:pt>
                <c:pt idx="14">
                  <c:v>43160</c:v>
                </c:pt>
                <c:pt idx="15">
                  <c:v>43191</c:v>
                </c:pt>
                <c:pt idx="16">
                  <c:v>43221</c:v>
                </c:pt>
                <c:pt idx="17">
                  <c:v>43252</c:v>
                </c:pt>
                <c:pt idx="18">
                  <c:v>43282</c:v>
                </c:pt>
                <c:pt idx="19">
                  <c:v>43313</c:v>
                </c:pt>
                <c:pt idx="20">
                  <c:v>43344</c:v>
                </c:pt>
                <c:pt idx="21">
                  <c:v>43374</c:v>
                </c:pt>
                <c:pt idx="22">
                  <c:v>43405</c:v>
                </c:pt>
                <c:pt idx="23">
                  <c:v>43435</c:v>
                </c:pt>
                <c:pt idx="24">
                  <c:v>43466</c:v>
                </c:pt>
                <c:pt idx="25">
                  <c:v>43497</c:v>
                </c:pt>
                <c:pt idx="26">
                  <c:v>43525</c:v>
                </c:pt>
                <c:pt idx="27">
                  <c:v>43556</c:v>
                </c:pt>
                <c:pt idx="28">
                  <c:v>43586</c:v>
                </c:pt>
                <c:pt idx="29">
                  <c:v>43617</c:v>
                </c:pt>
                <c:pt idx="30">
                  <c:v>43647</c:v>
                </c:pt>
                <c:pt idx="31">
                  <c:v>43678</c:v>
                </c:pt>
                <c:pt idx="32">
                  <c:v>43709</c:v>
                </c:pt>
                <c:pt idx="33">
                  <c:v>43739</c:v>
                </c:pt>
                <c:pt idx="34">
                  <c:v>43770</c:v>
                </c:pt>
                <c:pt idx="35">
                  <c:v>43800</c:v>
                </c:pt>
                <c:pt idx="36">
                  <c:v>43831</c:v>
                </c:pt>
                <c:pt idx="37">
                  <c:v>43862</c:v>
                </c:pt>
                <c:pt idx="38">
                  <c:v>43891</c:v>
                </c:pt>
                <c:pt idx="39">
                  <c:v>43922</c:v>
                </c:pt>
                <c:pt idx="40">
                  <c:v>43952</c:v>
                </c:pt>
                <c:pt idx="41">
                  <c:v>43983</c:v>
                </c:pt>
                <c:pt idx="42">
                  <c:v>44013</c:v>
                </c:pt>
                <c:pt idx="43">
                  <c:v>44044</c:v>
                </c:pt>
                <c:pt idx="44">
                  <c:v>44075</c:v>
                </c:pt>
                <c:pt idx="45">
                  <c:v>44105</c:v>
                </c:pt>
                <c:pt idx="46">
                  <c:v>44136</c:v>
                </c:pt>
                <c:pt idx="47">
                  <c:v>44166</c:v>
                </c:pt>
                <c:pt idx="48">
                  <c:v>44197</c:v>
                </c:pt>
                <c:pt idx="49">
                  <c:v>44228</c:v>
                </c:pt>
                <c:pt idx="50">
                  <c:v>44256</c:v>
                </c:pt>
                <c:pt idx="51">
                  <c:v>44287</c:v>
                </c:pt>
                <c:pt idx="52">
                  <c:v>44317</c:v>
                </c:pt>
                <c:pt idx="53">
                  <c:v>44348</c:v>
                </c:pt>
                <c:pt idx="54">
                  <c:v>44378</c:v>
                </c:pt>
                <c:pt idx="55">
                  <c:v>44409</c:v>
                </c:pt>
                <c:pt idx="56">
                  <c:v>44440</c:v>
                </c:pt>
                <c:pt idx="57">
                  <c:v>44470</c:v>
                </c:pt>
                <c:pt idx="58">
                  <c:v>44501</c:v>
                </c:pt>
                <c:pt idx="59">
                  <c:v>44531</c:v>
                </c:pt>
                <c:pt idx="60">
                  <c:v>44562</c:v>
                </c:pt>
                <c:pt idx="61">
                  <c:v>44593</c:v>
                </c:pt>
                <c:pt idx="62">
                  <c:v>44621</c:v>
                </c:pt>
                <c:pt idx="63">
                  <c:v>44652</c:v>
                </c:pt>
                <c:pt idx="64">
                  <c:v>44682</c:v>
                </c:pt>
                <c:pt idx="65">
                  <c:v>44713</c:v>
                </c:pt>
                <c:pt idx="66">
                  <c:v>44743</c:v>
                </c:pt>
                <c:pt idx="67">
                  <c:v>44774</c:v>
                </c:pt>
                <c:pt idx="68">
                  <c:v>44805</c:v>
                </c:pt>
                <c:pt idx="69">
                  <c:v>44835</c:v>
                </c:pt>
                <c:pt idx="70">
                  <c:v>44866</c:v>
                </c:pt>
                <c:pt idx="71">
                  <c:v>44896</c:v>
                </c:pt>
                <c:pt idx="72">
                  <c:v>44927</c:v>
                </c:pt>
                <c:pt idx="73">
                  <c:v>44958</c:v>
                </c:pt>
                <c:pt idx="74">
                  <c:v>44986</c:v>
                </c:pt>
                <c:pt idx="75">
                  <c:v>45017</c:v>
                </c:pt>
                <c:pt idx="76">
                  <c:v>45047</c:v>
                </c:pt>
                <c:pt idx="77">
                  <c:v>45078</c:v>
                </c:pt>
                <c:pt idx="78">
                  <c:v>45108</c:v>
                </c:pt>
                <c:pt idx="79">
                  <c:v>45139</c:v>
                </c:pt>
                <c:pt idx="80">
                  <c:v>45170</c:v>
                </c:pt>
                <c:pt idx="81">
                  <c:v>45200</c:v>
                </c:pt>
                <c:pt idx="82">
                  <c:v>45231</c:v>
                </c:pt>
                <c:pt idx="83">
                  <c:v>45261</c:v>
                </c:pt>
                <c:pt idx="84">
                  <c:v>45292</c:v>
                </c:pt>
                <c:pt idx="85">
                  <c:v>45323</c:v>
                </c:pt>
                <c:pt idx="86">
                  <c:v>45352</c:v>
                </c:pt>
                <c:pt idx="87">
                  <c:v>45383</c:v>
                </c:pt>
                <c:pt idx="88">
                  <c:v>45413</c:v>
                </c:pt>
                <c:pt idx="89">
                  <c:v>45444</c:v>
                </c:pt>
                <c:pt idx="90">
                  <c:v>45474</c:v>
                </c:pt>
                <c:pt idx="91">
                  <c:v>45505</c:v>
                </c:pt>
                <c:pt idx="92">
                  <c:v>45536</c:v>
                </c:pt>
                <c:pt idx="93">
                  <c:v>45566</c:v>
                </c:pt>
                <c:pt idx="94">
                  <c:v>45597</c:v>
                </c:pt>
                <c:pt idx="95">
                  <c:v>45627</c:v>
                </c:pt>
              </c:numCache>
            </c:numRef>
          </c:cat>
          <c:val>
            <c:numRef>
              <c:f>Planilha6!$C$14:$CT$14</c:f>
              <c:numCache>
                <c:formatCode>General</c:formatCode>
                <c:ptCount val="96"/>
                <c:pt idx="0">
                  <c:v>-211072.76771537063</c:v>
                </c:pt>
                <c:pt idx="1">
                  <c:v>-306159.4702204396</c:v>
                </c:pt>
                <c:pt idx="2">
                  <c:v>-353439.10630622163</c:v>
                </c:pt>
                <c:pt idx="3">
                  <c:v>-302878.5371278493</c:v>
                </c:pt>
                <c:pt idx="4">
                  <c:v>-322210.55293649453</c:v>
                </c:pt>
                <c:pt idx="5">
                  <c:v>-179996.11837325987</c:v>
                </c:pt>
                <c:pt idx="6">
                  <c:v>-132161.29422336005</c:v>
                </c:pt>
                <c:pt idx="7">
                  <c:v>-143434.06028172607</c:v>
                </c:pt>
                <c:pt idx="8">
                  <c:v>-95172.184109507216</c:v>
                </c:pt>
                <c:pt idx="9">
                  <c:v>-325092.81597119407</c:v>
                </c:pt>
                <c:pt idx="10">
                  <c:v>-605292.33429678797</c:v>
                </c:pt>
                <c:pt idx="11">
                  <c:v>-1016682.3562217109</c:v>
                </c:pt>
                <c:pt idx="12">
                  <c:v>-1179678.2691760634</c:v>
                </c:pt>
                <c:pt idx="13">
                  <c:v>-1196879.2114132307</c:v>
                </c:pt>
                <c:pt idx="14">
                  <c:v>-1171852.8177872961</c:v>
                </c:pt>
                <c:pt idx="15">
                  <c:v>-1055847.8111418455</c:v>
                </c:pt>
                <c:pt idx="16">
                  <c:v>-1023113.137741197</c:v>
                </c:pt>
                <c:pt idx="17">
                  <c:v>-843525.3749416233</c:v>
                </c:pt>
                <c:pt idx="18">
                  <c:v>-766536.92295213626</c:v>
                </c:pt>
                <c:pt idx="19">
                  <c:v>-753167.98990852223</c:v>
                </c:pt>
                <c:pt idx="20">
                  <c:v>-680287.1381552869</c:v>
                </c:pt>
                <c:pt idx="21">
                  <c:v>-881018.52573971264</c:v>
                </c:pt>
                <c:pt idx="22">
                  <c:v>-1125493.9288136528</c:v>
                </c:pt>
                <c:pt idx="23">
                  <c:v>-1494903.9502850089</c:v>
                </c:pt>
                <c:pt idx="24">
                  <c:v>-1611655.4048702761</c:v>
                </c:pt>
                <c:pt idx="25">
                  <c:v>-1581113.0705172231</c:v>
                </c:pt>
                <c:pt idx="26">
                  <c:v>-1509374.8960702152</c:v>
                </c:pt>
                <c:pt idx="27">
                  <c:v>-1349369.1533051257</c:v>
                </c:pt>
                <c:pt idx="28">
                  <c:v>-1276041.8403449638</c:v>
                </c:pt>
                <c:pt idx="29">
                  <c:v>-1059148.7256742613</c:v>
                </c:pt>
                <c:pt idx="30">
                  <c:v>-947502.04306851036</c:v>
                </c:pt>
                <c:pt idx="31">
                  <c:v>-901256.29022258869</c:v>
                </c:pt>
                <c:pt idx="32">
                  <c:v>-796415.95219207904</c:v>
                </c:pt>
                <c:pt idx="33">
                  <c:v>-965390.57540130219</c:v>
                </c:pt>
                <c:pt idx="34">
                  <c:v>-1177830.546772918</c:v>
                </c:pt>
                <c:pt idx="35">
                  <c:v>-1514710.0066158036</c:v>
                </c:pt>
                <c:pt idx="36">
                  <c:v>-1598476.7213504431</c:v>
                </c:pt>
                <c:pt idx="37">
                  <c:v>-1534749.0726915863</c:v>
                </c:pt>
                <c:pt idx="38">
                  <c:v>-1430009.1391247779</c:v>
                </c:pt>
                <c:pt idx="39">
                  <c:v>-1237594.1537434538</c:v>
                </c:pt>
                <c:pt idx="40">
                  <c:v>-1132782.406695772</c:v>
                </c:pt>
                <c:pt idx="41">
                  <c:v>-885515.7496553387</c:v>
                </c:pt>
                <c:pt idx="42">
                  <c:v>-744625.0491001507</c:v>
                </c:pt>
                <c:pt idx="43">
                  <c:v>-670142.540298015</c:v>
                </c:pt>
                <c:pt idx="44">
                  <c:v>-537868.53007350815</c:v>
                </c:pt>
                <c:pt idx="45">
                  <c:v>-679995.02445364022</c:v>
                </c:pt>
                <c:pt idx="46">
                  <c:v>-865998.15246414044</c:v>
                </c:pt>
                <c:pt idx="47">
                  <c:v>-1176752.3873482626</c:v>
                </c:pt>
                <c:pt idx="48">
                  <c:v>-1234683.714101525</c:v>
                </c:pt>
                <c:pt idx="49">
                  <c:v>-1145448.2784299385</c:v>
                </c:pt>
                <c:pt idx="50">
                  <c:v>-1015596.5079057564</c:v>
                </c:pt>
                <c:pt idx="51">
                  <c:v>-798535.99082355492</c:v>
                </c:pt>
                <c:pt idx="52">
                  <c:v>-669597.00269991939</c:v>
                </c:pt>
                <c:pt idx="53">
                  <c:v>-398746.25561058393</c:v>
                </c:pt>
                <c:pt idx="54">
                  <c:v>-234814.57978302997</c:v>
                </c:pt>
                <c:pt idx="55">
                  <c:v>-137819.02191886675</c:v>
                </c:pt>
                <c:pt idx="56">
                  <c:v>16457.997481793398</c:v>
                </c:pt>
                <c:pt idx="57">
                  <c:v>-104165.35879362618</c:v>
                </c:pt>
                <c:pt idx="58">
                  <c:v>-269167.58158842759</c:v>
                </c:pt>
                <c:pt idx="59">
                  <c:v>-559435.64929084526</c:v>
                </c:pt>
                <c:pt idx="60">
                  <c:v>-597409.31388604932</c:v>
                </c:pt>
                <c:pt idx="61">
                  <c:v>-488747.20817534794</c:v>
                </c:pt>
                <c:pt idx="62">
                  <c:v>-339979.02731460123</c:v>
                </c:pt>
                <c:pt idx="63">
                  <c:v>-104461.64232626537</c:v>
                </c:pt>
                <c:pt idx="64">
                  <c:v>42553.348991371051</c:v>
                </c:pt>
                <c:pt idx="65">
                  <c:v>331193.43841127941</c:v>
                </c:pt>
                <c:pt idx="66">
                  <c:v>512715.62813978351</c:v>
                </c:pt>
                <c:pt idx="67">
                  <c:v>627156.65872711269</c:v>
                </c:pt>
                <c:pt idx="68">
                  <c:v>798726.61612830637</c:v>
                </c:pt>
                <c:pt idx="69">
                  <c:v>695156.33204128908</c:v>
                </c:pt>
                <c:pt idx="70">
                  <c:v>546799.36316835263</c:v>
                </c:pt>
                <c:pt idx="71">
                  <c:v>272544.4348993788</c:v>
                </c:pt>
                <c:pt idx="72">
                  <c:v>249722.02109570461</c:v>
                </c:pt>
                <c:pt idx="73">
                  <c:v>372509.48688905337</c:v>
                </c:pt>
                <c:pt idx="74">
                  <c:v>534355.09891891165</c:v>
                </c:pt>
                <c:pt idx="75">
                  <c:v>782078.88505458704</c:v>
                </c:pt>
                <c:pt idx="76">
                  <c:v>940814.15709064575</c:v>
                </c:pt>
                <c:pt idx="77">
                  <c:v>1241221.7874603039</c:v>
                </c:pt>
                <c:pt idx="78">
                  <c:v>1435112.9127924917</c:v>
                </c:pt>
                <c:pt idx="79">
                  <c:v>1562933.7150207662</c:v>
                </c:pt>
                <c:pt idx="80">
                  <c:v>1748999.6296442666</c:v>
                </c:pt>
                <c:pt idx="81">
                  <c:v>1660755.3127735781</c:v>
                </c:pt>
                <c:pt idx="82">
                  <c:v>1527839.0211348869</c:v>
                </c:pt>
                <c:pt idx="83">
                  <c:v>1268138.1599924229</c:v>
                </c:pt>
                <c:pt idx="84">
                  <c:v>1258012.0248644811</c:v>
                </c:pt>
                <c:pt idx="85">
                  <c:v>1390605.2722840756</c:v>
                </c:pt>
                <c:pt idx="86">
                  <c:v>1558898.1957443114</c:v>
                </c:pt>
                <c:pt idx="87">
                  <c:v>1810590.2639281077</c:v>
                </c:pt>
                <c:pt idx="88">
                  <c:v>1970482.5244918584</c:v>
                </c:pt>
                <c:pt idx="89">
                  <c:v>2272399.983609484</c:v>
                </c:pt>
                <c:pt idx="90">
                  <c:v>2469461.7284514545</c:v>
                </c:pt>
                <c:pt idx="91">
                  <c:v>2598315.7635916248</c:v>
                </c:pt>
                <c:pt idx="92">
                  <c:v>2810502.8252281332</c:v>
                </c:pt>
                <c:pt idx="93">
                  <c:v>2727184.7759748171</c:v>
                </c:pt>
                <c:pt idx="94">
                  <c:v>2578561.7971121897</c:v>
                </c:pt>
                <c:pt idx="95" formatCode="_(* #,##0.00_);_(* \(#,##0.00\);_(* &quot;-&quot;??_);_(@_)">
                  <c:v>2482252.8017026265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A23-45A6-AC5B-0F8DC5ABAF68}"/>
            </c:ext>
          </c:extLst>
        </c:ser>
        <c:ser>
          <c:idx val="2"/>
          <c:order val="2"/>
          <c:tx>
            <c:strRef>
              <c:f>Planilha6!$B$15</c:f>
              <c:strCache>
                <c:ptCount val="1"/>
                <c:pt idx="0">
                  <c:v>4% grow</c:v>
                </c:pt>
              </c:strCache>
            </c:strRef>
          </c:tx>
          <c:spPr>
            <a:ln w="19050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cat>
            <c:numRef>
              <c:f>Planilha6!$C$3:$CT$3</c:f>
              <c:numCache>
                <c:formatCode>[$-409]mmm-yy;@</c:formatCode>
                <c:ptCount val="96"/>
                <c:pt idx="0">
                  <c:v>42736</c:v>
                </c:pt>
                <c:pt idx="1">
                  <c:v>42767</c:v>
                </c:pt>
                <c:pt idx="2">
                  <c:v>42795</c:v>
                </c:pt>
                <c:pt idx="3">
                  <c:v>42826</c:v>
                </c:pt>
                <c:pt idx="4">
                  <c:v>42856</c:v>
                </c:pt>
                <c:pt idx="5">
                  <c:v>42887</c:v>
                </c:pt>
                <c:pt idx="6">
                  <c:v>42917</c:v>
                </c:pt>
                <c:pt idx="7">
                  <c:v>42948</c:v>
                </c:pt>
                <c:pt idx="8">
                  <c:v>42979</c:v>
                </c:pt>
                <c:pt idx="9">
                  <c:v>43009</c:v>
                </c:pt>
                <c:pt idx="10">
                  <c:v>43040</c:v>
                </c:pt>
                <c:pt idx="11">
                  <c:v>43070</c:v>
                </c:pt>
                <c:pt idx="12">
                  <c:v>43101</c:v>
                </c:pt>
                <c:pt idx="13">
                  <c:v>43132</c:v>
                </c:pt>
                <c:pt idx="14">
                  <c:v>43160</c:v>
                </c:pt>
                <c:pt idx="15">
                  <c:v>43191</c:v>
                </c:pt>
                <c:pt idx="16">
                  <c:v>43221</c:v>
                </c:pt>
                <c:pt idx="17">
                  <c:v>43252</c:v>
                </c:pt>
                <c:pt idx="18">
                  <c:v>43282</c:v>
                </c:pt>
                <c:pt idx="19">
                  <c:v>43313</c:v>
                </c:pt>
                <c:pt idx="20">
                  <c:v>43344</c:v>
                </c:pt>
                <c:pt idx="21">
                  <c:v>43374</c:v>
                </c:pt>
                <c:pt idx="22">
                  <c:v>43405</c:v>
                </c:pt>
                <c:pt idx="23">
                  <c:v>43435</c:v>
                </c:pt>
                <c:pt idx="24">
                  <c:v>43466</c:v>
                </c:pt>
                <c:pt idx="25">
                  <c:v>43497</c:v>
                </c:pt>
                <c:pt idx="26">
                  <c:v>43525</c:v>
                </c:pt>
                <c:pt idx="27">
                  <c:v>43556</c:v>
                </c:pt>
                <c:pt idx="28">
                  <c:v>43586</c:v>
                </c:pt>
                <c:pt idx="29">
                  <c:v>43617</c:v>
                </c:pt>
                <c:pt idx="30">
                  <c:v>43647</c:v>
                </c:pt>
                <c:pt idx="31">
                  <c:v>43678</c:v>
                </c:pt>
                <c:pt idx="32">
                  <c:v>43709</c:v>
                </c:pt>
                <c:pt idx="33">
                  <c:v>43739</c:v>
                </c:pt>
                <c:pt idx="34">
                  <c:v>43770</c:v>
                </c:pt>
                <c:pt idx="35">
                  <c:v>43800</c:v>
                </c:pt>
                <c:pt idx="36">
                  <c:v>43831</c:v>
                </c:pt>
                <c:pt idx="37">
                  <c:v>43862</c:v>
                </c:pt>
                <c:pt idx="38">
                  <c:v>43891</c:v>
                </c:pt>
                <c:pt idx="39">
                  <c:v>43922</c:v>
                </c:pt>
                <c:pt idx="40">
                  <c:v>43952</c:v>
                </c:pt>
                <c:pt idx="41">
                  <c:v>43983</c:v>
                </c:pt>
                <c:pt idx="42">
                  <c:v>44013</c:v>
                </c:pt>
                <c:pt idx="43">
                  <c:v>44044</c:v>
                </c:pt>
                <c:pt idx="44">
                  <c:v>44075</c:v>
                </c:pt>
                <c:pt idx="45">
                  <c:v>44105</c:v>
                </c:pt>
                <c:pt idx="46">
                  <c:v>44136</c:v>
                </c:pt>
                <c:pt idx="47">
                  <c:v>44166</c:v>
                </c:pt>
                <c:pt idx="48">
                  <c:v>44197</c:v>
                </c:pt>
                <c:pt idx="49">
                  <c:v>44228</c:v>
                </c:pt>
                <c:pt idx="50">
                  <c:v>44256</c:v>
                </c:pt>
                <c:pt idx="51">
                  <c:v>44287</c:v>
                </c:pt>
                <c:pt idx="52">
                  <c:v>44317</c:v>
                </c:pt>
                <c:pt idx="53">
                  <c:v>44348</c:v>
                </c:pt>
                <c:pt idx="54">
                  <c:v>44378</c:v>
                </c:pt>
                <c:pt idx="55">
                  <c:v>44409</c:v>
                </c:pt>
                <c:pt idx="56">
                  <c:v>44440</c:v>
                </c:pt>
                <c:pt idx="57">
                  <c:v>44470</c:v>
                </c:pt>
                <c:pt idx="58">
                  <c:v>44501</c:v>
                </c:pt>
                <c:pt idx="59">
                  <c:v>44531</c:v>
                </c:pt>
                <c:pt idx="60">
                  <c:v>44562</c:v>
                </c:pt>
                <c:pt idx="61">
                  <c:v>44593</c:v>
                </c:pt>
                <c:pt idx="62">
                  <c:v>44621</c:v>
                </c:pt>
                <c:pt idx="63">
                  <c:v>44652</c:v>
                </c:pt>
                <c:pt idx="64">
                  <c:v>44682</c:v>
                </c:pt>
                <c:pt idx="65">
                  <c:v>44713</c:v>
                </c:pt>
                <c:pt idx="66">
                  <c:v>44743</c:v>
                </c:pt>
                <c:pt idx="67">
                  <c:v>44774</c:v>
                </c:pt>
                <c:pt idx="68">
                  <c:v>44805</c:v>
                </c:pt>
                <c:pt idx="69">
                  <c:v>44835</c:v>
                </c:pt>
                <c:pt idx="70">
                  <c:v>44866</c:v>
                </c:pt>
                <c:pt idx="71">
                  <c:v>44896</c:v>
                </c:pt>
                <c:pt idx="72">
                  <c:v>44927</c:v>
                </c:pt>
                <c:pt idx="73">
                  <c:v>44958</c:v>
                </c:pt>
                <c:pt idx="74">
                  <c:v>44986</c:v>
                </c:pt>
                <c:pt idx="75">
                  <c:v>45017</c:v>
                </c:pt>
                <c:pt idx="76">
                  <c:v>45047</c:v>
                </c:pt>
                <c:pt idx="77">
                  <c:v>45078</c:v>
                </c:pt>
                <c:pt idx="78">
                  <c:v>45108</c:v>
                </c:pt>
                <c:pt idx="79">
                  <c:v>45139</c:v>
                </c:pt>
                <c:pt idx="80">
                  <c:v>45170</c:v>
                </c:pt>
                <c:pt idx="81">
                  <c:v>45200</c:v>
                </c:pt>
                <c:pt idx="82">
                  <c:v>45231</c:v>
                </c:pt>
                <c:pt idx="83">
                  <c:v>45261</c:v>
                </c:pt>
                <c:pt idx="84">
                  <c:v>45292</c:v>
                </c:pt>
                <c:pt idx="85">
                  <c:v>45323</c:v>
                </c:pt>
                <c:pt idx="86">
                  <c:v>45352</c:v>
                </c:pt>
                <c:pt idx="87">
                  <c:v>45383</c:v>
                </c:pt>
                <c:pt idx="88">
                  <c:v>45413</c:v>
                </c:pt>
                <c:pt idx="89">
                  <c:v>45444</c:v>
                </c:pt>
                <c:pt idx="90">
                  <c:v>45474</c:v>
                </c:pt>
                <c:pt idx="91">
                  <c:v>45505</c:v>
                </c:pt>
                <c:pt idx="92">
                  <c:v>45536</c:v>
                </c:pt>
                <c:pt idx="93">
                  <c:v>45566</c:v>
                </c:pt>
                <c:pt idx="94">
                  <c:v>45597</c:v>
                </c:pt>
                <c:pt idx="95">
                  <c:v>45627</c:v>
                </c:pt>
              </c:numCache>
            </c:numRef>
          </c:cat>
          <c:val>
            <c:numRef>
              <c:f>Planilha6!$C$15:$CT$15</c:f>
              <c:numCache>
                <c:formatCode>General</c:formatCode>
                <c:ptCount val="96"/>
                <c:pt idx="0">
                  <c:v>-178887.3786827513</c:v>
                </c:pt>
                <c:pt idx="1">
                  <c:v>-253168.00686871272</c:v>
                </c:pt>
                <c:pt idx="2">
                  <c:v>-288896.77433933679</c:v>
                </c:pt>
                <c:pt idx="3">
                  <c:v>-220172.94147647137</c:v>
                </c:pt>
                <c:pt idx="4">
                  <c:v>-226641.58325614774</c:v>
                </c:pt>
                <c:pt idx="5">
                  <c:v>-70542.682068802911</c:v>
                </c:pt>
                <c:pt idx="6">
                  <c:v>-10601.46048775113</c:v>
                </c:pt>
                <c:pt idx="7">
                  <c:v>-10432.751240666454</c:v>
                </c:pt>
                <c:pt idx="8">
                  <c:v>59988.014329483478</c:v>
                </c:pt>
                <c:pt idx="9">
                  <c:v>-176175.28645098279</c:v>
                </c:pt>
                <c:pt idx="10">
                  <c:v>-431871.09846007713</c:v>
                </c:pt>
                <c:pt idx="11">
                  <c:v>-793727.98504095385</c:v>
                </c:pt>
                <c:pt idx="12">
                  <c:v>-910502.67160912487</c:v>
                </c:pt>
                <c:pt idx="13">
                  <c:v>-885202.90058189596</c:v>
                </c:pt>
                <c:pt idx="14">
                  <c:v>-830867.84968826966</c:v>
                </c:pt>
                <c:pt idx="15">
                  <c:v>-684003.35423024744</c:v>
                </c:pt>
                <c:pt idx="16">
                  <c:v>-626657.45570004894</c:v>
                </c:pt>
                <c:pt idx="17">
                  <c:v>-422252.08021195338</c:v>
                </c:pt>
                <c:pt idx="18">
                  <c:v>-321921.28953551821</c:v>
                </c:pt>
                <c:pt idx="19">
                  <c:v>-284854.08104865177</c:v>
                </c:pt>
                <c:pt idx="20">
                  <c:v>-176480.61886964078</c:v>
                </c:pt>
                <c:pt idx="21">
                  <c:v>-369142.78603147384</c:v>
                </c:pt>
                <c:pt idx="22">
                  <c:v>-574360.05087458272</c:v>
                </c:pt>
                <c:pt idx="23">
                  <c:v>-879621.98445778119</c:v>
                </c:pt>
                <c:pt idx="24">
                  <c:v>-936170.81061950955</c:v>
                </c:pt>
                <c:pt idx="25">
                  <c:v>-850114.3455831944</c:v>
                </c:pt>
                <c:pt idx="26">
                  <c:v>-737137.11191929039</c:v>
                </c:pt>
                <c:pt idx="27">
                  <c:v>-535345.78968894226</c:v>
                </c:pt>
                <c:pt idx="28">
                  <c:v>-427286.15294434864</c:v>
                </c:pt>
                <c:pt idx="29">
                  <c:v>-176012.15328599024</c:v>
                </c:pt>
                <c:pt idx="30">
                  <c:v>-31787.131609092408</c:v>
                </c:pt>
                <c:pt idx="31">
                  <c:v>47236.259559880011</c:v>
                </c:pt>
                <c:pt idx="32">
                  <c:v>196581.70054881382</c:v>
                </c:pt>
                <c:pt idx="33">
                  <c:v>44631.45865145381</c:v>
                </c:pt>
                <c:pt idx="34">
                  <c:v>-119706.55560423326</c:v>
                </c:pt>
                <c:pt idx="35">
                  <c:v>-383797.01727909374</c:v>
                </c:pt>
                <c:pt idx="36">
                  <c:v>-399024.12048780604</c:v>
                </c:pt>
                <c:pt idx="37">
                  <c:v>-271835.20685153536</c:v>
                </c:pt>
                <c:pt idx="38">
                  <c:v>-118352.96596831435</c:v>
                </c:pt>
                <c:pt idx="39">
                  <c:v>122891.4845197821</c:v>
                </c:pt>
                <c:pt idx="40">
                  <c:v>269039.79694754246</c:v>
                </c:pt>
                <c:pt idx="41">
                  <c:v>556895.99219962093</c:v>
                </c:pt>
                <c:pt idx="42">
                  <c:v>736232.12129053217</c:v>
                </c:pt>
                <c:pt idx="43">
                  <c:v>849068.07900176547</c:v>
                </c:pt>
                <c:pt idx="44">
                  <c:v>1031168.4538084797</c:v>
                </c:pt>
                <c:pt idx="45">
                  <c:v>911151.90003215254</c:v>
                </c:pt>
                <c:pt idx="46">
                  <c:v>778102.53853216197</c:v>
                </c:pt>
                <c:pt idx="47">
                  <c:v>544745.20423283242</c:v>
                </c:pt>
                <c:pt idx="48">
                  <c:v>559701.62889725482</c:v>
                </c:pt>
                <c:pt idx="49">
                  <c:v>716471.12467768148</c:v>
                </c:pt>
                <c:pt idx="50">
                  <c:v>898851.46728464495</c:v>
                </c:pt>
                <c:pt idx="51">
                  <c:v>1168236.1456752892</c:v>
                </c:pt>
                <c:pt idx="52">
                  <c:v>1341715.5946543107</c:v>
                </c:pt>
                <c:pt idx="53">
                  <c:v>1656073.9130455682</c:v>
                </c:pt>
                <c:pt idx="54">
                  <c:v>1861090.3171765292</c:v>
                </c:pt>
                <c:pt idx="55">
                  <c:v>1998807.6639860971</c:v>
                </c:pt>
                <c:pt idx="56">
                  <c:v>2205016.1404858194</c:v>
                </c:pt>
                <c:pt idx="57">
                  <c:v>2108352.3475263007</c:v>
                </c:pt>
                <c:pt idx="58">
                  <c:v>1997906.5155816113</c:v>
                </c:pt>
                <c:pt idx="59">
                  <c:v>1786400.7761213323</c:v>
                </c:pt>
                <c:pt idx="60">
                  <c:v>1822454.3807031261</c:v>
                </c:pt>
                <c:pt idx="61">
                  <c:v>1999576.239975366</c:v>
                </c:pt>
                <c:pt idx="62">
                  <c:v>2201596.0747014536</c:v>
                </c:pt>
                <c:pt idx="63">
                  <c:v>2489965.9002328687</c:v>
                </c:pt>
                <c:pt idx="64">
                  <c:v>2681856.290694546</c:v>
                </c:pt>
                <c:pt idx="65">
                  <c:v>3014138.1290521463</c:v>
                </c:pt>
                <c:pt idx="66">
                  <c:v>3236661.2140101413</c:v>
                </c:pt>
                <c:pt idx="67">
                  <c:v>3391497.0481502581</c:v>
                </c:pt>
                <c:pt idx="68">
                  <c:v>3614401.0200613886</c:v>
                </c:pt>
                <c:pt idx="69">
                  <c:v>3533902.2032920364</c:v>
                </c:pt>
                <c:pt idx="70">
                  <c:v>3438920.5054671508</c:v>
                </c:pt>
                <c:pt idx="71">
                  <c:v>3241977.7872961345</c:v>
                </c:pt>
                <c:pt idx="72">
                  <c:v>3291516.2070685197</c:v>
                </c:pt>
                <c:pt idx="73">
                  <c:v>3480954.7339532753</c:v>
                </c:pt>
                <c:pt idx="74">
                  <c:v>3694178.8670015791</c:v>
                </c:pt>
                <c:pt idx="75">
                  <c:v>3992875.1014643172</c:v>
                </c:pt>
                <c:pt idx="76">
                  <c:v>4194613.4181953967</c:v>
                </c:pt>
                <c:pt idx="77">
                  <c:v>4536758.3172110254</c:v>
                </c:pt>
                <c:pt idx="78">
                  <c:v>4769623.2198197776</c:v>
                </c:pt>
                <c:pt idx="79">
                  <c:v>4935569.3638412962</c:v>
                </c:pt>
                <c:pt idx="80">
                  <c:v>5170332.4704079423</c:v>
                </c:pt>
                <c:pt idx="81">
                  <c:v>5102054.1048179399</c:v>
                </c:pt>
                <c:pt idx="82">
                  <c:v>5018903.3421966219</c:v>
                </c:pt>
                <c:pt idx="83">
                  <c:v>4832413.2876445958</c:v>
                </c:pt>
                <c:pt idx="84">
                  <c:v>4890104.3294256395</c:v>
                </c:pt>
                <c:pt idx="85">
                  <c:v>5084690.0104551381</c:v>
                </c:pt>
                <c:pt idx="86">
                  <c:v>5299656.8742420422</c:v>
                </c:pt>
                <c:pt idx="87">
                  <c:v>5597865.306862494</c:v>
                </c:pt>
                <c:pt idx="88">
                  <c:v>5797332.0245846314</c:v>
                </c:pt>
                <c:pt idx="89">
                  <c:v>6137338.5205817008</c:v>
                </c:pt>
                <c:pt idx="90">
                  <c:v>6372350.6246422427</c:v>
                </c:pt>
                <c:pt idx="91">
                  <c:v>6539582.6462604972</c:v>
                </c:pt>
                <c:pt idx="92">
                  <c:v>6788993.4161173468</c:v>
                </c:pt>
                <c:pt idx="93">
                  <c:v>6746741.9599825563</c:v>
                </c:pt>
                <c:pt idx="94">
                  <c:v>6634948.4535850342</c:v>
                </c:pt>
                <c:pt idx="95" formatCode="_(* #,##0.00_);_(* \(#,##0.00\);_(* &quot;-&quot;??_);_(@_)">
                  <c:v>6566397.0389171531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A23-45A6-AC5B-0F8DC5ABAF68}"/>
            </c:ext>
          </c:extLst>
        </c:ser>
        <c:ser>
          <c:idx val="3"/>
          <c:order val="3"/>
          <c:tx>
            <c:strRef>
              <c:f>Planilha6!$B$16</c:f>
              <c:strCache>
                <c:ptCount val="1"/>
                <c:pt idx="0">
                  <c:v>6% grow</c:v>
                </c:pt>
              </c:strCache>
            </c:strRef>
          </c:tx>
          <c:spPr>
            <a:ln w="19050" cap="rnd">
              <a:solidFill>
                <a:srgbClr val="00B0F0"/>
              </a:solidFill>
              <a:prstDash val="dash"/>
              <a:round/>
            </a:ln>
            <a:effectLst/>
          </c:spPr>
          <c:marker>
            <c:symbol val="none"/>
          </c:marker>
          <c:cat>
            <c:numRef>
              <c:f>Planilha6!$C$3:$CT$3</c:f>
              <c:numCache>
                <c:formatCode>[$-409]mmm-yy;@</c:formatCode>
                <c:ptCount val="96"/>
                <c:pt idx="0">
                  <c:v>42736</c:v>
                </c:pt>
                <c:pt idx="1">
                  <c:v>42767</c:v>
                </c:pt>
                <c:pt idx="2">
                  <c:v>42795</c:v>
                </c:pt>
                <c:pt idx="3">
                  <c:v>42826</c:v>
                </c:pt>
                <c:pt idx="4">
                  <c:v>42856</c:v>
                </c:pt>
                <c:pt idx="5">
                  <c:v>42887</c:v>
                </c:pt>
                <c:pt idx="6">
                  <c:v>42917</c:v>
                </c:pt>
                <c:pt idx="7">
                  <c:v>42948</c:v>
                </c:pt>
                <c:pt idx="8">
                  <c:v>42979</c:v>
                </c:pt>
                <c:pt idx="9">
                  <c:v>43009</c:v>
                </c:pt>
                <c:pt idx="10">
                  <c:v>43040</c:v>
                </c:pt>
                <c:pt idx="11">
                  <c:v>43070</c:v>
                </c:pt>
                <c:pt idx="12">
                  <c:v>43101</c:v>
                </c:pt>
                <c:pt idx="13">
                  <c:v>43132</c:v>
                </c:pt>
                <c:pt idx="14">
                  <c:v>43160</c:v>
                </c:pt>
                <c:pt idx="15">
                  <c:v>43191</c:v>
                </c:pt>
                <c:pt idx="16">
                  <c:v>43221</c:v>
                </c:pt>
                <c:pt idx="17">
                  <c:v>43252</c:v>
                </c:pt>
                <c:pt idx="18">
                  <c:v>43282</c:v>
                </c:pt>
                <c:pt idx="19">
                  <c:v>43313</c:v>
                </c:pt>
                <c:pt idx="20">
                  <c:v>43344</c:v>
                </c:pt>
                <c:pt idx="21">
                  <c:v>43374</c:v>
                </c:pt>
                <c:pt idx="22">
                  <c:v>43405</c:v>
                </c:pt>
                <c:pt idx="23">
                  <c:v>43435</c:v>
                </c:pt>
                <c:pt idx="24">
                  <c:v>43466</c:v>
                </c:pt>
                <c:pt idx="25">
                  <c:v>43497</c:v>
                </c:pt>
                <c:pt idx="26">
                  <c:v>43525</c:v>
                </c:pt>
                <c:pt idx="27">
                  <c:v>43556</c:v>
                </c:pt>
                <c:pt idx="28">
                  <c:v>43586</c:v>
                </c:pt>
                <c:pt idx="29">
                  <c:v>43617</c:v>
                </c:pt>
                <c:pt idx="30">
                  <c:v>43647</c:v>
                </c:pt>
                <c:pt idx="31">
                  <c:v>43678</c:v>
                </c:pt>
                <c:pt idx="32">
                  <c:v>43709</c:v>
                </c:pt>
                <c:pt idx="33">
                  <c:v>43739</c:v>
                </c:pt>
                <c:pt idx="34">
                  <c:v>43770</c:v>
                </c:pt>
                <c:pt idx="35">
                  <c:v>43800</c:v>
                </c:pt>
                <c:pt idx="36">
                  <c:v>43831</c:v>
                </c:pt>
                <c:pt idx="37">
                  <c:v>43862</c:v>
                </c:pt>
                <c:pt idx="38">
                  <c:v>43891</c:v>
                </c:pt>
                <c:pt idx="39">
                  <c:v>43922</c:v>
                </c:pt>
                <c:pt idx="40">
                  <c:v>43952</c:v>
                </c:pt>
                <c:pt idx="41">
                  <c:v>43983</c:v>
                </c:pt>
                <c:pt idx="42">
                  <c:v>44013</c:v>
                </c:pt>
                <c:pt idx="43">
                  <c:v>44044</c:v>
                </c:pt>
                <c:pt idx="44">
                  <c:v>44075</c:v>
                </c:pt>
                <c:pt idx="45">
                  <c:v>44105</c:v>
                </c:pt>
                <c:pt idx="46">
                  <c:v>44136</c:v>
                </c:pt>
                <c:pt idx="47">
                  <c:v>44166</c:v>
                </c:pt>
                <c:pt idx="48">
                  <c:v>44197</c:v>
                </c:pt>
                <c:pt idx="49">
                  <c:v>44228</c:v>
                </c:pt>
                <c:pt idx="50">
                  <c:v>44256</c:v>
                </c:pt>
                <c:pt idx="51">
                  <c:v>44287</c:v>
                </c:pt>
                <c:pt idx="52">
                  <c:v>44317</c:v>
                </c:pt>
                <c:pt idx="53">
                  <c:v>44348</c:v>
                </c:pt>
                <c:pt idx="54">
                  <c:v>44378</c:v>
                </c:pt>
                <c:pt idx="55">
                  <c:v>44409</c:v>
                </c:pt>
                <c:pt idx="56">
                  <c:v>44440</c:v>
                </c:pt>
                <c:pt idx="57">
                  <c:v>44470</c:v>
                </c:pt>
                <c:pt idx="58">
                  <c:v>44501</c:v>
                </c:pt>
                <c:pt idx="59">
                  <c:v>44531</c:v>
                </c:pt>
                <c:pt idx="60">
                  <c:v>44562</c:v>
                </c:pt>
                <c:pt idx="61">
                  <c:v>44593</c:v>
                </c:pt>
                <c:pt idx="62">
                  <c:v>44621</c:v>
                </c:pt>
                <c:pt idx="63">
                  <c:v>44652</c:v>
                </c:pt>
                <c:pt idx="64">
                  <c:v>44682</c:v>
                </c:pt>
                <c:pt idx="65">
                  <c:v>44713</c:v>
                </c:pt>
                <c:pt idx="66">
                  <c:v>44743</c:v>
                </c:pt>
                <c:pt idx="67">
                  <c:v>44774</c:v>
                </c:pt>
                <c:pt idx="68">
                  <c:v>44805</c:v>
                </c:pt>
                <c:pt idx="69">
                  <c:v>44835</c:v>
                </c:pt>
                <c:pt idx="70">
                  <c:v>44866</c:v>
                </c:pt>
                <c:pt idx="71">
                  <c:v>44896</c:v>
                </c:pt>
                <c:pt idx="72">
                  <c:v>44927</c:v>
                </c:pt>
                <c:pt idx="73">
                  <c:v>44958</c:v>
                </c:pt>
                <c:pt idx="74">
                  <c:v>44986</c:v>
                </c:pt>
                <c:pt idx="75">
                  <c:v>45017</c:v>
                </c:pt>
                <c:pt idx="76">
                  <c:v>45047</c:v>
                </c:pt>
                <c:pt idx="77">
                  <c:v>45078</c:v>
                </c:pt>
                <c:pt idx="78">
                  <c:v>45108</c:v>
                </c:pt>
                <c:pt idx="79">
                  <c:v>45139</c:v>
                </c:pt>
                <c:pt idx="80">
                  <c:v>45170</c:v>
                </c:pt>
                <c:pt idx="81">
                  <c:v>45200</c:v>
                </c:pt>
                <c:pt idx="82">
                  <c:v>45231</c:v>
                </c:pt>
                <c:pt idx="83">
                  <c:v>45261</c:v>
                </c:pt>
                <c:pt idx="84">
                  <c:v>45292</c:v>
                </c:pt>
                <c:pt idx="85">
                  <c:v>45323</c:v>
                </c:pt>
                <c:pt idx="86">
                  <c:v>45352</c:v>
                </c:pt>
                <c:pt idx="87">
                  <c:v>45383</c:v>
                </c:pt>
                <c:pt idx="88">
                  <c:v>45413</c:v>
                </c:pt>
                <c:pt idx="89">
                  <c:v>45444</c:v>
                </c:pt>
                <c:pt idx="90">
                  <c:v>45474</c:v>
                </c:pt>
                <c:pt idx="91">
                  <c:v>45505</c:v>
                </c:pt>
                <c:pt idx="92">
                  <c:v>45536</c:v>
                </c:pt>
                <c:pt idx="93">
                  <c:v>45566</c:v>
                </c:pt>
                <c:pt idx="94">
                  <c:v>45597</c:v>
                </c:pt>
                <c:pt idx="95">
                  <c:v>45627</c:v>
                </c:pt>
              </c:numCache>
            </c:numRef>
          </c:cat>
          <c:val>
            <c:numRef>
              <c:f>Planilha6!$C$16:$CT$16</c:f>
              <c:numCache>
                <c:formatCode>General</c:formatCode>
                <c:ptCount val="96"/>
                <c:pt idx="0">
                  <c:v>-147315.08211281113</c:v>
                </c:pt>
                <c:pt idx="1">
                  <c:v>-201185.96635585089</c:v>
                </c:pt>
                <c:pt idx="2">
                  <c:v>-225583.89519070223</c:v>
                </c:pt>
                <c:pt idx="3">
                  <c:v>-139042.78669560328</c:v>
                </c:pt>
                <c:pt idx="4">
                  <c:v>-132893.08605533649</c:v>
                </c:pt>
                <c:pt idx="5">
                  <c:v>36825.799576737772</c:v>
                </c:pt>
                <c:pt idx="6">
                  <c:v>108642.80646218699</c:v>
                </c:pt>
                <c:pt idx="7">
                  <c:v>120035.04484465791</c:v>
                </c:pt>
                <c:pt idx="8">
                  <c:v>212192.59995688722</c:v>
                </c:pt>
                <c:pt idx="9">
                  <c:v>-30094.454502364795</c:v>
                </c:pt>
                <c:pt idx="10">
                  <c:v>-261753.32595737197</c:v>
                </c:pt>
                <c:pt idx="11">
                  <c:v>-575020.62309639808</c:v>
                </c:pt>
                <c:pt idx="12">
                  <c:v>-646454.5413484897</c:v>
                </c:pt>
                <c:pt idx="13">
                  <c:v>-579463.64388318756</c:v>
                </c:pt>
                <c:pt idx="14">
                  <c:v>-496378.22994798113</c:v>
                </c:pt>
                <c:pt idx="15">
                  <c:v>-319242.08135568013</c:v>
                </c:pt>
                <c:pt idx="16">
                  <c:v>-237753.77156078583</c:v>
                </c:pt>
                <c:pt idx="17">
                  <c:v>-9003.528680662741</c:v>
                </c:pt>
                <c:pt idx="18">
                  <c:v>114224.95755922841</c:v>
                </c:pt>
                <c:pt idx="19">
                  <c:v>174539.01820414091</c:v>
                </c:pt>
                <c:pt idx="20">
                  <c:v>317728.99980655417</c:v>
                </c:pt>
                <c:pt idx="21">
                  <c:v>132982.34424571853</c:v>
                </c:pt>
                <c:pt idx="22">
                  <c:v>-33724.602087605424</c:v>
                </c:pt>
                <c:pt idx="23">
                  <c:v>-276060.39073134359</c:v>
                </c:pt>
                <c:pt idx="24">
                  <c:v>-273553.37522058119</c:v>
                </c:pt>
                <c:pt idx="25">
                  <c:v>-133040.25608019298</c:v>
                </c:pt>
                <c:pt idx="26">
                  <c:v>20390.482947328128</c:v>
                </c:pt>
                <c:pt idx="27">
                  <c:v>263171.42024452839</c:v>
                </c:pt>
                <c:pt idx="28">
                  <c:v>405301.77230574936</c:v>
                </c:pt>
                <c:pt idx="29">
                  <c:v>690301.74296502257</c:v>
                </c:pt>
                <c:pt idx="30">
                  <c:v>866484.5260307258</c:v>
                </c:pt>
                <c:pt idx="31">
                  <c:v>977661.1814323843</c:v>
                </c:pt>
                <c:pt idx="32">
                  <c:v>1170663.9573708822</c:v>
                </c:pt>
                <c:pt idx="33">
                  <c:v>1035413.8030552862</c:v>
                </c:pt>
                <c:pt idx="34">
                  <c:v>918261.46221555467</c:v>
                </c:pt>
                <c:pt idx="35">
                  <c:v>725573.45694290323</c:v>
                </c:pt>
                <c:pt idx="36">
                  <c:v>777580.36913453147</c:v>
                </c:pt>
                <c:pt idx="37">
                  <c:v>967021.68793949042</c:v>
                </c:pt>
                <c:pt idx="38">
                  <c:v>1168317.7545477101</c:v>
                </c:pt>
                <c:pt idx="39">
                  <c:v>1457461.5283014078</c:v>
                </c:pt>
                <c:pt idx="40">
                  <c:v>1644158.994882311</c:v>
                </c:pt>
                <c:pt idx="41">
                  <c:v>1971831.5470768581</c:v>
                </c:pt>
                <c:pt idx="42">
                  <c:v>2188880.7661123443</c:v>
                </c:pt>
                <c:pt idx="43">
                  <c:v>2339339.5862413929</c:v>
                </c:pt>
                <c:pt idx="44">
                  <c:v>2570317.1940682544</c:v>
                </c:pt>
                <c:pt idx="45">
                  <c:v>2471989.4134547939</c:v>
                </c:pt>
                <c:pt idx="46">
                  <c:v>2390885.1137053627</c:v>
                </c:pt>
                <c:pt idx="47">
                  <c:v>2233450.3632959072</c:v>
                </c:pt>
                <c:pt idx="48">
                  <c:v>2319906.1164830634</c:v>
                </c:pt>
                <c:pt idx="49">
                  <c:v>2542923.2307765842</c:v>
                </c:pt>
                <c:pt idx="50">
                  <c:v>2776831.5401423853</c:v>
                </c:pt>
                <c:pt idx="51">
                  <c:v>3097543.6682938291</c:v>
                </c:pt>
                <c:pt idx="52">
                  <c:v>3314715.1365945013</c:v>
                </c:pt>
                <c:pt idx="53">
                  <c:v>3671752.2600419894</c:v>
                </c:pt>
                <c:pt idx="54">
                  <c:v>3917070.7784390221</c:v>
                </c:pt>
                <c:pt idx="55">
                  <c:v>4094734.2137094075</c:v>
                </c:pt>
                <c:pt idx="56">
                  <c:v>4351884.9162974646</c:v>
                </c:pt>
                <c:pt idx="57">
                  <c:v>4278724.2861528881</c:v>
                </c:pt>
                <c:pt idx="58">
                  <c:v>4221795.6122565176</c:v>
                </c:pt>
                <c:pt idx="59">
                  <c:v>4087551.8746095318</c:v>
                </c:pt>
                <c:pt idx="60">
                  <c:v>4196222.6190478699</c:v>
                </c:pt>
                <c:pt idx="61">
                  <c:v>4440500.1569530247</c:v>
                </c:pt>
                <c:pt idx="62">
                  <c:v>4694757.2663931884</c:v>
                </c:pt>
                <c:pt idx="63">
                  <c:v>5034972.7578440085</c:v>
                </c:pt>
                <c:pt idx="64">
                  <c:v>5270883.7257495131</c:v>
                </c:pt>
                <c:pt idx="65">
                  <c:v>5645975.9908785671</c:v>
                </c:pt>
                <c:pt idx="66">
                  <c:v>5908718.9539466761</c:v>
                </c:pt>
                <c:pt idx="67">
                  <c:v>6103180.1198284896</c:v>
                </c:pt>
                <c:pt idx="68">
                  <c:v>6376440.2557925303</c:v>
                </c:pt>
                <c:pt idx="69">
                  <c:v>6318573.4229870439</c:v>
                </c:pt>
                <c:pt idx="70">
                  <c:v>6275950.2623021668</c:v>
                </c:pt>
                <c:pt idx="71">
                  <c:v>6154847.0507848198</c:v>
                </c:pt>
                <c:pt idx="72">
                  <c:v>6275367.9183814656</c:v>
                </c:pt>
                <c:pt idx="73">
                  <c:v>6530187.8848177651</c:v>
                </c:pt>
                <c:pt idx="74">
                  <c:v>6793811.8406327069</c:v>
                </c:pt>
                <c:pt idx="75">
                  <c:v>7142509.5603609169</c:v>
                </c:pt>
                <c:pt idx="76">
                  <c:v>7386431.7661587279</c:v>
                </c:pt>
                <c:pt idx="77">
                  <c:v>7769518.88968419</c:v>
                </c:pt>
                <c:pt idx="78">
                  <c:v>8040615.166578318</c:v>
                </c:pt>
                <c:pt idx="79">
                  <c:v>8243960.4110645447</c:v>
                </c:pt>
                <c:pt idx="80">
                  <c:v>8526493.0873758364</c:v>
                </c:pt>
                <c:pt idx="81">
                  <c:v>8477800.3460110351</c:v>
                </c:pt>
                <c:pt idx="82">
                  <c:v>8443467.139688449</c:v>
                </c:pt>
                <c:pt idx="83">
                  <c:v>8328793.3150243154</c:v>
                </c:pt>
                <c:pt idx="84">
                  <c:v>8453009.6990883611</c:v>
                </c:pt>
                <c:pt idx="85">
                  <c:v>8708406.9333677087</c:v>
                </c:pt>
                <c:pt idx="86">
                  <c:v>8969158.6557619702</c:v>
                </c:pt>
                <c:pt idx="87">
                  <c:v>9312997.3727285601</c:v>
                </c:pt>
                <c:pt idx="88">
                  <c:v>9551284.7023977097</c:v>
                </c:pt>
                <c:pt idx="89">
                  <c:v>9928654.6855100803</c:v>
                </c:pt>
                <c:pt idx="90">
                  <c:v>10200894.240665596</c:v>
                </c:pt>
                <c:pt idx="91">
                  <c:v>10405773.194859847</c:v>
                </c:pt>
                <c:pt idx="92">
                  <c:v>10691698.606629971</c:v>
                </c:pt>
                <c:pt idx="93">
                  <c:v>10689731.475029556</c:v>
                </c:pt>
                <c:pt idx="94">
                  <c:v>10614065.884501074</c:v>
                </c:pt>
                <c:pt idx="95" formatCode="_(* #,##0.00_);_(* \(#,##0.00\);_(* &quot;-&quot;??_);_(@_)">
                  <c:v>10572743.302467536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2A23-45A6-AC5B-0F8DC5ABAF68}"/>
            </c:ext>
          </c:extLst>
        </c:ser>
        <c:ser>
          <c:idx val="4"/>
          <c:order val="4"/>
          <c:tx>
            <c:strRef>
              <c:f>Planilha6!$B$17</c:f>
              <c:strCache>
                <c:ptCount val="1"/>
                <c:pt idx="0">
                  <c:v>8% grow</c:v>
                </c:pt>
              </c:strCache>
            </c:strRef>
          </c:tx>
          <c:spPr>
            <a:ln w="19050" cap="rnd">
              <a:solidFill>
                <a:srgbClr val="FFC000"/>
              </a:solidFill>
              <a:round/>
            </a:ln>
            <a:effectLst/>
          </c:spPr>
          <c:marker>
            <c:symbol val="none"/>
          </c:marker>
          <c:cat>
            <c:numRef>
              <c:f>Planilha6!$C$3:$CT$3</c:f>
              <c:numCache>
                <c:formatCode>[$-409]mmm-yy;@</c:formatCode>
                <c:ptCount val="96"/>
                <c:pt idx="0">
                  <c:v>42736</c:v>
                </c:pt>
                <c:pt idx="1">
                  <c:v>42767</c:v>
                </c:pt>
                <c:pt idx="2">
                  <c:v>42795</c:v>
                </c:pt>
                <c:pt idx="3">
                  <c:v>42826</c:v>
                </c:pt>
                <c:pt idx="4">
                  <c:v>42856</c:v>
                </c:pt>
                <c:pt idx="5">
                  <c:v>42887</c:v>
                </c:pt>
                <c:pt idx="6">
                  <c:v>42917</c:v>
                </c:pt>
                <c:pt idx="7">
                  <c:v>42948</c:v>
                </c:pt>
                <c:pt idx="8">
                  <c:v>42979</c:v>
                </c:pt>
                <c:pt idx="9">
                  <c:v>43009</c:v>
                </c:pt>
                <c:pt idx="10">
                  <c:v>43040</c:v>
                </c:pt>
                <c:pt idx="11">
                  <c:v>43070</c:v>
                </c:pt>
                <c:pt idx="12">
                  <c:v>43101</c:v>
                </c:pt>
                <c:pt idx="13">
                  <c:v>43132</c:v>
                </c:pt>
                <c:pt idx="14">
                  <c:v>43160</c:v>
                </c:pt>
                <c:pt idx="15">
                  <c:v>43191</c:v>
                </c:pt>
                <c:pt idx="16">
                  <c:v>43221</c:v>
                </c:pt>
                <c:pt idx="17">
                  <c:v>43252</c:v>
                </c:pt>
                <c:pt idx="18">
                  <c:v>43282</c:v>
                </c:pt>
                <c:pt idx="19">
                  <c:v>43313</c:v>
                </c:pt>
                <c:pt idx="20">
                  <c:v>43344</c:v>
                </c:pt>
                <c:pt idx="21">
                  <c:v>43374</c:v>
                </c:pt>
                <c:pt idx="22">
                  <c:v>43405</c:v>
                </c:pt>
                <c:pt idx="23">
                  <c:v>43435</c:v>
                </c:pt>
                <c:pt idx="24">
                  <c:v>43466</c:v>
                </c:pt>
                <c:pt idx="25">
                  <c:v>43497</c:v>
                </c:pt>
                <c:pt idx="26">
                  <c:v>43525</c:v>
                </c:pt>
                <c:pt idx="27">
                  <c:v>43556</c:v>
                </c:pt>
                <c:pt idx="28">
                  <c:v>43586</c:v>
                </c:pt>
                <c:pt idx="29">
                  <c:v>43617</c:v>
                </c:pt>
                <c:pt idx="30">
                  <c:v>43647</c:v>
                </c:pt>
                <c:pt idx="31">
                  <c:v>43678</c:v>
                </c:pt>
                <c:pt idx="32">
                  <c:v>43709</c:v>
                </c:pt>
                <c:pt idx="33">
                  <c:v>43739</c:v>
                </c:pt>
                <c:pt idx="34">
                  <c:v>43770</c:v>
                </c:pt>
                <c:pt idx="35">
                  <c:v>43800</c:v>
                </c:pt>
                <c:pt idx="36">
                  <c:v>43831</c:v>
                </c:pt>
                <c:pt idx="37">
                  <c:v>43862</c:v>
                </c:pt>
                <c:pt idx="38">
                  <c:v>43891</c:v>
                </c:pt>
                <c:pt idx="39">
                  <c:v>43922</c:v>
                </c:pt>
                <c:pt idx="40">
                  <c:v>43952</c:v>
                </c:pt>
                <c:pt idx="41">
                  <c:v>43983</c:v>
                </c:pt>
                <c:pt idx="42">
                  <c:v>44013</c:v>
                </c:pt>
                <c:pt idx="43">
                  <c:v>44044</c:v>
                </c:pt>
                <c:pt idx="44">
                  <c:v>44075</c:v>
                </c:pt>
                <c:pt idx="45">
                  <c:v>44105</c:v>
                </c:pt>
                <c:pt idx="46">
                  <c:v>44136</c:v>
                </c:pt>
                <c:pt idx="47">
                  <c:v>44166</c:v>
                </c:pt>
                <c:pt idx="48">
                  <c:v>44197</c:v>
                </c:pt>
                <c:pt idx="49">
                  <c:v>44228</c:v>
                </c:pt>
                <c:pt idx="50">
                  <c:v>44256</c:v>
                </c:pt>
                <c:pt idx="51">
                  <c:v>44287</c:v>
                </c:pt>
                <c:pt idx="52">
                  <c:v>44317</c:v>
                </c:pt>
                <c:pt idx="53">
                  <c:v>44348</c:v>
                </c:pt>
                <c:pt idx="54">
                  <c:v>44378</c:v>
                </c:pt>
                <c:pt idx="55">
                  <c:v>44409</c:v>
                </c:pt>
                <c:pt idx="56">
                  <c:v>44440</c:v>
                </c:pt>
                <c:pt idx="57">
                  <c:v>44470</c:v>
                </c:pt>
                <c:pt idx="58">
                  <c:v>44501</c:v>
                </c:pt>
                <c:pt idx="59">
                  <c:v>44531</c:v>
                </c:pt>
                <c:pt idx="60">
                  <c:v>44562</c:v>
                </c:pt>
                <c:pt idx="61">
                  <c:v>44593</c:v>
                </c:pt>
                <c:pt idx="62">
                  <c:v>44621</c:v>
                </c:pt>
                <c:pt idx="63">
                  <c:v>44652</c:v>
                </c:pt>
                <c:pt idx="64">
                  <c:v>44682</c:v>
                </c:pt>
                <c:pt idx="65">
                  <c:v>44713</c:v>
                </c:pt>
                <c:pt idx="66">
                  <c:v>44743</c:v>
                </c:pt>
                <c:pt idx="67">
                  <c:v>44774</c:v>
                </c:pt>
                <c:pt idx="68">
                  <c:v>44805</c:v>
                </c:pt>
                <c:pt idx="69">
                  <c:v>44835</c:v>
                </c:pt>
                <c:pt idx="70">
                  <c:v>44866</c:v>
                </c:pt>
                <c:pt idx="71">
                  <c:v>44896</c:v>
                </c:pt>
                <c:pt idx="72">
                  <c:v>44927</c:v>
                </c:pt>
                <c:pt idx="73">
                  <c:v>44958</c:v>
                </c:pt>
                <c:pt idx="74">
                  <c:v>44986</c:v>
                </c:pt>
                <c:pt idx="75">
                  <c:v>45017</c:v>
                </c:pt>
                <c:pt idx="76">
                  <c:v>45047</c:v>
                </c:pt>
                <c:pt idx="77">
                  <c:v>45078</c:v>
                </c:pt>
                <c:pt idx="78">
                  <c:v>45108</c:v>
                </c:pt>
                <c:pt idx="79">
                  <c:v>45139</c:v>
                </c:pt>
                <c:pt idx="80">
                  <c:v>45170</c:v>
                </c:pt>
                <c:pt idx="81">
                  <c:v>45200</c:v>
                </c:pt>
                <c:pt idx="82">
                  <c:v>45231</c:v>
                </c:pt>
                <c:pt idx="83">
                  <c:v>45261</c:v>
                </c:pt>
                <c:pt idx="84">
                  <c:v>45292</c:v>
                </c:pt>
                <c:pt idx="85">
                  <c:v>45323</c:v>
                </c:pt>
                <c:pt idx="86">
                  <c:v>45352</c:v>
                </c:pt>
                <c:pt idx="87">
                  <c:v>45383</c:v>
                </c:pt>
                <c:pt idx="88">
                  <c:v>45413</c:v>
                </c:pt>
                <c:pt idx="89">
                  <c:v>45444</c:v>
                </c:pt>
                <c:pt idx="90">
                  <c:v>45474</c:v>
                </c:pt>
                <c:pt idx="91">
                  <c:v>45505</c:v>
                </c:pt>
                <c:pt idx="92">
                  <c:v>45536</c:v>
                </c:pt>
                <c:pt idx="93">
                  <c:v>45566</c:v>
                </c:pt>
                <c:pt idx="94">
                  <c:v>45597</c:v>
                </c:pt>
                <c:pt idx="95">
                  <c:v>45627</c:v>
                </c:pt>
              </c:numCache>
            </c:numRef>
          </c:cat>
          <c:val>
            <c:numRef>
              <c:f>Planilha6!$C$17:$CT$17</c:f>
              <c:numCache>
                <c:formatCode>General</c:formatCode>
                <c:ptCount val="96"/>
                <c:pt idx="0">
                  <c:v>-116332.95662048043</c:v>
                </c:pt>
                <c:pt idx="1">
                  <c:v>-150175.60988877434</c:v>
                </c:pt>
                <c:pt idx="2">
                  <c:v>-163454.50391508089</c:v>
                </c:pt>
                <c:pt idx="3">
                  <c:v>-59429.17255559664</c:v>
                </c:pt>
                <c:pt idx="4">
                  <c:v>-40897.000228677345</c:v>
                </c:pt>
                <c:pt idx="5">
                  <c:v>142187.27573334755</c:v>
                </c:pt>
                <c:pt idx="6">
                  <c:v>225658.07757811312</c:v>
                </c:pt>
                <c:pt idx="7">
                  <c:v>248064.04717171268</c:v>
                </c:pt>
                <c:pt idx="8">
                  <c:v>361552.07280898665</c:v>
                </c:pt>
                <c:pt idx="9">
                  <c:v>113255.73408560239</c:v>
                </c:pt>
                <c:pt idx="10">
                  <c:v>-94815.511836726626</c:v>
                </c:pt>
                <c:pt idx="11">
                  <c:v>-360401.48955151014</c:v>
                </c:pt>
                <c:pt idx="12">
                  <c:v>-387342.18030665378</c:v>
                </c:pt>
                <c:pt idx="13">
                  <c:v>-279439.47560681502</c:v>
                </c:pt>
                <c:pt idx="14">
                  <c:v>-168141.12018567376</c:v>
                </c:pt>
                <c:pt idx="15">
                  <c:v>38700.822984759696</c:v>
                </c:pt>
                <c:pt idx="16">
                  <c:v>143880.25749189354</c:v>
                </c:pt>
                <c:pt idx="17">
                  <c:v>396520.29676244012</c:v>
                </c:pt>
                <c:pt idx="18">
                  <c:v>542218.45909512485</c:v>
                </c:pt>
                <c:pt idx="19">
                  <c:v>625344.82575226366</c:v>
                </c:pt>
                <c:pt idx="20">
                  <c:v>802700.5124560612</c:v>
                </c:pt>
                <c:pt idx="21">
                  <c:v>625721.40631041746</c:v>
                </c:pt>
                <c:pt idx="22">
                  <c:v>496804.91713236319</c:v>
                </c:pt>
                <c:pt idx="23">
                  <c:v>316219.01465684047</c:v>
                </c:pt>
                <c:pt idx="24">
                  <c:v>376677.95943886007</c:v>
                </c:pt>
                <c:pt idx="25">
                  <c:v>570629.79145866539</c:v>
                </c:pt>
                <c:pt idx="26">
                  <c:v>763757.85111041879</c:v>
                </c:pt>
                <c:pt idx="27">
                  <c:v>1046762.1974038673</c:v>
                </c:pt>
                <c:pt idx="28">
                  <c:v>1222326.3915428999</c:v>
                </c:pt>
                <c:pt idx="29">
                  <c:v>1540421.9041620789</c:v>
                </c:pt>
                <c:pt idx="30">
                  <c:v>1747965.0721655258</c:v>
                </c:pt>
                <c:pt idx="31">
                  <c:v>1890693.9608752162</c:v>
                </c:pt>
                <c:pt idx="32">
                  <c:v>2126537.998838217</c:v>
                </c:pt>
                <c:pt idx="33">
                  <c:v>2007675.7625837906</c:v>
                </c:pt>
                <c:pt idx="34">
                  <c:v>1936827.0681061405</c:v>
                </c:pt>
                <c:pt idx="35">
                  <c:v>1814206.8154220073</c:v>
                </c:pt>
                <c:pt idx="36">
                  <c:v>1932190.9585658463</c:v>
                </c:pt>
                <c:pt idx="37">
                  <c:v>2182721.0177753288</c:v>
                </c:pt>
                <c:pt idx="38">
                  <c:v>2430937.141199775</c:v>
                </c:pt>
                <c:pt idx="39">
                  <c:v>2767084.8711314816</c:v>
                </c:pt>
                <c:pt idx="40">
                  <c:v>2993573.5191931981</c:v>
                </c:pt>
                <c:pt idx="41">
                  <c:v>3360318.1536072404</c:v>
                </c:pt>
                <c:pt idx="42">
                  <c:v>3614375.5035773264</c:v>
                </c:pt>
                <c:pt idx="43">
                  <c:v>3801753.9137091888</c:v>
                </c:pt>
                <c:pt idx="44">
                  <c:v>4080695.1077070311</c:v>
                </c:pt>
                <c:pt idx="45">
                  <c:v>4003650.6787945805</c:v>
                </c:pt>
                <c:pt idx="46">
                  <c:v>3973520.4479823764</c:v>
                </c:pt>
                <c:pt idx="47">
                  <c:v>3890589.0843179203</c:v>
                </c:pt>
                <c:pt idx="48">
                  <c:v>4047207.6514138309</c:v>
                </c:pt>
                <c:pt idx="49">
                  <c:v>4335234.0381812109</c:v>
                </c:pt>
                <c:pt idx="50">
                  <c:v>4619707.1181189101</c:v>
                </c:pt>
                <c:pt idx="51">
                  <c:v>4990787.2480458226</c:v>
                </c:pt>
                <c:pt idx="52">
                  <c:v>5250834.0143989511</c:v>
                </c:pt>
                <c:pt idx="53">
                  <c:v>5649752.1613312429</c:v>
                </c:pt>
                <c:pt idx="54">
                  <c:v>5934619.439161459</c:v>
                </c:pt>
                <c:pt idx="55">
                  <c:v>6151482.2631389396</c:v>
                </c:pt>
                <c:pt idx="56">
                  <c:v>6458622.9446957791</c:v>
                </c:pt>
                <c:pt idx="57">
                  <c:v>6408526.1400852781</c:v>
                </c:pt>
                <c:pt idx="58">
                  <c:v>6404114.244718872</c:v>
                </c:pt>
                <c:pt idx="59">
                  <c:v>6345688.2744194539</c:v>
                </c:pt>
                <c:pt idx="60">
                  <c:v>6525618.7492022617</c:v>
                </c:pt>
                <c:pt idx="61">
                  <c:v>6835796.6456169253</c:v>
                </c:pt>
                <c:pt idx="62">
                  <c:v>7141314.5747121833</c:v>
                </c:pt>
                <c:pt idx="63">
                  <c:v>7532406.5972442981</c:v>
                </c:pt>
                <c:pt idx="64">
                  <c:v>7811515.2796900878</c:v>
                </c:pt>
                <c:pt idx="65">
                  <c:v>8228617.7296555601</c:v>
                </c:pt>
                <c:pt idx="66">
                  <c:v>8530828.7532156687</c:v>
                </c:pt>
                <c:pt idx="67">
                  <c:v>8764174.5468906127</c:v>
                </c:pt>
                <c:pt idx="68">
                  <c:v>9086849.5548625737</c:v>
                </c:pt>
                <c:pt idx="69">
                  <c:v>9051191.6534142215</c:v>
                </c:pt>
                <c:pt idx="70">
                  <c:v>9059948.3080897219</c:v>
                </c:pt>
                <c:pt idx="71">
                  <c:v>9013266.9590179957</c:v>
                </c:pt>
                <c:pt idx="72">
                  <c:v>9203443.4217143618</c:v>
                </c:pt>
                <c:pt idx="73">
                  <c:v>9522422.6728757303</c:v>
                </c:pt>
                <c:pt idx="74">
                  <c:v>9835504.3433136195</c:v>
                </c:pt>
                <c:pt idx="75">
                  <c:v>10233268.886162093</c:v>
                </c:pt>
                <c:pt idx="76">
                  <c:v>10518586.450765204</c:v>
                </c:pt>
                <c:pt idx="77">
                  <c:v>10941850.478586774</c:v>
                </c:pt>
                <c:pt idx="78">
                  <c:v>11250463.482629016</c:v>
                </c:pt>
                <c:pt idx="79">
                  <c:v>11490508.737877242</c:v>
                </c:pt>
                <c:pt idx="80">
                  <c:v>11819918.042287625</c:v>
                </c:pt>
                <c:pt idx="81">
                  <c:v>11790444.817192303</c:v>
                </c:pt>
                <c:pt idx="82">
                  <c:v>11804016.635837594</c:v>
                </c:pt>
                <c:pt idx="83">
                  <c:v>11759816.602709144</c:v>
                </c:pt>
                <c:pt idx="84">
                  <c:v>11949314.791613279</c:v>
                </c:pt>
                <c:pt idx="85">
                  <c:v>12264386.847773155</c:v>
                </c:pt>
                <c:pt idx="86">
                  <c:v>12570067.586714547</c:v>
                </c:pt>
                <c:pt idx="87">
                  <c:v>12958683.635375429</c:v>
                </c:pt>
                <c:pt idx="88">
                  <c:v>13235065.915418781</c:v>
                </c:pt>
                <c:pt idx="89">
                  <c:v>13649100.961652959</c:v>
                </c:pt>
                <c:pt idx="90">
                  <c:v>13957872.086788788</c:v>
                </c:pt>
                <c:pt idx="91">
                  <c:v>14199694.251208087</c:v>
                </c:pt>
                <c:pt idx="92">
                  <c:v>14521451.748096203</c:v>
                </c:pt>
                <c:pt idx="93">
                  <c:v>14559015.918735173</c:v>
                </c:pt>
                <c:pt idx="94">
                  <c:v>14518802.916229591</c:v>
                </c:pt>
                <c:pt idx="95" formatCode="_(* #,##0.00_);_(* \(#,##0.00\);_(* &quot;-&quot;??_);_(@_)">
                  <c:v>14504200.186767379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2A23-45A6-AC5B-0F8DC5ABAF68}"/>
            </c:ext>
          </c:extLst>
        </c:ser>
        <c:ser>
          <c:idx val="5"/>
          <c:order val="5"/>
          <c:tx>
            <c:strRef>
              <c:f>Planilha6!$B$18</c:f>
              <c:strCache>
                <c:ptCount val="1"/>
                <c:pt idx="0">
                  <c:v>2015-2016 Defict</c:v>
                </c:pt>
              </c:strCache>
            </c:strRef>
          </c:tx>
          <c:spPr>
            <a:ln w="22225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val>
            <c:numRef>
              <c:f>Planilha6!$C$18:$CT$18</c:f>
              <c:numCache>
                <c:formatCode>General</c:formatCode>
                <c:ptCount val="96"/>
                <c:pt idx="0">
                  <c:v>2996914</c:v>
                </c:pt>
                <c:pt idx="1">
                  <c:v>2996914</c:v>
                </c:pt>
                <c:pt idx="2">
                  <c:v>2996914</c:v>
                </c:pt>
                <c:pt idx="3">
                  <c:v>2996914</c:v>
                </c:pt>
                <c:pt idx="4">
                  <c:v>2996914</c:v>
                </c:pt>
                <c:pt idx="5">
                  <c:v>2996914</c:v>
                </c:pt>
                <c:pt idx="6">
                  <c:v>2996914</c:v>
                </c:pt>
                <c:pt idx="7">
                  <c:v>2996914</c:v>
                </c:pt>
                <c:pt idx="8">
                  <c:v>2996914</c:v>
                </c:pt>
                <c:pt idx="9">
                  <c:v>2996914</c:v>
                </c:pt>
                <c:pt idx="10">
                  <c:v>2996914</c:v>
                </c:pt>
                <c:pt idx="11">
                  <c:v>2996914</c:v>
                </c:pt>
                <c:pt idx="12">
                  <c:v>2996914</c:v>
                </c:pt>
                <c:pt idx="13">
                  <c:v>2996914</c:v>
                </c:pt>
                <c:pt idx="14">
                  <c:v>2996914</c:v>
                </c:pt>
                <c:pt idx="15">
                  <c:v>2996914</c:v>
                </c:pt>
                <c:pt idx="16">
                  <c:v>2996914</c:v>
                </c:pt>
                <c:pt idx="17">
                  <c:v>2996914</c:v>
                </c:pt>
                <c:pt idx="18">
                  <c:v>2996914</c:v>
                </c:pt>
                <c:pt idx="19">
                  <c:v>2996914</c:v>
                </c:pt>
                <c:pt idx="20">
                  <c:v>2996914</c:v>
                </c:pt>
                <c:pt idx="21">
                  <c:v>2996914</c:v>
                </c:pt>
                <c:pt idx="22">
                  <c:v>2996914</c:v>
                </c:pt>
                <c:pt idx="23">
                  <c:v>2996914</c:v>
                </c:pt>
                <c:pt idx="24">
                  <c:v>2996914</c:v>
                </c:pt>
                <c:pt idx="25">
                  <c:v>2996914</c:v>
                </c:pt>
                <c:pt idx="26">
                  <c:v>2996914</c:v>
                </c:pt>
                <c:pt idx="27">
                  <c:v>2996914</c:v>
                </c:pt>
                <c:pt idx="28">
                  <c:v>2996914</c:v>
                </c:pt>
                <c:pt idx="29">
                  <c:v>2996914</c:v>
                </c:pt>
                <c:pt idx="30">
                  <c:v>2996914</c:v>
                </c:pt>
                <c:pt idx="31">
                  <c:v>2996914</c:v>
                </c:pt>
                <c:pt idx="32">
                  <c:v>2996914</c:v>
                </c:pt>
                <c:pt idx="33">
                  <c:v>2996914</c:v>
                </c:pt>
                <c:pt idx="34">
                  <c:v>2996914</c:v>
                </c:pt>
                <c:pt idx="35">
                  <c:v>2996914</c:v>
                </c:pt>
                <c:pt idx="36">
                  <c:v>2996914</c:v>
                </c:pt>
                <c:pt idx="37">
                  <c:v>2996914</c:v>
                </c:pt>
                <c:pt idx="38">
                  <c:v>2996914</c:v>
                </c:pt>
                <c:pt idx="39">
                  <c:v>2996914</c:v>
                </c:pt>
                <c:pt idx="40">
                  <c:v>2996914</c:v>
                </c:pt>
                <c:pt idx="41">
                  <c:v>2996914</c:v>
                </c:pt>
                <c:pt idx="42">
                  <c:v>2996914</c:v>
                </c:pt>
                <c:pt idx="43">
                  <c:v>2996914</c:v>
                </c:pt>
                <c:pt idx="44">
                  <c:v>2996914</c:v>
                </c:pt>
                <c:pt idx="45">
                  <c:v>2996914</c:v>
                </c:pt>
                <c:pt idx="46">
                  <c:v>2996914</c:v>
                </c:pt>
                <c:pt idx="47">
                  <c:v>2996914</c:v>
                </c:pt>
                <c:pt idx="48">
                  <c:v>2996914</c:v>
                </c:pt>
                <c:pt idx="49">
                  <c:v>2996914</c:v>
                </c:pt>
                <c:pt idx="50">
                  <c:v>2996914</c:v>
                </c:pt>
                <c:pt idx="51">
                  <c:v>2996914</c:v>
                </c:pt>
                <c:pt idx="52">
                  <c:v>2996914</c:v>
                </c:pt>
                <c:pt idx="53">
                  <c:v>2996914</c:v>
                </c:pt>
                <c:pt idx="54">
                  <c:v>2996914</c:v>
                </c:pt>
                <c:pt idx="55">
                  <c:v>2996914</c:v>
                </c:pt>
                <c:pt idx="56">
                  <c:v>2996914</c:v>
                </c:pt>
                <c:pt idx="57">
                  <c:v>2996914</c:v>
                </c:pt>
                <c:pt idx="58">
                  <c:v>2996914</c:v>
                </c:pt>
                <c:pt idx="59">
                  <c:v>2996914</c:v>
                </c:pt>
                <c:pt idx="60">
                  <c:v>2996914</c:v>
                </c:pt>
                <c:pt idx="61">
                  <c:v>2996914</c:v>
                </c:pt>
                <c:pt idx="62">
                  <c:v>2996914</c:v>
                </c:pt>
                <c:pt idx="63">
                  <c:v>2996914</c:v>
                </c:pt>
                <c:pt idx="64">
                  <c:v>2996914</c:v>
                </c:pt>
                <c:pt idx="65">
                  <c:v>2996914</c:v>
                </c:pt>
                <c:pt idx="66">
                  <c:v>2996914</c:v>
                </c:pt>
                <c:pt idx="67">
                  <c:v>2996914</c:v>
                </c:pt>
                <c:pt idx="68">
                  <c:v>2996914</c:v>
                </c:pt>
                <c:pt idx="69">
                  <c:v>2996914</c:v>
                </c:pt>
                <c:pt idx="70">
                  <c:v>2996914</c:v>
                </c:pt>
                <c:pt idx="71">
                  <c:v>2996914</c:v>
                </c:pt>
                <c:pt idx="72">
                  <c:v>2996914</c:v>
                </c:pt>
                <c:pt idx="73">
                  <c:v>2996914</c:v>
                </c:pt>
                <c:pt idx="74">
                  <c:v>2996914</c:v>
                </c:pt>
                <c:pt idx="75">
                  <c:v>2996914</c:v>
                </c:pt>
                <c:pt idx="76">
                  <c:v>2996914</c:v>
                </c:pt>
                <c:pt idx="77">
                  <c:v>2996914</c:v>
                </c:pt>
                <c:pt idx="78">
                  <c:v>2996914</c:v>
                </c:pt>
                <c:pt idx="79">
                  <c:v>2996914</c:v>
                </c:pt>
                <c:pt idx="80">
                  <c:v>2996914</c:v>
                </c:pt>
                <c:pt idx="81">
                  <c:v>2996914</c:v>
                </c:pt>
                <c:pt idx="82">
                  <c:v>2996914</c:v>
                </c:pt>
                <c:pt idx="83">
                  <c:v>2996914</c:v>
                </c:pt>
                <c:pt idx="84">
                  <c:v>2996914</c:v>
                </c:pt>
                <c:pt idx="85">
                  <c:v>2996914</c:v>
                </c:pt>
                <c:pt idx="86">
                  <c:v>2996914</c:v>
                </c:pt>
                <c:pt idx="87">
                  <c:v>2996914</c:v>
                </c:pt>
                <c:pt idx="88">
                  <c:v>2996914</c:v>
                </c:pt>
                <c:pt idx="89">
                  <c:v>2996914</c:v>
                </c:pt>
                <c:pt idx="90">
                  <c:v>2996914</c:v>
                </c:pt>
                <c:pt idx="91">
                  <c:v>2996914</c:v>
                </c:pt>
                <c:pt idx="92">
                  <c:v>2996914</c:v>
                </c:pt>
                <c:pt idx="93">
                  <c:v>2996914</c:v>
                </c:pt>
                <c:pt idx="94">
                  <c:v>2996914</c:v>
                </c:pt>
                <c:pt idx="95">
                  <c:v>2996914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2A23-45A6-AC5B-0F8DC5ABAF68}"/>
            </c:ext>
          </c:extLst>
        </c:ser>
        <c:ser>
          <c:idx val="6"/>
          <c:order val="6"/>
          <c:tx>
            <c:strRef>
              <c:f>Planilha6!$B$19</c:f>
              <c:strCache>
                <c:ptCount val="1"/>
                <c:pt idx="0">
                  <c:v>Actual</c:v>
                </c:pt>
              </c:strCache>
            </c:strRef>
          </c:tx>
          <c:spPr>
            <a:ln w="22225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val>
            <c:numRef>
              <c:f>Planilha6!$C$19:$CT$19</c:f>
              <c:numCache>
                <c:formatCode>General</c:formatCode>
                <c:ptCount val="96"/>
                <c:pt idx="0">
                  <c:v>-40864</c:v>
                </c:pt>
                <c:pt idx="1">
                  <c:v>-5252</c:v>
                </c:pt>
                <c:pt idx="2">
                  <c:v>-68876</c:v>
                </c:pt>
                <c:pt idx="3">
                  <c:v>-9020</c:v>
                </c:pt>
                <c:pt idx="4">
                  <c:v>25233</c:v>
                </c:pt>
                <c:pt idx="5">
                  <c:v>35054</c:v>
                </c:pt>
                <c:pt idx="6">
                  <c:v>70954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#N/A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  <c:pt idx="65">
                  <c:v>#N/A</c:v>
                </c:pt>
                <c:pt idx="66">
                  <c:v>#N/A</c:v>
                </c:pt>
                <c:pt idx="67">
                  <c:v>#N/A</c:v>
                </c:pt>
                <c:pt idx="68">
                  <c:v>#N/A</c:v>
                </c:pt>
                <c:pt idx="69">
                  <c:v>#N/A</c:v>
                </c:pt>
                <c:pt idx="70">
                  <c:v>#N/A</c:v>
                </c:pt>
                <c:pt idx="71">
                  <c:v>#N/A</c:v>
                </c:pt>
                <c:pt idx="72">
                  <c:v>#N/A</c:v>
                </c:pt>
                <c:pt idx="73">
                  <c:v>#N/A</c:v>
                </c:pt>
                <c:pt idx="74">
                  <c:v>#N/A</c:v>
                </c:pt>
                <c:pt idx="75">
                  <c:v>#N/A</c:v>
                </c:pt>
                <c:pt idx="76">
                  <c:v>#N/A</c:v>
                </c:pt>
                <c:pt idx="77">
                  <c:v>#N/A</c:v>
                </c:pt>
                <c:pt idx="78">
                  <c:v>#N/A</c:v>
                </c:pt>
                <c:pt idx="79">
                  <c:v>#N/A</c:v>
                </c:pt>
                <c:pt idx="80">
                  <c:v>#N/A</c:v>
                </c:pt>
                <c:pt idx="81">
                  <c:v>#N/A</c:v>
                </c:pt>
                <c:pt idx="82">
                  <c:v>#N/A</c:v>
                </c:pt>
                <c:pt idx="83">
                  <c:v>#N/A</c:v>
                </c:pt>
                <c:pt idx="84">
                  <c:v>#N/A</c:v>
                </c:pt>
                <c:pt idx="85">
                  <c:v>#N/A</c:v>
                </c:pt>
                <c:pt idx="86">
                  <c:v>#N/A</c:v>
                </c:pt>
                <c:pt idx="87">
                  <c:v>#N/A</c:v>
                </c:pt>
                <c:pt idx="88">
                  <c:v>#N/A</c:v>
                </c:pt>
                <c:pt idx="89">
                  <c:v>#N/A</c:v>
                </c:pt>
                <c:pt idx="90">
                  <c:v>#N/A</c:v>
                </c:pt>
                <c:pt idx="91">
                  <c:v>#N/A</c:v>
                </c:pt>
                <c:pt idx="92">
                  <c:v>#N/A</c:v>
                </c:pt>
                <c:pt idx="93">
                  <c:v>#N/A</c:v>
                </c:pt>
                <c:pt idx="94">
                  <c:v>#N/A</c:v>
                </c:pt>
                <c:pt idx="95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2A23-45A6-AC5B-0F8DC5ABAF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63801624"/>
        <c:axId val="663801296"/>
      </c:lineChart>
      <c:dateAx>
        <c:axId val="663801624"/>
        <c:scaling>
          <c:orientation val="minMax"/>
        </c:scaling>
        <c:delete val="0"/>
        <c:axPos val="b"/>
        <c:numFmt formatCode="[$-409]mmm-yy;@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63801296"/>
        <c:crosses val="autoZero"/>
        <c:auto val="1"/>
        <c:lblOffset val="100"/>
        <c:baseTimeUnit val="months"/>
      </c:dateAx>
      <c:valAx>
        <c:axId val="6638012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.0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63801624"/>
        <c:crosses val="autoZero"/>
        <c:crossBetween val="between"/>
        <c:dispUnits>
          <c:builtInUnit val="millions"/>
          <c:dispUnitsLbl>
            <c:tx>
              <c:rich>
                <a:bodyPr rot="-5400000" spcFirstLastPara="1" vertOverflow="ellipsis" vert="horz" wrap="square" anchor="ctr" anchorCtr="1"/>
                <a:lstStyle/>
                <a:p>
                  <a:pPr>
                    <a:defRPr sz="900" b="0" i="0" u="none" strike="noStrike" kern="1200" cap="all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r>
                    <a:rPr lang="en-US"/>
                    <a:t>Millions</a:t>
                  </a:r>
                </a:p>
              </c:rich>
            </c:tx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900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3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800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900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8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E5723ACE-000D-45D8-95EE-36778E13B0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2"/>
            <a:ext cx="3169920" cy="4817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09EC00A-8C60-4940-BBB3-66F152DB73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143588" y="2"/>
            <a:ext cx="3169920" cy="4817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6E3D86-C817-42F4-9295-006C53DDD643}" type="datetimeFigureOut">
              <a:rPr lang="en-US" smtClean="0"/>
              <a:t>2017-10-18</a:t>
            </a:fld>
            <a:endParaRPr lang="en-US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ECB06C8-2820-451C-B77B-D6F354842A9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119475"/>
            <a:ext cx="3169920" cy="4817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98527FC-D7E4-4F1B-A360-3F68C9D63D4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143588" y="9119475"/>
            <a:ext cx="3169920" cy="4817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0D9298-3A48-4185-91C9-1435CB352C5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724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170349" cy="48207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143681" y="1"/>
            <a:ext cx="3170349" cy="48207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0A406D-9BE6-4ABE-A5A9-DA37C0DAD0FE}" type="datetimeFigureOut">
              <a:rPr lang="en-US" smtClean="0"/>
              <a:t>2017-10-18</a:t>
            </a:fld>
            <a:endParaRPr lang="en-US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198563"/>
            <a:ext cx="5759450" cy="32400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31170" y="4621223"/>
            <a:ext cx="5852862" cy="378038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119122"/>
            <a:ext cx="3170349" cy="48207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143681" y="9119122"/>
            <a:ext cx="3170349" cy="48207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27764F-7158-47B9-A516-606CE7BDEAB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832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27764F-7158-47B9-A516-606CE7BDEAB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5970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27764F-7158-47B9-A516-606CE7BDEAB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5669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27764F-7158-47B9-A516-606CE7BDEAB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4139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27764F-7158-47B9-A516-606CE7BDEAB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6339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27764F-7158-47B9-A516-606CE7BDEAB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861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27764F-7158-47B9-A516-606CE7BDEAB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8140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27764F-7158-47B9-A516-606CE7BDEAB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1529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27764F-7158-47B9-A516-606CE7BDEAB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9095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27764F-7158-47B9-A516-606CE7BDEAB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1956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27764F-7158-47B9-A516-606CE7BDEAB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2965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27764F-7158-47B9-A516-606CE7BDEAB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2373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27764F-7158-47B9-A516-606CE7BDEAB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187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27764F-7158-47B9-A516-606CE7BDEAB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6045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27764F-7158-47B9-A516-606CE7BDEAB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0263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27764F-7158-47B9-A516-606CE7BDEAB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4373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27764F-7158-47B9-A516-606CE7BDEAB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4253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27764F-7158-47B9-A516-606CE7BDEAB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9597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27764F-7158-47B9-A516-606CE7BDEAB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5280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27764F-7158-47B9-A516-606CE7BDEAB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73921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27764F-7158-47B9-A516-606CE7BDEAB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440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B0EE5-6F25-4D3E-8E99-2775F55AA635}" type="datetimeFigureOut">
              <a:rPr lang="en-US" smtClean="0"/>
              <a:t>2017-10-18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51C32-326F-4C10-8DDC-A01E59C9548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408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B0EE5-6F25-4D3E-8E99-2775F55AA635}" type="datetimeFigureOut">
              <a:rPr lang="en-US" smtClean="0"/>
              <a:t>2017-10-18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51C32-326F-4C10-8DDC-A01E59C9548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378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B0EE5-6F25-4D3E-8E99-2775F55AA635}" type="datetimeFigureOut">
              <a:rPr lang="en-US" smtClean="0"/>
              <a:t>2017-10-18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51C32-326F-4C10-8DDC-A01E59C9548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8973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B0EE5-6F25-4D3E-8E99-2775F55AA635}" type="datetimeFigureOut">
              <a:rPr lang="en-US" smtClean="0"/>
              <a:t>2017-10-18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51C32-326F-4C10-8DDC-A01E59C9548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185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B0EE5-6F25-4D3E-8E99-2775F55AA635}" type="datetimeFigureOut">
              <a:rPr lang="en-US" smtClean="0"/>
              <a:t>2017-10-18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51C32-326F-4C10-8DDC-A01E59C9548E}" type="slidenum">
              <a:rPr lang="en-US" smtClean="0"/>
              <a:t>‹nº›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0037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B0EE5-6F25-4D3E-8E99-2775F55AA635}" type="datetimeFigureOut">
              <a:rPr lang="en-US" smtClean="0"/>
              <a:t>2017-10-18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51C32-326F-4C10-8DDC-A01E59C9548E}" type="slidenum">
              <a:rPr lang="en-US" smtClean="0"/>
              <a:t>‹nº›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318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B0EE5-6F25-4D3E-8E99-2775F55AA635}" type="datetimeFigureOut">
              <a:rPr lang="en-US" smtClean="0"/>
              <a:t>2017-10-18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51C32-326F-4C10-8DDC-A01E59C9548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290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B0EE5-6F25-4D3E-8E99-2775F55AA635}" type="datetimeFigureOut">
              <a:rPr lang="en-US" smtClean="0"/>
              <a:t>2017-10-18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51C32-326F-4C10-8DDC-A01E59C9548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483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B0EE5-6F25-4D3E-8E99-2775F55AA635}" type="datetimeFigureOut">
              <a:rPr lang="en-US" smtClean="0"/>
              <a:t>2017-10-18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51C32-326F-4C10-8DDC-A01E59C9548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019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B0EE5-6F25-4D3E-8E99-2775F55AA635}" type="datetimeFigureOut">
              <a:rPr lang="en-US" smtClean="0"/>
              <a:t>2017-10-18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51C32-326F-4C10-8DDC-A01E59C9548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597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B0EE5-6F25-4D3E-8E99-2775F55AA635}" type="datetimeFigureOut">
              <a:rPr lang="en-US" smtClean="0"/>
              <a:t>2017-10-18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51C32-326F-4C10-8DDC-A01E59C9548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2635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080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B0EE5-6F25-4D3E-8E99-2775F55AA635}" type="datetimeFigureOut">
              <a:rPr lang="en-US" smtClean="0"/>
              <a:t>2017-10-18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51C32-326F-4C10-8DDC-A01E59C9548E}" type="slidenum">
              <a:rPr lang="en-US" smtClean="0"/>
              <a:t>‹nº›</a:t>
            </a:fld>
            <a:endParaRPr lang="en-US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292B9881-3D07-48DF-BC44-252F72EDAA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69848" y="1197205"/>
            <a:ext cx="10058399" cy="1432874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09679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2497676"/>
            <a:ext cx="10058400" cy="1827435"/>
          </a:xfrm>
        </p:spPr>
        <p:txBody>
          <a:bodyPr anchor="b">
            <a:noAutofit/>
          </a:bodyPr>
          <a:lstStyle>
            <a:lvl1pPr algn="l">
              <a:lnSpc>
                <a:spcPct val="85000"/>
              </a:lnSpc>
              <a:defRPr sz="6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 dirty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B0EE5-6F25-4D3E-8E99-2775F55AA635}" type="datetimeFigureOut">
              <a:rPr lang="en-US" smtClean="0"/>
              <a:t>2017-10-18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51C32-326F-4C10-8DDC-A01E59C9548E}" type="slidenum">
              <a:rPr lang="en-US" smtClean="0"/>
              <a:t>‹nº›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Imagem 10">
            <a:extLst>
              <a:ext uri="{FF2B5EF4-FFF2-40B4-BE49-F238E27FC236}">
                <a16:creationId xmlns:a16="http://schemas.microsoft.com/office/drawing/2014/main" id="{328315B2-97CC-40F2-8B62-9BE79056356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9851" y="0"/>
            <a:ext cx="6972300" cy="1889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963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B0EE5-6F25-4D3E-8E99-2775F55AA635}" type="datetimeFigureOut">
              <a:rPr lang="en-US" smtClean="0"/>
              <a:t>2017-10-18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51C32-326F-4C10-8DDC-A01E59C9548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9890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B0EE5-6F25-4D3E-8E99-2775F55AA635}" type="datetimeFigureOut">
              <a:rPr lang="en-US" smtClean="0"/>
              <a:t>2017-10-18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51C32-326F-4C10-8DDC-A01E59C9548E}" type="slidenum">
              <a:rPr lang="en-US" smtClean="0"/>
              <a:t>‹nº›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50590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B0EE5-6F25-4D3E-8E99-2775F55AA635}" type="datetimeFigureOut">
              <a:rPr lang="en-US" smtClean="0"/>
              <a:t>2017-10-18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51C32-326F-4C10-8DDC-A01E59C9548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6921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B0EE5-6F25-4D3E-8E99-2775F55AA635}" type="datetimeFigureOut">
              <a:rPr lang="en-US" smtClean="0"/>
              <a:t>2017-10-18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51C32-326F-4C10-8DDC-A01E59C9548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132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B0EE5-6F25-4D3E-8E99-2775F55AA635}" type="datetimeFigureOut">
              <a:rPr lang="en-US" smtClean="0"/>
              <a:t>2017-10-18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51C32-326F-4C10-8DDC-A01E59C9548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3544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B0EE5-6F25-4D3E-8E99-2775F55AA635}" type="datetimeFigureOut">
              <a:rPr lang="en-US" smtClean="0"/>
              <a:t>2017-10-18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51C32-326F-4C10-8DDC-A01E59C9548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87366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F8B0EE5-6F25-4D3E-8E99-2775F55AA635}" type="datetimeFigureOut">
              <a:rPr lang="en-US" smtClean="0"/>
              <a:t>2017-10-18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5E51C32-326F-4C10-8DDC-A01E59C9548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0640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B0EE5-6F25-4D3E-8E99-2775F55AA635}" type="datetimeFigureOut">
              <a:rPr lang="en-US" smtClean="0"/>
              <a:t>2017-10-18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51C32-326F-4C10-8DDC-A01E59C9548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5039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B0EE5-6F25-4D3E-8E99-2775F55AA635}" type="datetimeFigureOut">
              <a:rPr lang="en-US" smtClean="0"/>
              <a:t>2017-10-18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51C32-326F-4C10-8DDC-A01E59C9548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39779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B0EE5-6F25-4D3E-8E99-2775F55AA635}" type="datetimeFigureOut">
              <a:rPr lang="en-US" smtClean="0"/>
              <a:t>2017-10-18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51C32-326F-4C10-8DDC-A01E59C9548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0638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8000" y="288000"/>
            <a:ext cx="10058400" cy="1450800"/>
          </a:xfrm>
        </p:spPr>
        <p:txBody>
          <a:bodyPr/>
          <a:lstStyle/>
          <a:p>
            <a:r>
              <a:rPr lang="pt-BR" dirty="0"/>
              <a:t>Clique para editar o título mestre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B0EE5-6F25-4D3E-8E99-2775F55AA635}" type="datetimeFigureOut">
              <a:rPr lang="en-US" smtClean="0"/>
              <a:t>2017-10-18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51C32-326F-4C10-8DDC-A01E59C9548E}" type="slidenum">
              <a:rPr lang="en-US" smtClean="0"/>
              <a:t>‹nº›</a:t>
            </a:fld>
            <a:endParaRPr lang="en-US"/>
          </a:p>
        </p:txBody>
      </p:sp>
      <p:sp>
        <p:nvSpPr>
          <p:cNvPr id="13" name="Espaço Reservado para Imagem 12">
            <a:extLst>
              <a:ext uri="{FF2B5EF4-FFF2-40B4-BE49-F238E27FC236}">
                <a16:creationId xmlns:a16="http://schemas.microsoft.com/office/drawing/2014/main" id="{D2F5B88E-4096-48D3-A917-1EA6666E5B7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97280" y="2744640"/>
            <a:ext cx="4755600" cy="329040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Espaço Reservado para Imagem 14">
            <a:extLst>
              <a:ext uri="{FF2B5EF4-FFF2-40B4-BE49-F238E27FC236}">
                <a16:creationId xmlns:a16="http://schemas.microsoft.com/office/drawing/2014/main" id="{2EA11F79-091C-4CCB-AD8B-95E2C9A87E2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400080" y="2744640"/>
            <a:ext cx="4755600" cy="3290400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Espaço Reservado para Texto 16">
            <a:extLst>
              <a:ext uri="{FF2B5EF4-FFF2-40B4-BE49-F238E27FC236}">
                <a16:creationId xmlns:a16="http://schemas.microsoft.com/office/drawing/2014/main" id="{185E97D7-4A69-4F5A-AEFD-DFACEF26EE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96963" y="1809946"/>
            <a:ext cx="10058717" cy="867266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672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DF8B0EE5-6F25-4D3E-8E99-2775F55AA635}" type="datetimeFigureOut">
              <a:rPr lang="en-US" smtClean="0"/>
              <a:t>2017-10-18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E51C32-326F-4C10-8DDC-A01E59C9548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760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7" r:id="rId1"/>
    <p:sldLayoutId id="2147483828" r:id="rId2"/>
    <p:sldLayoutId id="2147483829" r:id="rId3"/>
    <p:sldLayoutId id="2147483830" r:id="rId4"/>
    <p:sldLayoutId id="2147483831" r:id="rId5"/>
    <p:sldLayoutId id="2147483832" r:id="rId6"/>
    <p:sldLayoutId id="2147483833" r:id="rId7"/>
    <p:sldLayoutId id="2147483834" r:id="rId8"/>
    <p:sldLayoutId id="2147483835" r:id="rId9"/>
    <p:sldLayoutId id="2147483836" r:id="rId10"/>
    <p:sldLayoutId id="2147483837" r:id="rId11"/>
    <p:sldLayoutId id="214748383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DF8B0EE5-6F25-4D3E-8E99-2775F55AA635}" type="datetimeFigureOut">
              <a:rPr lang="en-US" smtClean="0"/>
              <a:t>2017-10-18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B5E51C32-326F-4C10-8DDC-A01E59C9548E}" type="slidenum">
              <a:rPr lang="en-US" smtClean="0"/>
              <a:t>‹nº›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Imagem 10">
            <a:extLst>
              <a:ext uri="{FF2B5EF4-FFF2-40B4-BE49-F238E27FC236}">
                <a16:creationId xmlns:a16="http://schemas.microsoft.com/office/drawing/2014/main" id="{E08E9476-9E3D-4C13-875D-738B363C5D1F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9615" y="0"/>
            <a:ext cx="5229225" cy="1417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624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6" r:id="rId1"/>
    <p:sldLayoutId id="2147483867" r:id="rId2"/>
    <p:sldLayoutId id="2147483868" r:id="rId3"/>
    <p:sldLayoutId id="2147483869" r:id="rId4"/>
    <p:sldLayoutId id="2147483870" r:id="rId5"/>
    <p:sldLayoutId id="2147483871" r:id="rId6"/>
    <p:sldLayoutId id="2147483872" r:id="rId7"/>
    <p:sldLayoutId id="2147483873" r:id="rId8"/>
    <p:sldLayoutId id="2147483874" r:id="rId9"/>
    <p:sldLayoutId id="2147483875" r:id="rId10"/>
    <p:sldLayoutId id="2147483876" r:id="rId11"/>
    <p:sldLayoutId id="2147483877" r:id="rId12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80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2A80EF-10B8-480A-8354-A489717A2D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pt-BR" sz="5400" dirty="0"/>
            </a:br>
            <a:r>
              <a:rPr lang="pt-BR" sz="5400" dirty="0"/>
              <a:t>Investigando como choques macroeconômicos se propagam no emprego regionalmente</a:t>
            </a:r>
            <a:endParaRPr lang="en-US" sz="54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021F870-CE7E-4DBF-B7F4-746845E025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Prof. Dr. Emerson </a:t>
            </a:r>
            <a:r>
              <a:rPr lang="en-US" dirty="0" err="1"/>
              <a:t>Marçal</a:t>
            </a:r>
            <a:r>
              <a:rPr lang="en-US" dirty="0"/>
              <a:t> - CEMAP-EESP-FGV</a:t>
            </a:r>
          </a:p>
          <a:p>
            <a:r>
              <a:rPr lang="en-US" dirty="0"/>
              <a:t>Bruno Tebaldi de Queiroz Barbosa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806F0E0-94D6-4814-97AB-F6B69010B030}"/>
              </a:ext>
            </a:extLst>
          </p:cNvPr>
          <p:cNvSpPr txBox="1"/>
          <p:nvPr/>
        </p:nvSpPr>
        <p:spPr>
          <a:xfrm>
            <a:off x="9874314" y="6581001"/>
            <a:ext cx="23176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</a:rPr>
              <a:t>São Paulo, 19 de Outubro de 2017</a:t>
            </a:r>
            <a:endParaRPr 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32598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9DCC99-69D7-4287-95A7-CB503E77D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Introdução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6BD605B-A0B2-412B-AA6F-E7E42DE540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/>
              <a:t>A avaliação de variáveis ​​econômicas, como o desemprego é uma parte importante da economia.</a:t>
            </a:r>
          </a:p>
          <a:p>
            <a:pPr lvl="1"/>
            <a:r>
              <a:rPr lang="pt-BR" dirty="0"/>
              <a:t>Lei de </a:t>
            </a:r>
            <a:r>
              <a:rPr lang="pt-BR" dirty="0" err="1"/>
              <a:t>Okun</a:t>
            </a:r>
            <a:r>
              <a:rPr lang="pt-BR" dirty="0"/>
              <a:t>: Taxa de desemprego está diretamente associada ao PIB.</a:t>
            </a:r>
          </a:p>
          <a:p>
            <a:pPr lvl="1"/>
            <a:r>
              <a:rPr lang="pt-BR" dirty="0"/>
              <a:t>Curva de Phillips: Relação entre a taxa de desemprego e a taxa de inflação.</a:t>
            </a:r>
          </a:p>
          <a:p>
            <a:r>
              <a:rPr lang="pt-BR" dirty="0"/>
              <a:t>Crescente integração dos mercados</a:t>
            </a:r>
          </a:p>
          <a:p>
            <a:pPr lvl="1"/>
            <a:r>
              <a:rPr lang="pt-BR" dirty="0"/>
              <a:t>Interdependência financeira e econômica entre regiões;</a:t>
            </a:r>
          </a:p>
          <a:p>
            <a:pPr lvl="1"/>
            <a:r>
              <a:rPr lang="pt-BR" dirty="0"/>
              <a:t>Análises macroeconômicas devem considerar as interdependências.</a:t>
            </a:r>
          </a:p>
          <a:p>
            <a:r>
              <a:rPr lang="pt-BR" dirty="0"/>
              <a:t>Mercado de trabalho</a:t>
            </a:r>
          </a:p>
          <a:p>
            <a:pPr lvl="1"/>
            <a:r>
              <a:rPr lang="pt-BR" dirty="0"/>
              <a:t>Nível macroeconômico: influenciado tanto pela dinâmica do mercado doméstico e quanto pela dinâmica do mercado externo.</a:t>
            </a:r>
          </a:p>
          <a:p>
            <a:pPr lvl="1"/>
            <a:r>
              <a:rPr lang="pt-BR" dirty="0"/>
              <a:t>Nível microeconômico: interação entre empresas e empregados individuais.</a:t>
            </a:r>
          </a:p>
          <a:p>
            <a:r>
              <a:rPr lang="pt-BR" dirty="0"/>
              <a:t>Um modelo adequado do mercado de trabalho deve explicar a influência no nível macroeconômico, assim como as influências no nível microeconômico.</a:t>
            </a:r>
          </a:p>
          <a:p>
            <a:pPr lvl="1"/>
            <a:r>
              <a:rPr lang="pt-BR" dirty="0"/>
              <a:t>maldição da dimensionalidade</a:t>
            </a:r>
          </a:p>
          <a:p>
            <a:pPr lvl="1"/>
            <a:r>
              <a:rPr lang="pt-BR" dirty="0" err="1"/>
              <a:t>Chudik</a:t>
            </a:r>
            <a:r>
              <a:rPr lang="pt-BR" dirty="0"/>
              <a:t> e </a:t>
            </a:r>
            <a:r>
              <a:rPr lang="pt-BR" dirty="0" err="1"/>
              <a:t>Pesaran</a:t>
            </a:r>
            <a:r>
              <a:rPr lang="pt-BR" dirty="0"/>
              <a:t> (2011): Duas abordagens para lidar com a maldição da dimensionalidade: (i) redução do espaço de parâmetros e (</a:t>
            </a:r>
            <a:r>
              <a:rPr lang="pt-BR" dirty="0" err="1"/>
              <a:t>ii</a:t>
            </a:r>
            <a:r>
              <a:rPr lang="pt-BR" dirty="0"/>
              <a:t>) redução dos dados. A redução do espaço resulta na metodologia do GVAR.</a:t>
            </a:r>
          </a:p>
        </p:txBody>
      </p:sp>
    </p:spTree>
    <p:extLst>
      <p:ext uri="{BB962C8B-B14F-4D97-AF65-F5344CB8AC3E}">
        <p14:creationId xmlns:p14="http://schemas.microsoft.com/office/powerpoint/2010/main" val="10435044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92A2ED-24B0-45D2-9878-061C0D114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Introdução – Objetivo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719ADF6-5349-423D-AB03-DD7CF214E8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Concentrando-se no mercado de trabalho brasileiro</a:t>
            </a:r>
          </a:p>
          <a:p>
            <a:pPr lvl="1"/>
            <a:r>
              <a:rPr lang="pt-BR" dirty="0"/>
              <a:t>Estabelecer um modelo para o mercado de trabalho brasileiro, a nível regional, que explica as interdependências entre as regiões brasileiras.</a:t>
            </a:r>
          </a:p>
          <a:p>
            <a:pPr lvl="1"/>
            <a:r>
              <a:rPr lang="pt-BR" dirty="0"/>
              <a:t>Estimar a elasticidade regional do emprego em relação à atividade econômica do país.</a:t>
            </a:r>
          </a:p>
          <a:p>
            <a:pPr lvl="1"/>
            <a:r>
              <a:rPr lang="pt-BR" dirty="0"/>
              <a:t>Estimar a dinâmica macroeconômica do emprego regional.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3475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EF122B-6CBC-4D27-87A6-DD8B02F80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Revisão de literatura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CDBC49B-6CAA-4275-9158-E64798CD67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Oliveira e Carneiro (2001) - Análise das flutuações no nível de emprego de vários estados brasileiros em relação ao emprego nacional com o objetivo de verificar uma relação de longo prazo.</a:t>
            </a:r>
          </a:p>
          <a:p>
            <a:r>
              <a:rPr lang="pt-BR" dirty="0"/>
              <a:t>Camila </a:t>
            </a:r>
            <a:r>
              <a:rPr lang="pt-BR" dirty="0" err="1"/>
              <a:t>Kraide</a:t>
            </a:r>
            <a:r>
              <a:rPr lang="pt-BR" dirty="0"/>
              <a:t> </a:t>
            </a:r>
            <a:r>
              <a:rPr lang="pt-BR" dirty="0" err="1"/>
              <a:t>Kretzmann</a:t>
            </a:r>
            <a:r>
              <a:rPr lang="pt-BR" dirty="0"/>
              <a:t> e Marina Silva da Cunha (2009) -  Análise do mercado de trabalho formal entre as áreas metropolitanas e não metropolitanas brasileiras.</a:t>
            </a:r>
          </a:p>
          <a:p>
            <a:r>
              <a:rPr lang="pt-BR" dirty="0"/>
              <a:t>Norbert </a:t>
            </a:r>
            <a:r>
              <a:rPr lang="pt-BR" dirty="0" err="1"/>
              <a:t>Schanne</a:t>
            </a:r>
            <a:r>
              <a:rPr lang="pt-BR" dirty="0"/>
              <a:t> (2015) – Análise do mercado de trabalho regional na Alemanha, com foco na previsão dos mercados de trabalho regionais. Utilizou a metodologia do GVAR e utilizou a mesma para executar uma análise prospectiva da economia Alemã.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5577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BCB83D-C33E-4144-B8BE-E3269B11B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Revisão de literatura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A6671B-AC24-4629-8255-37E454D909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err="1"/>
              <a:t>Pesaran</a:t>
            </a:r>
            <a:r>
              <a:rPr lang="pt-BR" dirty="0"/>
              <a:t>, </a:t>
            </a:r>
            <a:r>
              <a:rPr lang="pt-BR" dirty="0" err="1"/>
              <a:t>Weiner</a:t>
            </a:r>
            <a:r>
              <a:rPr lang="pt-BR" dirty="0"/>
              <a:t> e </a:t>
            </a:r>
            <a:r>
              <a:rPr lang="pt-BR" dirty="0" err="1"/>
              <a:t>Schuermann</a:t>
            </a:r>
            <a:r>
              <a:rPr lang="pt-BR" dirty="0"/>
              <a:t> (2004) - Introduziram a metodologia de vetor </a:t>
            </a:r>
            <a:r>
              <a:rPr lang="pt-BR" dirty="0" err="1"/>
              <a:t>autoregressivo</a:t>
            </a:r>
            <a:r>
              <a:rPr lang="pt-BR" dirty="0"/>
              <a:t> global (GVAR). Os autores construíram um modelo macroeconômico global compacto levando em consideração as interconexões e as interdependências entre variáveis domésticas e internacionais.</a:t>
            </a:r>
          </a:p>
          <a:p>
            <a:r>
              <a:rPr lang="pt-BR" dirty="0" err="1"/>
              <a:t>Dees</a:t>
            </a:r>
            <a:r>
              <a:rPr lang="pt-BR" dirty="0"/>
              <a:t>, Mauro, </a:t>
            </a:r>
            <a:r>
              <a:rPr lang="pt-BR" dirty="0" err="1"/>
              <a:t>Pesaran</a:t>
            </a:r>
            <a:r>
              <a:rPr lang="pt-BR" dirty="0"/>
              <a:t> e Smith (2007) - Melhoraram o modelo GVAR com a cooperação do Banco Central Europeu, modelagem  esta utilizada para o presente estudo. Esta versão do modelo GVAR incluiu 26 países.</a:t>
            </a:r>
          </a:p>
          <a:p>
            <a:r>
              <a:rPr lang="pt-BR" dirty="0" err="1"/>
              <a:t>Chudik</a:t>
            </a:r>
            <a:r>
              <a:rPr lang="pt-BR" dirty="0"/>
              <a:t> e </a:t>
            </a:r>
            <a:r>
              <a:rPr lang="pt-BR" dirty="0" err="1"/>
              <a:t>Pesaran</a:t>
            </a:r>
            <a:r>
              <a:rPr lang="pt-BR" dirty="0"/>
              <a:t> (2011) – Analisaram a maldição da dimensionalidade no caso de grandes sistemas dinâmicos lineares. O VAR de dimensão infinita poderia ser bem aproximado por um conjunto de modelos de pequena escala de dimensões finitas que podem ser consistentemente estimados separadamente. </a:t>
            </a:r>
            <a:r>
              <a:rPr lang="pt-BR" dirty="0" err="1"/>
              <a:t>Chudik</a:t>
            </a:r>
            <a:r>
              <a:rPr lang="pt-BR" dirty="0"/>
              <a:t> e </a:t>
            </a:r>
            <a:r>
              <a:rPr lang="pt-BR" dirty="0" err="1"/>
              <a:t>Pesaran</a:t>
            </a:r>
            <a:r>
              <a:rPr lang="pt-BR" dirty="0"/>
              <a:t> concluem que a abordagem GVAR pode ser usada como uma aproximação de um IVAR com todas as variáveis ​​macroeconômicas.</a:t>
            </a:r>
          </a:p>
        </p:txBody>
      </p:sp>
    </p:spTree>
    <p:extLst>
      <p:ext uri="{BB962C8B-B14F-4D97-AF65-F5344CB8AC3E}">
        <p14:creationId xmlns:p14="http://schemas.microsoft.com/office/powerpoint/2010/main" val="12522104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7F9FFD-323E-4E8E-B345-CB4176A5B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Global Var - Metodologia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5F09F5D-7CC5-4B45-8C44-B7ED16822E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O modelo GVAR pode ser resumido como procedimento em duas etapas.</a:t>
            </a:r>
          </a:p>
          <a:p>
            <a:pPr lvl="1"/>
            <a:r>
              <a:rPr lang="pt-BR" dirty="0"/>
              <a:t>Primeira etapa: Os modelos específicos de cada região são estimados condicionados às influências externas das outras regiões.</a:t>
            </a:r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r>
              <a:rPr lang="pt-BR" dirty="0"/>
              <a:t>Segunda etapa: Os modelos VAR de cada região são agrupados em um único modelo VAR global.</a:t>
            </a:r>
            <a:endParaRPr lang="en-US" dirty="0"/>
          </a:p>
          <a:p>
            <a:pPr lvl="1"/>
            <a:endParaRPr lang="pt-BR" dirty="0"/>
          </a:p>
          <a:p>
            <a:pPr lvl="1"/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tângulo 4">
                <a:extLst>
                  <a:ext uri="{FF2B5EF4-FFF2-40B4-BE49-F238E27FC236}">
                    <a16:creationId xmlns:a16="http://schemas.microsoft.com/office/drawing/2014/main" id="{DF68089A-0DF8-4F1C-B4EE-B06C48702BF3}"/>
                  </a:ext>
                </a:extLst>
              </p:cNvPr>
              <p:cNvSpPr/>
              <p:nvPr/>
            </p:nvSpPr>
            <p:spPr>
              <a:xfrm>
                <a:off x="3071550" y="2701361"/>
                <a:ext cx="6048900" cy="87985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Λ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  <m: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𝑖𝑙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  <m:sup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</m:e>
                      </m:nary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Retângulo 4">
                <a:extLst>
                  <a:ext uri="{FF2B5EF4-FFF2-40B4-BE49-F238E27FC236}">
                    <a16:creationId xmlns:a16="http://schemas.microsoft.com/office/drawing/2014/main" id="{DF68089A-0DF8-4F1C-B4EE-B06C48702B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1550" y="2701361"/>
                <a:ext cx="6048900" cy="87985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tângulo 5">
                <a:extLst>
                  <a:ext uri="{FF2B5EF4-FFF2-40B4-BE49-F238E27FC236}">
                    <a16:creationId xmlns:a16="http://schemas.microsoft.com/office/drawing/2014/main" id="{17D11378-BD2E-45AF-B57C-E55705807319}"/>
                  </a:ext>
                </a:extLst>
              </p:cNvPr>
              <p:cNvSpPr/>
              <p:nvPr/>
            </p:nvSpPr>
            <p:spPr>
              <a:xfrm>
                <a:off x="3114023" y="3608351"/>
                <a:ext cx="1760803" cy="90255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  <m: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𝑗𝑡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Retângulo 5">
                <a:extLst>
                  <a:ext uri="{FF2B5EF4-FFF2-40B4-BE49-F238E27FC236}">
                    <a16:creationId xmlns:a16="http://schemas.microsoft.com/office/drawing/2014/main" id="{17D11378-BD2E-45AF-B57C-E557058073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4023" y="3608351"/>
                <a:ext cx="1760803" cy="90255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tângulo 9">
                <a:extLst>
                  <a:ext uri="{FF2B5EF4-FFF2-40B4-BE49-F238E27FC236}">
                    <a16:creationId xmlns:a16="http://schemas.microsoft.com/office/drawing/2014/main" id="{69DFD62E-21AC-41A4-956A-2ECE310C4FC9}"/>
                  </a:ext>
                </a:extLst>
              </p:cNvPr>
              <p:cNvSpPr/>
              <p:nvPr/>
            </p:nvSpPr>
            <p:spPr>
              <a:xfrm>
                <a:off x="5758178" y="3609498"/>
                <a:ext cx="4349717" cy="8485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𝑖𝑙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Retângulo 9">
                <a:extLst>
                  <a:ext uri="{FF2B5EF4-FFF2-40B4-BE49-F238E27FC236}">
                    <a16:creationId xmlns:a16="http://schemas.microsoft.com/office/drawing/2014/main" id="{69DFD62E-21AC-41A4-956A-2ECE310C4F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8178" y="3609498"/>
                <a:ext cx="4349717" cy="84850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tângulo 10">
                <a:extLst>
                  <a:ext uri="{FF2B5EF4-FFF2-40B4-BE49-F238E27FC236}">
                    <a16:creationId xmlns:a16="http://schemas.microsoft.com/office/drawing/2014/main" id="{52263A6D-4C71-4BC9-9036-C5F569AC27BD}"/>
                  </a:ext>
                </a:extLst>
              </p:cNvPr>
              <p:cNvSpPr/>
              <p:nvPr/>
            </p:nvSpPr>
            <p:spPr>
              <a:xfrm>
                <a:off x="3974934" y="5128966"/>
                <a:ext cx="3566489" cy="8485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Retângulo 10">
                <a:extLst>
                  <a:ext uri="{FF2B5EF4-FFF2-40B4-BE49-F238E27FC236}">
                    <a16:creationId xmlns:a16="http://schemas.microsoft.com/office/drawing/2014/main" id="{52263A6D-4C71-4BC9-9036-C5F569AC27B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4934" y="5128966"/>
                <a:ext cx="3566489" cy="84850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tângulo 11">
                <a:extLst>
                  <a:ext uri="{FF2B5EF4-FFF2-40B4-BE49-F238E27FC236}">
                    <a16:creationId xmlns:a16="http://schemas.microsoft.com/office/drawing/2014/main" id="{C0F8E8E1-2D04-46B7-8F4C-BEB251E5356A}"/>
                  </a:ext>
                </a:extLst>
              </p:cNvPr>
              <p:cNvSpPr/>
              <p:nvPr/>
            </p:nvSpPr>
            <p:spPr>
              <a:xfrm>
                <a:off x="-83037" y="4971291"/>
                <a:ext cx="3974485" cy="97295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500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1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10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10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10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10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00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0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sz="10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10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10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10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0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sz="10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10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sz="1000" i="1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⋮</m:t>
                                    </m:r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sz="1000" i="1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i="1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a:rPr lang="en-US" sz="1000" i="1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𝑁</m:t>
                                        </m:r>
                                        <m:r>
                                          <a:rPr lang="en-US" sz="1000" i="1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sz="1000" i="1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i="1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𝑊</m:t>
                                        </m:r>
                                      </m:e>
                                      <m:sub>
                                        <m:r>
                                          <a:rPr lang="en-US" sz="1000" i="1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𝑁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r>
                  <a:rPr lang="en-US" sz="10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1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𝑙</m:t>
                        </m:r>
                      </m:sub>
                    </m:sSub>
                    <m:r>
                      <a:rPr lang="en-US" sz="10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10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10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10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0</m:t>
                                  </m:r>
                                  <m:r>
                                    <a:rPr lang="en-US" sz="10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0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sz="10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10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10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1</m:t>
                                  </m:r>
                                  <m:r>
                                    <a:rPr lang="en-US" sz="10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0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sz="10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10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sz="1000" i="1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⋮</m:t>
                                    </m:r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sz="1000" i="1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i="1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a:rPr lang="en-US" sz="1000" i="1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𝑁𝑙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sz="1000" i="1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i="1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𝑊</m:t>
                                        </m:r>
                                      </m:e>
                                      <m:sub>
                                        <m:r>
                                          <a:rPr lang="en-US" sz="1000" i="1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𝑁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r>
                  <a:rPr lang="en-US" sz="10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10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10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10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10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00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10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10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10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10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sz="1000" i="1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⋮</m:t>
                                    </m:r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sz="1000" i="1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i="1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sz="1000" i="1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𝑁</m:t>
                                        </m:r>
                                        <m:r>
                                          <a:rPr lang="en-US" sz="1000" i="1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r>
                  <a:rPr lang="en-US" sz="10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10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10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10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10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01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10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10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10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sz="1000" i="1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⋮</m:t>
                                    </m:r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sz="1000" i="1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i="1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sz="1000" i="1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𝑁</m:t>
                                        </m:r>
                                        <m:r>
                                          <a:rPr lang="en-US" sz="1000" i="1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r>
                  <a:rPr lang="en-US" sz="10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𝜀</m:t>
                        </m:r>
                      </m:e>
                      <m:sub>
                        <m:r>
                          <a:rPr lang="en-US" sz="1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sz="10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10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10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US" sz="10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0</m:t>
                                  </m:r>
                                  <m:r>
                                    <a:rPr lang="en-US" sz="10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10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US" sz="10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1</m:t>
                                  </m:r>
                                  <m:r>
                                    <a:rPr lang="en-US" sz="10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10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sz="1000" i="1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⋮</m:t>
                                    </m:r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sz="1000" i="1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i="1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𝜀</m:t>
                                        </m:r>
                                      </m:e>
                                      <m:sub>
                                        <m:r>
                                          <a:rPr lang="en-US" sz="1000" i="1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𝑁𝑡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endParaRPr lang="en-US" sz="1000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Retângulo 11">
                <a:extLst>
                  <a:ext uri="{FF2B5EF4-FFF2-40B4-BE49-F238E27FC236}">
                    <a16:creationId xmlns:a16="http://schemas.microsoft.com/office/drawing/2014/main" id="{C0F8E8E1-2D04-46B7-8F4C-BEB251E535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3037" y="4971291"/>
                <a:ext cx="3974485" cy="97295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tângulo 12">
                <a:extLst>
                  <a:ext uri="{FF2B5EF4-FFF2-40B4-BE49-F238E27FC236}">
                    <a16:creationId xmlns:a16="http://schemas.microsoft.com/office/drawing/2014/main" id="{D28D681C-53DF-4B21-8958-505D31B8AF73}"/>
                  </a:ext>
                </a:extLst>
              </p:cNvPr>
              <p:cNvSpPr/>
              <p:nvPr/>
            </p:nvSpPr>
            <p:spPr>
              <a:xfrm>
                <a:off x="8092983" y="5059381"/>
                <a:ext cx="3242811" cy="7630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Retângulo 12">
                <a:extLst>
                  <a:ext uri="{FF2B5EF4-FFF2-40B4-BE49-F238E27FC236}">
                    <a16:creationId xmlns:a16="http://schemas.microsoft.com/office/drawing/2014/main" id="{D28D681C-53DF-4B21-8958-505D31B8AF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2983" y="5059381"/>
                <a:ext cx="3242811" cy="76309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tângulo 13">
                <a:extLst>
                  <a:ext uri="{FF2B5EF4-FFF2-40B4-BE49-F238E27FC236}">
                    <a16:creationId xmlns:a16="http://schemas.microsoft.com/office/drawing/2014/main" id="{CD6F50B6-79D6-4E0B-8FAB-D4FA134F2256}"/>
                  </a:ext>
                </a:extLst>
              </p:cNvPr>
              <p:cNvSpPr/>
              <p:nvPr/>
            </p:nvSpPr>
            <p:spPr>
              <a:xfrm>
                <a:off x="7933036" y="5800687"/>
                <a:ext cx="4178957" cy="4210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1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1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−1</m:t>
                        </m:r>
                      </m:sup>
                    </m:sSubSup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4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1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1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−1</m:t>
                        </m:r>
                      </m:sup>
                    </m:sSubSup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4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1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1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−1</m:t>
                        </m:r>
                      </m:sup>
                    </m:sSubSup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4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1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1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−1</m:t>
                        </m:r>
                      </m:sup>
                    </m:sSubSup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𝜀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sz="1400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Retângulo 13">
                <a:extLst>
                  <a:ext uri="{FF2B5EF4-FFF2-40B4-BE49-F238E27FC236}">
                    <a16:creationId xmlns:a16="http://schemas.microsoft.com/office/drawing/2014/main" id="{CD6F50B6-79D6-4E0B-8FAB-D4FA134F22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3036" y="5800687"/>
                <a:ext cx="4178957" cy="421077"/>
              </a:xfrm>
              <a:prstGeom prst="rect">
                <a:avLst/>
              </a:prstGeom>
              <a:blipFill>
                <a:blip r:embed="rId9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13703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B77C27-CDC0-4247-B871-4EFB609AA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Modelo - GVAR</a:t>
            </a:r>
            <a:endParaRPr lang="en-US" dirty="0"/>
          </a:p>
        </p:txBody>
      </p:sp>
      <p:sp>
        <p:nvSpPr>
          <p:cNvPr id="9" name="Espaço Reservado para Conteúdo 8">
            <a:extLst>
              <a:ext uri="{FF2B5EF4-FFF2-40B4-BE49-F238E27FC236}">
                <a16:creationId xmlns:a16="http://schemas.microsoft.com/office/drawing/2014/main" id="{90A1791F-E3AC-4282-98E3-D6FDB3969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As regiões utilizadas no modelo GVAR serão as mesorregiões definidas pelo Instituto Brasileiro de Geografia e Estatística em 2015.</a:t>
            </a:r>
            <a:endParaRPr lang="en-US" dirty="0"/>
          </a:p>
          <a:p>
            <a:r>
              <a:rPr lang="pt-BR" dirty="0"/>
              <a:t>O modelo do mercado de trabalho consistirá em trabalhadores admitidos e desconectados do mercado de trabalho.</a:t>
            </a:r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As variáveis ​​macroeconômicas são modeladas em uma Unidade Dominante.</a:t>
            </a:r>
          </a:p>
          <a:p>
            <a:pPr lvl="1"/>
            <a:r>
              <a:rPr lang="pt-BR" dirty="0"/>
              <a:t>A Unidade Dominante conterá o nível logarítmico da produção industrial brasileira com um feedback das regiões:</a:t>
            </a:r>
            <a:endParaRPr lang="en-US" dirty="0"/>
          </a:p>
          <a:p>
            <a:endParaRPr lang="pt-BR" dirty="0"/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tângulo 3">
                <a:extLst>
                  <a:ext uri="{FF2B5EF4-FFF2-40B4-BE49-F238E27FC236}">
                    <a16:creationId xmlns:a16="http://schemas.microsoft.com/office/drawing/2014/main" id="{90AB171E-0A69-48F1-88CC-CA0632A6BA6F}"/>
                  </a:ext>
                </a:extLst>
              </p:cNvPr>
              <p:cNvSpPr/>
              <p:nvPr/>
            </p:nvSpPr>
            <p:spPr>
              <a:xfrm>
                <a:off x="1485654" y="3429000"/>
                <a:ext cx="1602105" cy="61209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𝐴𝑑𝑚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𝑖𝑡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𝐷𝑖𝑠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𝑖𝑡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Retângulo 3">
                <a:extLst>
                  <a:ext uri="{FF2B5EF4-FFF2-40B4-BE49-F238E27FC236}">
                    <a16:creationId xmlns:a16="http://schemas.microsoft.com/office/drawing/2014/main" id="{90AB171E-0A69-48F1-88CC-CA0632A6BA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5654" y="3429000"/>
                <a:ext cx="1602105" cy="6120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tângulo 4">
                <a:extLst>
                  <a:ext uri="{FF2B5EF4-FFF2-40B4-BE49-F238E27FC236}">
                    <a16:creationId xmlns:a16="http://schemas.microsoft.com/office/drawing/2014/main" id="{1F643792-1DC6-485D-B3CB-77CDC494ADE6}"/>
                  </a:ext>
                </a:extLst>
              </p:cNvPr>
              <p:cNvSpPr/>
              <p:nvPr/>
            </p:nvSpPr>
            <p:spPr>
              <a:xfrm>
                <a:off x="8156757" y="3232776"/>
                <a:ext cx="2190022" cy="90255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𝐷𝑖𝑠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  <m: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𝐷𝑖𝑠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𝑗𝑡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Retângulo 4">
                <a:extLst>
                  <a:ext uri="{FF2B5EF4-FFF2-40B4-BE49-F238E27FC236}">
                    <a16:creationId xmlns:a16="http://schemas.microsoft.com/office/drawing/2014/main" id="{1F643792-1DC6-485D-B3CB-77CDC494AD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6757" y="3232776"/>
                <a:ext cx="2190022" cy="90255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tângulo 5">
                <a:extLst>
                  <a:ext uri="{FF2B5EF4-FFF2-40B4-BE49-F238E27FC236}">
                    <a16:creationId xmlns:a16="http://schemas.microsoft.com/office/drawing/2014/main" id="{2AA91CAD-B6B6-4AED-B931-D75661808B71}"/>
                  </a:ext>
                </a:extLst>
              </p:cNvPr>
              <p:cNvSpPr/>
              <p:nvPr/>
            </p:nvSpPr>
            <p:spPr>
              <a:xfrm>
                <a:off x="5386552" y="3186850"/>
                <a:ext cx="2464200" cy="90255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𝐴𝑑𝑚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  <m: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𝐴𝑑𝑚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𝑗𝑡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Retângulo 5">
                <a:extLst>
                  <a:ext uri="{FF2B5EF4-FFF2-40B4-BE49-F238E27FC236}">
                    <a16:creationId xmlns:a16="http://schemas.microsoft.com/office/drawing/2014/main" id="{2AA91CAD-B6B6-4AED-B931-D75661808B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6552" y="3186850"/>
                <a:ext cx="2464200" cy="90255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tângulo 6">
                <a:extLst>
                  <a:ext uri="{FF2B5EF4-FFF2-40B4-BE49-F238E27FC236}">
                    <a16:creationId xmlns:a16="http://schemas.microsoft.com/office/drawing/2014/main" id="{AC39D2AE-DA8F-4AB4-8F69-77A3F4A93CB8}"/>
                  </a:ext>
                </a:extLst>
              </p:cNvPr>
              <p:cNvSpPr/>
              <p:nvPr/>
            </p:nvSpPr>
            <p:spPr>
              <a:xfrm>
                <a:off x="3476133" y="3380685"/>
                <a:ext cx="1604414" cy="7087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  <m: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𝐴𝑑𝑚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𝑖𝑡</m:t>
                                    </m:r>
                                  </m:sub>
                                  <m:sup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𝐷𝑖𝑠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𝑖𝑡</m:t>
                                    </m:r>
                                  </m:sub>
                                  <m:sup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Retângulo 6">
                <a:extLst>
                  <a:ext uri="{FF2B5EF4-FFF2-40B4-BE49-F238E27FC236}">
                    <a16:creationId xmlns:a16="http://schemas.microsoft.com/office/drawing/2014/main" id="{AC39D2AE-DA8F-4AB4-8F69-77A3F4A93C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6133" y="3380685"/>
                <a:ext cx="1604414" cy="7087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tângulo 10">
                <a:extLst>
                  <a:ext uri="{FF2B5EF4-FFF2-40B4-BE49-F238E27FC236}">
                    <a16:creationId xmlns:a16="http://schemas.microsoft.com/office/drawing/2014/main" id="{E2EF7AAE-5AB2-4E7C-B45E-ABB31A5DB8AA}"/>
                  </a:ext>
                </a:extLst>
              </p:cNvPr>
              <p:cNvSpPr/>
              <p:nvPr/>
            </p:nvSpPr>
            <p:spPr>
              <a:xfrm>
                <a:off x="1841595" y="5323396"/>
                <a:ext cx="230595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𝑙𝑛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𝐼𝑛𝑑𝑃𝑟𝑜𝑑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Retângulo 10">
                <a:extLst>
                  <a:ext uri="{FF2B5EF4-FFF2-40B4-BE49-F238E27FC236}">
                    <a16:creationId xmlns:a16="http://schemas.microsoft.com/office/drawing/2014/main" id="{E2EF7AAE-5AB2-4E7C-B45E-ABB31A5DB8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1595" y="5323396"/>
                <a:ext cx="2305951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tângulo 11">
                <a:extLst>
                  <a:ext uri="{FF2B5EF4-FFF2-40B4-BE49-F238E27FC236}">
                    <a16:creationId xmlns:a16="http://schemas.microsoft.com/office/drawing/2014/main" id="{7E5A7F30-0008-4763-830F-4440A27519EE}"/>
                  </a:ext>
                </a:extLst>
              </p:cNvPr>
              <p:cNvSpPr/>
              <p:nvPr/>
            </p:nvSpPr>
            <p:spPr>
              <a:xfrm>
                <a:off x="5260556" y="5083811"/>
                <a:ext cx="5180393" cy="8485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Φ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𝜅</m:t>
                              </m:r>
                            </m:e>
                            <m:sub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𝜅</m:t>
                                  </m:r>
                                </m:e>
                                <m:sub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p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Λ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  <m:sup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</m:e>
                          </m:nary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Retângulo 11">
                <a:extLst>
                  <a:ext uri="{FF2B5EF4-FFF2-40B4-BE49-F238E27FC236}">
                    <a16:creationId xmlns:a16="http://schemas.microsoft.com/office/drawing/2014/main" id="{7E5A7F30-0008-4763-830F-4440A27519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0556" y="5083811"/>
                <a:ext cx="5180393" cy="84850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2439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7D48EE-0895-470C-977A-3EABB32EA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Modelo - Matriz de pesos W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404F420-6597-46BF-AD7C-5704465BC8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 matriz de peso </a:t>
            </a:r>
            <a:r>
              <a:rPr lang="pt-BR" i="1" dirty="0" err="1"/>
              <a:t>Wi</a:t>
            </a:r>
            <a:r>
              <a:rPr lang="pt-BR" dirty="0"/>
              <a:t> deve capturar a importância de todas as outras regiões para a região i (DI MAURO, PESARAN, 2013).</a:t>
            </a:r>
          </a:p>
          <a:p>
            <a:r>
              <a:rPr lang="pt-BR" dirty="0"/>
              <a:t>Determinar a importância de uma região para outra é determinar a importância de um mercado de trabalho para outro mercado de trabalho.</a:t>
            </a:r>
          </a:p>
          <a:p>
            <a:r>
              <a:rPr lang="pt-BR" dirty="0"/>
              <a:t>Cada região tem seu próprio mercado de trabalho.</a:t>
            </a:r>
          </a:p>
          <a:p>
            <a:pPr lvl="1"/>
            <a:r>
              <a:rPr lang="pt-BR" dirty="0"/>
              <a:t>Os trabalhadores trocam livremente os mercados.</a:t>
            </a:r>
          </a:p>
          <a:p>
            <a:pPr lvl="1"/>
            <a:r>
              <a:rPr lang="pt-BR" dirty="0"/>
              <a:t>Para um trabalhador se deslocar para outra região, deve haver uma conexão entre essas regiões.</a:t>
            </a:r>
          </a:p>
          <a:p>
            <a:r>
              <a:rPr lang="pt-BR" dirty="0"/>
              <a:t>A importância da região j para a região i será uma função das conexões entre elas. Assume-se um peso igual a todas as conexões, resultando em uma função linear.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7431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A9BB9090-9AED-460E-B160-F143ACB79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Modelo - Matriz de pesos W</a:t>
            </a:r>
            <a:endParaRPr lang="en-US" dirty="0"/>
          </a:p>
        </p:txBody>
      </p:sp>
      <p:pic>
        <p:nvPicPr>
          <p:cNvPr id="25" name="Espaço Reservado para Conteúdo 24">
            <a:extLst>
              <a:ext uri="{FF2B5EF4-FFF2-40B4-BE49-F238E27FC236}">
                <a16:creationId xmlns:a16="http://schemas.microsoft.com/office/drawing/2014/main" id="{99724E78-9162-4C56-B168-77A5868CA7B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963" y="2112192"/>
            <a:ext cx="4938712" cy="3490867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Espaço Reservado para Conteúdo 4">
                <a:extLst>
                  <a:ext uri="{FF2B5EF4-FFF2-40B4-BE49-F238E27FC236}">
                    <a16:creationId xmlns:a16="http://schemas.microsoft.com/office/drawing/2014/main" id="{05148E64-C62D-4F8D-9D06-5E413D7577F5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pt-BR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pt-BR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pt-BR" smtClean="0">
                            <a:latin typeface="Cambria Math" panose="02040503050406030204" pitchFamily="18" charset="0"/>
                          </a:rPr>
                          <m:t>𝐽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…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𝑖𝑁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</m:num>
                      <m:den>
                        <m:nary>
                          <m:naryPr>
                            <m:chr m:val="∑"/>
                            <m:limLoc m:val="undOvr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</m:e>
                        </m:nary>
                      </m:den>
                    </m:f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pt-BR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pt-BR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pt-BR" smtClean="0">
                            <a:latin typeface="Cambria Math" panose="02040503050406030204" pitchFamily="18" charset="0"/>
                          </a:rPr>
                          <m:t>𝐽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pt-BR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  <m:e>
                                  <m:r>
                                    <a:rPr lang="pt-BR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mr>
                            </m:m>
                          </m:e>
                        </m:d>
                      </m:num>
                      <m:den>
                        <m:r>
                          <a:rPr lang="pt-BR" smtClean="0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pt-BR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pt-BR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pt-BR" smtClean="0">
                                  <a:latin typeface="Cambria Math" panose="02040503050406030204" pitchFamily="18" charset="0"/>
                                </a:rPr>
                                <m:t>.625</m:t>
                              </m:r>
                            </m:e>
                            <m:e>
                              <m:r>
                                <a:rPr lang="pt-BR" smtClean="0">
                                  <a:latin typeface="Cambria Math" panose="02040503050406030204" pitchFamily="18" charset="0"/>
                                </a:rPr>
                                <m:t>0.375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Espaço Reservado para Conteúdo 4">
                <a:extLst>
                  <a:ext uri="{FF2B5EF4-FFF2-40B4-BE49-F238E27FC236}">
                    <a16:creationId xmlns:a16="http://schemas.microsoft.com/office/drawing/2014/main" id="{05148E64-C62D-4F8D-9D06-5E413D7577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Agrupar 20">
            <a:extLst>
              <a:ext uri="{FF2B5EF4-FFF2-40B4-BE49-F238E27FC236}">
                <a16:creationId xmlns:a16="http://schemas.microsoft.com/office/drawing/2014/main" id="{E4BC3CC7-42E5-4930-83C0-57C607C0824E}"/>
              </a:ext>
            </a:extLst>
          </p:cNvPr>
          <p:cNvGrpSpPr/>
          <p:nvPr/>
        </p:nvGrpSpPr>
        <p:grpSpPr>
          <a:xfrm>
            <a:off x="2276571" y="2255363"/>
            <a:ext cx="3244335" cy="2264879"/>
            <a:chOff x="4617720" y="2408407"/>
            <a:chExt cx="3654647" cy="2519709"/>
          </a:xfrm>
        </p:grpSpPr>
        <p:cxnSp>
          <p:nvCxnSpPr>
            <p:cNvPr id="32" name="Conector reto 31">
              <a:extLst>
                <a:ext uri="{FF2B5EF4-FFF2-40B4-BE49-F238E27FC236}">
                  <a16:creationId xmlns:a16="http://schemas.microsoft.com/office/drawing/2014/main" id="{EACDF21F-D7BB-49F5-A380-DD14858E09C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388634" y="3462787"/>
              <a:ext cx="623546" cy="683763"/>
            </a:xfrm>
            <a:prstGeom prst="line">
              <a:avLst/>
            </a:prstGeom>
            <a:ln w="254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ector reto 42">
              <a:extLst>
                <a:ext uri="{FF2B5EF4-FFF2-40B4-BE49-F238E27FC236}">
                  <a16:creationId xmlns:a16="http://schemas.microsoft.com/office/drawing/2014/main" id="{3AD50819-3301-412F-8E2B-95D8B039D1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19136" y="4146550"/>
              <a:ext cx="993044" cy="0"/>
            </a:xfrm>
            <a:prstGeom prst="line">
              <a:avLst/>
            </a:prstGeom>
            <a:ln w="254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Conector reto 71">
              <a:extLst>
                <a:ext uri="{FF2B5EF4-FFF2-40B4-BE49-F238E27FC236}">
                  <a16:creationId xmlns:a16="http://schemas.microsoft.com/office/drawing/2014/main" id="{F4399628-09DD-4C22-BED0-5910F662F047}"/>
                </a:ext>
              </a:extLst>
            </p:cNvPr>
            <p:cNvCxnSpPr>
              <a:cxnSpLocks/>
            </p:cNvCxnSpPr>
            <p:nvPr/>
          </p:nvCxnSpPr>
          <p:spPr>
            <a:xfrm>
              <a:off x="5388634" y="3462787"/>
              <a:ext cx="2212316" cy="1280663"/>
            </a:xfrm>
            <a:prstGeom prst="line">
              <a:avLst/>
            </a:prstGeom>
            <a:ln w="254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Conector reto 74">
              <a:extLst>
                <a:ext uri="{FF2B5EF4-FFF2-40B4-BE49-F238E27FC236}">
                  <a16:creationId xmlns:a16="http://schemas.microsoft.com/office/drawing/2014/main" id="{A9237434-87AA-40B8-B3F8-02A8630B7107}"/>
                </a:ext>
              </a:extLst>
            </p:cNvPr>
            <p:cNvCxnSpPr>
              <a:cxnSpLocks/>
            </p:cNvCxnSpPr>
            <p:nvPr/>
          </p:nvCxnSpPr>
          <p:spPr>
            <a:xfrm>
              <a:off x="5019136" y="4146552"/>
              <a:ext cx="2581814" cy="596898"/>
            </a:xfrm>
            <a:prstGeom prst="line">
              <a:avLst/>
            </a:prstGeom>
            <a:ln w="254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ector reto 77">
              <a:extLst>
                <a:ext uri="{FF2B5EF4-FFF2-40B4-BE49-F238E27FC236}">
                  <a16:creationId xmlns:a16="http://schemas.microsoft.com/office/drawing/2014/main" id="{6CDD55DC-29DE-44EF-9A85-A57BC008A0CB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3608324"/>
              <a:ext cx="1504950" cy="1135126"/>
            </a:xfrm>
            <a:prstGeom prst="line">
              <a:avLst/>
            </a:prstGeom>
            <a:ln w="254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Conector reto 93">
              <a:extLst>
                <a:ext uri="{FF2B5EF4-FFF2-40B4-BE49-F238E27FC236}">
                  <a16:creationId xmlns:a16="http://schemas.microsoft.com/office/drawing/2014/main" id="{BEBBF68C-6132-4322-BCED-290BFEB5559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88634" y="2640330"/>
              <a:ext cx="303506" cy="802132"/>
            </a:xfrm>
            <a:prstGeom prst="line">
              <a:avLst/>
            </a:prstGeom>
            <a:ln w="254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Conector reto 96">
              <a:extLst>
                <a:ext uri="{FF2B5EF4-FFF2-40B4-BE49-F238E27FC236}">
                  <a16:creationId xmlns:a16="http://schemas.microsoft.com/office/drawing/2014/main" id="{876ABE8E-1B21-45B9-94C2-5688A3000C3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2891790"/>
              <a:ext cx="259080" cy="716534"/>
            </a:xfrm>
            <a:prstGeom prst="line">
              <a:avLst/>
            </a:prstGeom>
            <a:ln w="254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Conector reto 99">
              <a:extLst>
                <a:ext uri="{FF2B5EF4-FFF2-40B4-BE49-F238E27FC236}">
                  <a16:creationId xmlns:a16="http://schemas.microsoft.com/office/drawing/2014/main" id="{D8704355-ADE9-49BE-9F11-958414B4E2B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17720" y="2640330"/>
              <a:ext cx="194310" cy="617220"/>
            </a:xfrm>
            <a:prstGeom prst="line">
              <a:avLst/>
            </a:prstGeom>
            <a:ln w="254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CaixaDeTexto 2">
              <a:extLst>
                <a:ext uri="{FF2B5EF4-FFF2-40B4-BE49-F238E27FC236}">
                  <a16:creationId xmlns:a16="http://schemas.microsoft.com/office/drawing/2014/main" id="{113AFF15-B03D-4EB4-89D6-83FB1E27E232}"/>
                </a:ext>
              </a:extLst>
            </p:cNvPr>
            <p:cNvSpPr txBox="1"/>
            <p:nvPr/>
          </p:nvSpPr>
          <p:spPr>
            <a:xfrm>
              <a:off x="4790632" y="2408407"/>
              <a:ext cx="3064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a</a:t>
              </a:r>
              <a:endParaRPr lang="en-US" dirty="0"/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ED83FCF5-2B69-45E2-82C6-006BD0C2ADD9}"/>
                </a:ext>
              </a:extLst>
            </p:cNvPr>
            <p:cNvSpPr txBox="1"/>
            <p:nvPr/>
          </p:nvSpPr>
          <p:spPr>
            <a:xfrm>
              <a:off x="5941150" y="4009882"/>
              <a:ext cx="710686" cy="4293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d, e</a:t>
              </a:r>
              <a:endParaRPr lang="en-US" dirty="0"/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22B6D633-73E7-4ECB-B433-EF86973D4089}"/>
                </a:ext>
              </a:extLst>
            </p:cNvPr>
            <p:cNvSpPr txBox="1"/>
            <p:nvPr/>
          </p:nvSpPr>
          <p:spPr>
            <a:xfrm>
              <a:off x="7529920" y="4558784"/>
              <a:ext cx="7424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f, g, h</a:t>
              </a:r>
              <a:endParaRPr lang="en-US" dirty="0"/>
            </a:p>
          </p:txBody>
        </p:sp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id="{08D69591-913C-42C7-8212-27E55F38DF35}"/>
                </a:ext>
              </a:extLst>
            </p:cNvPr>
            <p:cNvSpPr txBox="1"/>
            <p:nvPr/>
          </p:nvSpPr>
          <p:spPr>
            <a:xfrm>
              <a:off x="6347882" y="2677449"/>
              <a:ext cx="3048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c</a:t>
              </a:r>
              <a:endParaRPr lang="en-US" dirty="0"/>
            </a:p>
          </p:txBody>
        </p:sp>
        <p:sp>
          <p:nvSpPr>
            <p:cNvPr id="20" name="CaixaDeTexto 19">
              <a:extLst>
                <a:ext uri="{FF2B5EF4-FFF2-40B4-BE49-F238E27FC236}">
                  <a16:creationId xmlns:a16="http://schemas.microsoft.com/office/drawing/2014/main" id="{CC64D10E-6D7C-41B1-BD7F-1F5EBB35C542}"/>
                </a:ext>
              </a:extLst>
            </p:cNvPr>
            <p:cNvSpPr txBox="1"/>
            <p:nvPr/>
          </p:nvSpPr>
          <p:spPr>
            <a:xfrm>
              <a:off x="5676936" y="2464008"/>
              <a:ext cx="3337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b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9134945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CC7027-3DF5-4EBF-88BA-05ED988CE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Dados</a:t>
            </a:r>
            <a:endParaRPr lang="en-US" dirty="0"/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232630AC-F189-4040-A1F7-5A0B3FCEB4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88902897"/>
              </p:ext>
            </p:extLst>
          </p:nvPr>
        </p:nvGraphicFramePr>
        <p:xfrm>
          <a:off x="1096963" y="1846263"/>
          <a:ext cx="100584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22516">
                  <a:extLst>
                    <a:ext uri="{9D8B030D-6E8A-4147-A177-3AD203B41FA5}">
                      <a16:colId xmlns:a16="http://schemas.microsoft.com/office/drawing/2014/main" val="4050563245"/>
                    </a:ext>
                  </a:extLst>
                </a:gridCol>
                <a:gridCol w="1593251">
                  <a:extLst>
                    <a:ext uri="{9D8B030D-6E8A-4147-A177-3AD203B41FA5}">
                      <a16:colId xmlns:a16="http://schemas.microsoft.com/office/drawing/2014/main" val="3923343944"/>
                    </a:ext>
                  </a:extLst>
                </a:gridCol>
                <a:gridCol w="1619403">
                  <a:extLst>
                    <a:ext uri="{9D8B030D-6E8A-4147-A177-3AD203B41FA5}">
                      <a16:colId xmlns:a16="http://schemas.microsoft.com/office/drawing/2014/main" val="1595454706"/>
                    </a:ext>
                  </a:extLst>
                </a:gridCol>
                <a:gridCol w="2623230">
                  <a:extLst>
                    <a:ext uri="{9D8B030D-6E8A-4147-A177-3AD203B41FA5}">
                      <a16:colId xmlns:a16="http://schemas.microsoft.com/office/drawing/2014/main" val="4095436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pt-BR" sz="1800" noProof="0" dirty="0">
                          <a:effectLst/>
                        </a:rPr>
                        <a:t>Dados</a:t>
                      </a:r>
                      <a:endParaRPr lang="pt-BR" sz="18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598" marR="6559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pt-BR" sz="1800" noProof="0">
                          <a:effectLst/>
                        </a:rPr>
                        <a:t>Fonte</a:t>
                      </a:r>
                      <a:endParaRPr lang="pt-BR" sz="1800" noProof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598" marR="6559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pt-BR" sz="1800" noProof="0" dirty="0">
                          <a:effectLst/>
                        </a:rPr>
                        <a:t>Frequência</a:t>
                      </a:r>
                      <a:endParaRPr lang="pt-BR" sz="18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598" marR="6559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pt-BR" sz="1800" noProof="0" dirty="0" err="1">
                          <a:effectLst/>
                        </a:rPr>
                        <a:t>Periodo</a:t>
                      </a:r>
                      <a:endParaRPr lang="pt-BR" sz="18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598" marR="65598" marT="0" marB="0"/>
                </a:tc>
                <a:extLst>
                  <a:ext uri="{0D108BD9-81ED-4DB2-BD59-A6C34878D82A}">
                    <a16:rowId xmlns:a16="http://schemas.microsoft.com/office/drawing/2014/main" val="7141299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pt-BR" sz="1800" noProof="0">
                          <a:effectLst/>
                        </a:rPr>
                        <a:t>Produção Industrial Brasileira</a:t>
                      </a:r>
                      <a:endParaRPr lang="pt-BR" sz="1800" noProof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598" marR="6559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pt-BR" sz="1800" noProof="0" dirty="0">
                          <a:effectLst/>
                        </a:rPr>
                        <a:t>IPEA </a:t>
                      </a:r>
                      <a:r>
                        <a:rPr lang="pt-BR" sz="1800" baseline="30000" noProof="0" dirty="0">
                          <a:effectLst/>
                        </a:rPr>
                        <a:t>(1)</a:t>
                      </a:r>
                      <a:endParaRPr lang="pt-BR" sz="18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598" marR="6559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pt-BR" sz="1800" noProof="0">
                          <a:effectLst/>
                        </a:rPr>
                        <a:t>Mensal</a:t>
                      </a:r>
                      <a:endParaRPr lang="pt-BR" sz="1800" noProof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598" marR="6559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pt-BR" sz="1800" noProof="0" dirty="0">
                          <a:effectLst/>
                        </a:rPr>
                        <a:t>2004-01 a 2016-12</a:t>
                      </a:r>
                      <a:endParaRPr lang="pt-BR" sz="18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598" marR="65598" marT="0" marB="0"/>
                </a:tc>
                <a:extLst>
                  <a:ext uri="{0D108BD9-81ED-4DB2-BD59-A6C34878D82A}">
                    <a16:rowId xmlns:a16="http://schemas.microsoft.com/office/drawing/2014/main" val="4264432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pt-BR" sz="1800" noProof="0" dirty="0">
                          <a:effectLst/>
                        </a:rPr>
                        <a:t>Emprego e Desemprego</a:t>
                      </a:r>
                      <a:endParaRPr lang="pt-BR" sz="18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598" marR="6559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pt-BR" sz="1800" noProof="0" dirty="0">
                          <a:effectLst/>
                        </a:rPr>
                        <a:t>CAGED </a:t>
                      </a:r>
                      <a:r>
                        <a:rPr lang="pt-BR" sz="1800" baseline="30000" noProof="0" dirty="0">
                          <a:effectLst/>
                        </a:rPr>
                        <a:t>(2)</a:t>
                      </a:r>
                      <a:endParaRPr lang="pt-BR" sz="18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598" marR="6559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pt-BR" sz="1800" noProof="0" dirty="0">
                          <a:effectLst/>
                        </a:rPr>
                        <a:t>Mensal</a:t>
                      </a:r>
                      <a:endParaRPr lang="pt-BR" sz="18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598" marR="6559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pt-BR" sz="1800" noProof="0" dirty="0">
                          <a:effectLst/>
                        </a:rPr>
                        <a:t>2004-01 a 2016-12</a:t>
                      </a:r>
                      <a:endParaRPr lang="pt-BR" sz="18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598" marR="65598" marT="0" marB="0"/>
                </a:tc>
                <a:extLst>
                  <a:ext uri="{0D108BD9-81ED-4DB2-BD59-A6C34878D82A}">
                    <a16:rowId xmlns:a16="http://schemas.microsoft.com/office/drawing/2014/main" val="26903925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pt-BR" sz="1800" noProof="0" dirty="0">
                          <a:effectLst/>
                        </a:rPr>
                        <a:t>Mesorregiões e municípios</a:t>
                      </a:r>
                      <a:endParaRPr lang="pt-BR" sz="18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598" marR="6559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pt-BR" sz="1800" noProof="0" dirty="0">
                          <a:effectLst/>
                        </a:rPr>
                        <a:t>IBGE </a:t>
                      </a:r>
                      <a:r>
                        <a:rPr lang="pt-BR" sz="1800" baseline="30000" noProof="0" dirty="0">
                          <a:effectLst/>
                        </a:rPr>
                        <a:t>(3)</a:t>
                      </a:r>
                      <a:endParaRPr lang="pt-BR" sz="18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598" marR="6559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pt-BR" sz="1800" noProof="0" dirty="0">
                          <a:effectLst/>
                        </a:rPr>
                        <a:t>N/A</a:t>
                      </a:r>
                      <a:endParaRPr lang="pt-BR" sz="18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598" marR="6559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pt-BR" sz="1800" noProof="0" dirty="0">
                          <a:effectLst/>
                        </a:rPr>
                        <a:t>base 2015</a:t>
                      </a:r>
                      <a:endParaRPr lang="pt-BR" sz="18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598" marR="65598" marT="0" marB="0"/>
                </a:tc>
                <a:extLst>
                  <a:ext uri="{0D108BD9-81ED-4DB2-BD59-A6C34878D82A}">
                    <a16:rowId xmlns:a16="http://schemas.microsoft.com/office/drawing/2014/main" val="5776428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pt-BR" sz="1800" noProof="0" dirty="0">
                          <a:effectLst/>
                        </a:rPr>
                        <a:t>Conexão entre regiões</a:t>
                      </a:r>
                      <a:endParaRPr lang="pt-BR" sz="18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598" marR="6559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pt-BR" sz="1800" noProof="0" dirty="0">
                          <a:effectLst/>
                        </a:rPr>
                        <a:t>IBGE </a:t>
                      </a:r>
                      <a:r>
                        <a:rPr lang="pt-BR" sz="1800" baseline="30000" noProof="0" dirty="0">
                          <a:effectLst/>
                        </a:rPr>
                        <a:t>(3)</a:t>
                      </a:r>
                      <a:endParaRPr lang="pt-BR" sz="18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598" marR="6559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pt-BR" sz="1800" noProof="0" dirty="0">
                          <a:effectLst/>
                        </a:rPr>
                        <a:t>N/A</a:t>
                      </a:r>
                      <a:endParaRPr lang="pt-BR" sz="18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598" marR="6559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pt-BR" sz="1800" noProof="0" dirty="0">
                          <a:effectLst/>
                        </a:rPr>
                        <a:t>base 2007</a:t>
                      </a:r>
                      <a:endParaRPr lang="pt-BR" sz="1800" noProof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598" marR="65598" marT="0" marB="0"/>
                </a:tc>
                <a:extLst>
                  <a:ext uri="{0D108BD9-81ED-4DB2-BD59-A6C34878D82A}">
                    <a16:rowId xmlns:a16="http://schemas.microsoft.com/office/drawing/2014/main" val="789913418"/>
                  </a:ext>
                </a:extLst>
              </a:tr>
            </a:tbl>
          </a:graphicData>
        </a:graphic>
      </p:graphicFrame>
      <p:graphicFrame>
        <p:nvGraphicFramePr>
          <p:cNvPr id="7" name="Espaço Reservado para Conteúdo 3">
            <a:extLst>
              <a:ext uri="{FF2B5EF4-FFF2-40B4-BE49-F238E27FC236}">
                <a16:creationId xmlns:a16="http://schemas.microsoft.com/office/drawing/2014/main" id="{F79F29E5-5D36-4064-9ADC-69ED02AB48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33944179"/>
              </p:ext>
            </p:extLst>
          </p:nvPr>
        </p:nvGraphicFramePr>
        <p:xfrm>
          <a:off x="1096963" y="4077213"/>
          <a:ext cx="10058400" cy="17068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17600">
                  <a:extLst>
                    <a:ext uri="{9D8B030D-6E8A-4147-A177-3AD203B41FA5}">
                      <a16:colId xmlns:a16="http://schemas.microsoft.com/office/drawing/2014/main" val="2438052065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203442051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1319870300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349878328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3069725850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4193586031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1881453280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1017180685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35560764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Region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892" marR="7289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Series Name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892" marR="7289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Mean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892" marR="7289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Median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892" marR="7289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Max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892" marR="7289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Min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892" marR="7289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Std. dev. 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892" marR="7289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Skewness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892" marR="7289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Kurtosis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892" marR="72892" marT="0" marB="0"/>
                </a:tc>
                <a:extLst>
                  <a:ext uri="{0D108BD9-81ED-4DB2-BD59-A6C34878D82A}">
                    <a16:rowId xmlns:a16="http://schemas.microsoft.com/office/drawing/2014/main" val="11994397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Global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892" marR="7289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Ind. Prod.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892" marR="7289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4.5503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892" marR="7289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4.5502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892" marR="7289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4.7238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892" marR="7289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4.3041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892" marR="7289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0.0963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892" marR="7289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-0.3792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892" marR="7289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2.5900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892" marR="72892" marT="0" marB="0"/>
                </a:tc>
                <a:extLst>
                  <a:ext uri="{0D108BD9-81ED-4DB2-BD59-A6C34878D82A}">
                    <a16:rowId xmlns:a16="http://schemas.microsoft.com/office/drawing/2014/main" val="314420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effectLst/>
                        </a:rPr>
                        <a:t>Sp</a:t>
                      </a:r>
                      <a:r>
                        <a:rPr lang="en-US" sz="1400" dirty="0">
                          <a:effectLst/>
                        </a:rPr>
                        <a:t> – M. SP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892" marR="7289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Adm.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892" marR="7289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226073.0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892" marR="7289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223610.5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892" marR="7289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329823.0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892" marR="7289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115254.0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892" marR="7289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55443.5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892" marR="7289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-0.0856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892" marR="7289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1.7569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892" marR="72892" marT="0" marB="0"/>
                </a:tc>
                <a:extLst>
                  <a:ext uri="{0D108BD9-81ED-4DB2-BD59-A6C34878D82A}">
                    <a16:rowId xmlns:a16="http://schemas.microsoft.com/office/drawing/2014/main" val="1495170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effectLst/>
                        </a:rPr>
                        <a:t>Sp</a:t>
                      </a:r>
                      <a:r>
                        <a:rPr lang="en-US" sz="1400" dirty="0">
                          <a:effectLst/>
                        </a:rPr>
                        <a:t> – M. SP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892" marR="7289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Disc.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892" marR="7289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212768.2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892" marR="7289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217592.0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892" marR="7289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298117.0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892" marR="7289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107413.0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892" marR="7289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56594.5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892" marR="7289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-0.3070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892" marR="7289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1.8034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892" marR="72892" marT="0" marB="0"/>
                </a:tc>
                <a:extLst>
                  <a:ext uri="{0D108BD9-81ED-4DB2-BD59-A6C34878D82A}">
                    <a16:rowId xmlns:a16="http://schemas.microsoft.com/office/drawing/2014/main" val="40415830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effectLst/>
                        </a:rPr>
                        <a:t>Rj</a:t>
                      </a:r>
                      <a:r>
                        <a:rPr lang="en-US" sz="1400" dirty="0">
                          <a:effectLst/>
                        </a:rPr>
                        <a:t> – M. RJ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892" marR="7289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Adm.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892" marR="7289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95295.5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892" marR="7289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94490.0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892" marR="7289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140206.0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892" marR="7289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56900.0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892" marR="7289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22461.6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892" marR="7289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0.1119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892" marR="7289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1.7417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892" marR="72892" marT="0" marB="0"/>
                </a:tc>
                <a:extLst>
                  <a:ext uri="{0D108BD9-81ED-4DB2-BD59-A6C34878D82A}">
                    <a16:rowId xmlns:a16="http://schemas.microsoft.com/office/drawing/2014/main" val="18495596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effectLst/>
                        </a:rPr>
                        <a:t>Rj</a:t>
                      </a:r>
                      <a:r>
                        <a:rPr lang="en-US" sz="1400" dirty="0">
                          <a:effectLst/>
                        </a:rPr>
                        <a:t> – M. RJ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892" marR="7289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Disc.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892" marR="7289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90694.9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892" marR="7289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92642.5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892" marR="7289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141759.0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892" marR="7289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51785.0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892" marR="7289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23537.8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892" marR="7289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-0.0474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892" marR="7289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1.7966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892" marR="72892" marT="0" marB="0"/>
                </a:tc>
                <a:extLst>
                  <a:ext uri="{0D108BD9-81ED-4DB2-BD59-A6C34878D82A}">
                    <a16:rowId xmlns:a16="http://schemas.microsoft.com/office/drawing/2014/main" val="15762694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Go – DF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892" marR="7289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Adm.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892" marR="7289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22942.6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892" marR="7289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22685.5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892" marR="7289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36420.0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892" marR="7289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12557.0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892" marR="7289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5643.1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892" marR="7289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0.0728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892" marR="7289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1.7380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892" marR="72892" marT="0" marB="0"/>
                </a:tc>
                <a:extLst>
                  <a:ext uri="{0D108BD9-81ED-4DB2-BD59-A6C34878D82A}">
                    <a16:rowId xmlns:a16="http://schemas.microsoft.com/office/drawing/2014/main" val="24772349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Go – DF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892" marR="7289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Disc.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892" marR="7289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22068.6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892" marR="7289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22648.5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892" marR="7289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33552.0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892" marR="7289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10988.0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892" marR="7289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5931.7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892" marR="7289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-0.1269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892" marR="7289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1.7852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892" marR="72892" marT="0" marB="0"/>
                </a:tc>
                <a:extLst>
                  <a:ext uri="{0D108BD9-81ED-4DB2-BD59-A6C34878D82A}">
                    <a16:rowId xmlns:a16="http://schemas.microsoft.com/office/drawing/2014/main" val="3298444823"/>
                  </a:ext>
                </a:extLst>
              </a:tr>
            </a:tbl>
          </a:graphicData>
        </a:graphic>
      </p:graphicFrame>
      <p:sp>
        <p:nvSpPr>
          <p:cNvPr id="8" name="Retângulo 7">
            <a:extLst>
              <a:ext uri="{FF2B5EF4-FFF2-40B4-BE49-F238E27FC236}">
                <a16:creationId xmlns:a16="http://schemas.microsoft.com/office/drawing/2014/main" id="{B977E466-808A-41F0-A1E5-6B623F0848E4}"/>
              </a:ext>
            </a:extLst>
          </p:cNvPr>
          <p:cNvSpPr/>
          <p:nvPr/>
        </p:nvSpPr>
        <p:spPr>
          <a:xfrm>
            <a:off x="1096963" y="5957643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Aft>
                <a:spcPts val="0"/>
              </a:spcAft>
            </a:pPr>
            <a:r>
              <a:rPr lang="en-US" sz="1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Fonte: </a:t>
            </a:r>
            <a:r>
              <a:rPr lang="en-US" sz="12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elaborado</a:t>
            </a:r>
            <a:r>
              <a:rPr lang="en-US" sz="1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pelo</a:t>
            </a:r>
            <a:r>
              <a:rPr lang="en-US" sz="1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autor</a:t>
            </a:r>
            <a:endParaRPr lang="en-US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61308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479208-A630-4200-B506-D6925CE4F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Dados</a:t>
            </a:r>
            <a:endParaRPr lang="en-US" dirty="0"/>
          </a:p>
        </p:txBody>
      </p:sp>
      <p:graphicFrame>
        <p:nvGraphicFramePr>
          <p:cNvPr id="18" name="Espaço Reservado para Conteúdo 17">
            <a:extLst>
              <a:ext uri="{FF2B5EF4-FFF2-40B4-BE49-F238E27FC236}">
                <a16:creationId xmlns:a16="http://schemas.microsoft.com/office/drawing/2014/main" id="{CA5F5597-7B1D-4B43-931C-CB3EC06B14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62382651"/>
              </p:ext>
            </p:extLst>
          </p:nvPr>
        </p:nvGraphicFramePr>
        <p:xfrm>
          <a:off x="1096963" y="1846263"/>
          <a:ext cx="10058400" cy="4022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Retângulo 4">
            <a:extLst>
              <a:ext uri="{FF2B5EF4-FFF2-40B4-BE49-F238E27FC236}">
                <a16:creationId xmlns:a16="http://schemas.microsoft.com/office/drawing/2014/main" id="{2E8CF426-DBE1-4F62-B537-9F5345E8ADC2}"/>
              </a:ext>
            </a:extLst>
          </p:cNvPr>
          <p:cNvSpPr/>
          <p:nvPr/>
        </p:nvSpPr>
        <p:spPr>
          <a:xfrm>
            <a:off x="1066800" y="5868988"/>
            <a:ext cx="10058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pt-BR" sz="1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Figura: Admissão e desligamento de: região metropolitana de São Paulo, região metropolitana do Rio de Janeiro, região do Distrito Federal</a:t>
            </a:r>
            <a:endParaRPr lang="en-US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Fonte: </a:t>
            </a:r>
            <a:r>
              <a:rPr lang="en-US" sz="12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elaborado</a:t>
            </a:r>
            <a:r>
              <a:rPr lang="en-US" sz="1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pelo</a:t>
            </a:r>
            <a:r>
              <a:rPr lang="en-US" sz="1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autor</a:t>
            </a:r>
            <a:endParaRPr lang="en-US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25984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970F34-0887-4F91-8256-596F3F2DB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Resultados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E095A58-6812-45A3-8CEE-A8C761396F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Foram especificados 137 modelos específicos.</a:t>
            </a:r>
          </a:p>
          <a:p>
            <a:pPr lvl="1"/>
            <a:r>
              <a:rPr lang="pt-BR" dirty="0"/>
              <a:t>Variáveis ​​domésticas:  </a:t>
            </a:r>
            <a:r>
              <a:rPr lang="pt-BR" dirty="0" err="1"/>
              <a:t>lag</a:t>
            </a:r>
            <a:r>
              <a:rPr lang="pt-BR" dirty="0"/>
              <a:t> 2 em 98 modelos e </a:t>
            </a:r>
            <a:r>
              <a:rPr lang="pt-BR" dirty="0" err="1"/>
              <a:t>lag</a:t>
            </a:r>
            <a:r>
              <a:rPr lang="pt-BR" dirty="0"/>
              <a:t> 1 em 39 modelos</a:t>
            </a:r>
          </a:p>
          <a:p>
            <a:pPr lvl="1"/>
            <a:r>
              <a:rPr lang="pt-BR" dirty="0"/>
              <a:t>Variáveis ​​estrangeiras: </a:t>
            </a:r>
            <a:r>
              <a:rPr lang="pt-BR" dirty="0" err="1"/>
              <a:t>lag</a:t>
            </a:r>
            <a:r>
              <a:rPr lang="pt-BR" dirty="0"/>
              <a:t> 2 em 91 modelos e </a:t>
            </a:r>
            <a:r>
              <a:rPr lang="pt-BR" dirty="0" err="1"/>
              <a:t>lag</a:t>
            </a:r>
            <a:r>
              <a:rPr lang="pt-BR" dirty="0"/>
              <a:t> 1 em outros 46 modelos.</a:t>
            </a:r>
          </a:p>
          <a:p>
            <a:pPr lvl="1"/>
            <a:r>
              <a:rPr lang="pt-BR" dirty="0"/>
              <a:t>9 modelos com 1 relação de cointegração e 128 modelos com 2 relações de cointegração.</a:t>
            </a:r>
          </a:p>
          <a:p>
            <a:pPr lvl="1"/>
            <a:endParaRPr lang="pt-BR" dirty="0"/>
          </a:p>
          <a:p>
            <a:r>
              <a:rPr lang="pt-BR" dirty="0"/>
              <a:t>Estimou-se diversos cenários para avaliar o impacto da produção industrial no mercado de trabalho.</a:t>
            </a:r>
          </a:p>
          <a:p>
            <a:pPr lvl="1"/>
            <a:r>
              <a:rPr lang="pt-BR" dirty="0"/>
              <a:t>Crescimento anual de 0%: Saldo de emprego negativo pelo menos nos próximos 8 anos.</a:t>
            </a:r>
          </a:p>
          <a:p>
            <a:pPr lvl="1"/>
            <a:r>
              <a:rPr lang="pt-BR" dirty="0"/>
              <a:t>Crescimento anual de 2%: Saldo acumulado positivo de 2,5 milhões de posições de emprego para 8 anos a frente.</a:t>
            </a:r>
          </a:p>
          <a:p>
            <a:pPr lvl="1"/>
            <a:r>
              <a:rPr lang="pt-BR" dirty="0"/>
              <a:t>Cenários de crescimento mais elevado (4%, 6% e 8%) mostram tem melhorias significativas no mercado de trabalho.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10691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DF9C0E-5AF4-45DE-BAA8-76855A744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Resultados</a:t>
            </a:r>
            <a:endParaRPr lang="en-US" dirty="0"/>
          </a:p>
        </p:txBody>
      </p:sp>
      <p:graphicFrame>
        <p:nvGraphicFramePr>
          <p:cNvPr id="8" name="Espaço Reservado para Conteúdo 7">
            <a:extLst>
              <a:ext uri="{FF2B5EF4-FFF2-40B4-BE49-F238E27FC236}">
                <a16:creationId xmlns:a16="http://schemas.microsoft.com/office/drawing/2014/main" id="{0C9D1646-605A-487F-973A-E6F11AC62A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249724"/>
              </p:ext>
            </p:extLst>
          </p:nvPr>
        </p:nvGraphicFramePr>
        <p:xfrm>
          <a:off x="1096963" y="1846263"/>
          <a:ext cx="10058400" cy="44791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Retângulo 2">
            <a:extLst>
              <a:ext uri="{FF2B5EF4-FFF2-40B4-BE49-F238E27FC236}">
                <a16:creationId xmlns:a16="http://schemas.microsoft.com/office/drawing/2014/main" id="{55FFB3EA-426E-494B-B086-C80189283A9A}"/>
              </a:ext>
            </a:extLst>
          </p:cNvPr>
          <p:cNvSpPr/>
          <p:nvPr/>
        </p:nvSpPr>
        <p:spPr>
          <a:xfrm>
            <a:off x="1285335" y="6396335"/>
            <a:ext cx="987002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pt-BR" sz="10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Figura: previsão do emprego liquido acumulado para diferentes cenários de crescimento da produção industrial.</a:t>
            </a:r>
          </a:p>
          <a:p>
            <a:pPr>
              <a:spcAft>
                <a:spcPts val="0"/>
              </a:spcAft>
            </a:pPr>
            <a:r>
              <a:rPr lang="pt-BR" sz="10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Fonte: elaborado pelo autor</a:t>
            </a:r>
            <a:endParaRPr lang="pt-BR" sz="10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51156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1">
            <a:extLst>
              <a:ext uri="{FF2B5EF4-FFF2-40B4-BE49-F238E27FC236}">
                <a16:creationId xmlns:a16="http://schemas.microsoft.com/office/drawing/2014/main" id="{1EAF822B-2833-4FA0-8541-830DB795A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Resultados – Elasticidade</a:t>
            </a:r>
            <a:br>
              <a:rPr lang="pt-BR"/>
            </a:br>
            <a:r>
              <a:rPr lang="pt-BR"/>
              <a:t>5 Regiões</a:t>
            </a:r>
            <a:endParaRPr lang="en-US" dirty="0"/>
          </a:p>
        </p:txBody>
      </p:sp>
      <p:pic>
        <p:nvPicPr>
          <p:cNvPr id="16" name="Espaço Reservado para Conteúdo 18">
            <a:extLst>
              <a:ext uri="{FF2B5EF4-FFF2-40B4-BE49-F238E27FC236}">
                <a16:creationId xmlns:a16="http://schemas.microsoft.com/office/drawing/2014/main" id="{9EB15D6C-99EF-420A-9AFB-EAE0240B56B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9" r="1619"/>
          <a:stretch>
            <a:fillRect/>
          </a:stretch>
        </p:blipFill>
        <p:spPr/>
      </p:pic>
      <p:pic>
        <p:nvPicPr>
          <p:cNvPr id="15" name="Espaço Reservado para Conteúdo 19">
            <a:extLst>
              <a:ext uri="{FF2B5EF4-FFF2-40B4-BE49-F238E27FC236}">
                <a16:creationId xmlns:a16="http://schemas.microsoft.com/office/drawing/2014/main" id="{BF4B805B-FA67-4D7A-8692-B4BF412C97DD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5" r="1635"/>
          <a:stretch>
            <a:fillRect/>
          </a:stretch>
        </p:blipFill>
        <p:spPr/>
      </p:pic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814DB616-615F-4D09-BF17-F928F6280012}"/>
              </a:ext>
            </a:extLst>
          </p:cNvPr>
          <p:cNvSpPr>
            <a:spLocks noGrp="1"/>
          </p:cNvSpPr>
          <p:nvPr>
            <p:ph sz="half" idx="15"/>
          </p:nvPr>
        </p:nvSpPr>
        <p:spPr/>
        <p:txBody>
          <a:bodyPr>
            <a:normAutofit fontScale="92500" lnSpcReduction="10000"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Focando nas cinco principais regiões do Brasil (Norte, Nordeste, Sudeste, Sul e Central), foi possível determinar a elasticidade do emprego em relação à produção industrial para cada região principal.</a:t>
            </a:r>
          </a:p>
          <a:p>
            <a:pPr lvl="1"/>
            <a:r>
              <a:rPr lang="pt-BR"/>
              <a:t>Sul (0.18) -  Nordeste (0.16) - Sudeste (0.1) - Norte (0.06) – Central (0.06)</a:t>
            </a:r>
            <a:endParaRPr lang="pt-BR"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D39C1303-A760-4F73-91CF-95492C1B889D}"/>
              </a:ext>
            </a:extLst>
          </p:cNvPr>
          <p:cNvSpPr/>
          <p:nvPr/>
        </p:nvSpPr>
        <p:spPr>
          <a:xfrm>
            <a:off x="1308962" y="6396335"/>
            <a:ext cx="95740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sz="1000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Figura</a:t>
            </a:r>
            <a:r>
              <a:rPr lang="en-US" sz="1000" dirty="0">
                <a:solidFill>
                  <a:schemeClr val="bg1"/>
                </a:solidFill>
                <a:latin typeface="Times New Roman" panose="02020603050405020304" pitchFamily="18" charset="0"/>
              </a:rPr>
              <a:t>: </a:t>
            </a:r>
            <a:r>
              <a:rPr lang="pt-BR" sz="1000" dirty="0">
                <a:solidFill>
                  <a:schemeClr val="bg1"/>
                </a:solidFill>
                <a:latin typeface="Times New Roman" panose="02020603050405020304" pitchFamily="18" charset="0"/>
              </a:rPr>
              <a:t>Variação da taxa de emprego das grandes regiões para cenários de crescimento da produção industrial de 0% e 4%</a:t>
            </a:r>
            <a:r>
              <a:rPr lang="en-US" sz="1000" dirty="0">
                <a:solidFill>
                  <a:schemeClr val="bg1"/>
                </a:solidFill>
                <a:latin typeface="Times New Roman" panose="02020603050405020304" pitchFamily="18" charset="0"/>
              </a:rPr>
              <a:t>.</a:t>
            </a:r>
          </a:p>
          <a:p>
            <a:r>
              <a:rPr lang="en-US" sz="1000" dirty="0">
                <a:solidFill>
                  <a:schemeClr val="bg1"/>
                </a:solidFill>
                <a:latin typeface="Times New Roman" panose="02020603050405020304" pitchFamily="18" charset="0"/>
              </a:rPr>
              <a:t>Fonte: </a:t>
            </a:r>
            <a:r>
              <a:rPr lang="en-US" sz="1000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elaborado</a:t>
            </a:r>
            <a:r>
              <a:rPr lang="en-US" sz="1000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pelo</a:t>
            </a:r>
            <a:r>
              <a:rPr lang="en-US" sz="1000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autor</a:t>
            </a:r>
            <a:endParaRPr lang="en-US" sz="10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03073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1">
            <a:extLst>
              <a:ext uri="{FF2B5EF4-FFF2-40B4-BE49-F238E27FC236}">
                <a16:creationId xmlns:a16="http://schemas.microsoft.com/office/drawing/2014/main" id="{1EAF822B-2833-4FA0-8541-830DB795A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Resultados – Elasticidade</a:t>
            </a:r>
            <a:br>
              <a:rPr lang="pt-BR"/>
            </a:br>
            <a:r>
              <a:rPr lang="pt-BR"/>
              <a:t>estados Sudeste</a:t>
            </a:r>
            <a:endParaRPr lang="en-US" dirty="0"/>
          </a:p>
        </p:txBody>
      </p:sp>
      <p:sp>
        <p:nvSpPr>
          <p:cNvPr id="9" name="Espaço Reservado para Conteúdo 8">
            <a:extLst>
              <a:ext uri="{FF2B5EF4-FFF2-40B4-BE49-F238E27FC236}">
                <a16:creationId xmlns:a16="http://schemas.microsoft.com/office/drawing/2014/main" id="{AEB8BFE2-19F8-49E6-825C-2F5115EA9276}"/>
              </a:ext>
            </a:extLst>
          </p:cNvPr>
          <p:cNvSpPr>
            <a:spLocks noGrp="1"/>
          </p:cNvSpPr>
          <p:nvPr>
            <p:ph sz="half" idx="15"/>
          </p:nvPr>
        </p:nvSpPr>
        <p:spPr/>
        <p:txBody>
          <a:bodyPr/>
          <a:lstStyle/>
          <a:p>
            <a:pPr lvl="0"/>
            <a:r>
              <a:rPr lang="pt-BR"/>
              <a:t>Analisando os estados da região Sudeste temos:</a:t>
            </a:r>
          </a:p>
          <a:p>
            <a:pPr lvl="1"/>
            <a:r>
              <a:rPr lang="pt-BR"/>
              <a:t>Rio de Janeiro (0.19) - Espírito Santo (0.09) - São Paulo (0.08) - Minas Gerais (0.07)</a:t>
            </a:r>
            <a:endParaRPr lang="pt-BR" dirty="0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50A361D2-9317-4E11-B697-AC7B4212B94D}"/>
              </a:ext>
            </a:extLst>
          </p:cNvPr>
          <p:cNvSpPr/>
          <p:nvPr/>
        </p:nvSpPr>
        <p:spPr>
          <a:xfrm>
            <a:off x="1308962" y="6379543"/>
            <a:ext cx="95740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sz="1000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Figura</a:t>
            </a:r>
            <a:r>
              <a:rPr lang="en-US" sz="1000" dirty="0">
                <a:solidFill>
                  <a:schemeClr val="bg1"/>
                </a:solidFill>
                <a:latin typeface="Times New Roman" panose="02020603050405020304" pitchFamily="18" charset="0"/>
              </a:rPr>
              <a:t>: </a:t>
            </a:r>
            <a:r>
              <a:rPr lang="pt-BR" sz="1000" dirty="0">
                <a:solidFill>
                  <a:schemeClr val="bg1"/>
                </a:solidFill>
                <a:latin typeface="Times New Roman" panose="02020603050405020304" pitchFamily="18" charset="0"/>
              </a:rPr>
              <a:t>Variação da taxa de emprego dos estados do sudeste para cenários de crescimento da produção industrial de 0% e 4%</a:t>
            </a:r>
            <a:r>
              <a:rPr lang="en-US" sz="1000" dirty="0">
                <a:solidFill>
                  <a:schemeClr val="bg1"/>
                </a:solidFill>
                <a:latin typeface="Times New Roman" panose="02020603050405020304" pitchFamily="18" charset="0"/>
              </a:rPr>
              <a:t>. Fonte: </a:t>
            </a:r>
            <a:r>
              <a:rPr lang="en-US" sz="1000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elaborado</a:t>
            </a:r>
            <a:r>
              <a:rPr lang="en-US" sz="1000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pelo</a:t>
            </a:r>
            <a:r>
              <a:rPr lang="en-US" sz="1000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autor</a:t>
            </a:r>
            <a:endParaRPr lang="en-US" sz="1000" dirty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pt-BR" sz="1000" dirty="0">
                <a:solidFill>
                  <a:schemeClr val="bg1"/>
                </a:solidFill>
                <a:latin typeface="Times New Roman" panose="02020603050405020304" pitchFamily="18" charset="0"/>
              </a:rPr>
              <a:t>Mg: Minas Gerais; Es: Espírito Santo; </a:t>
            </a:r>
            <a:r>
              <a:rPr lang="pt-BR" sz="1000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Rj</a:t>
            </a:r>
            <a:r>
              <a:rPr lang="pt-BR" sz="1000" dirty="0">
                <a:solidFill>
                  <a:schemeClr val="bg1"/>
                </a:solidFill>
                <a:latin typeface="Times New Roman" panose="02020603050405020304" pitchFamily="18" charset="0"/>
              </a:rPr>
              <a:t>: Rio de Janeiro; </a:t>
            </a:r>
            <a:r>
              <a:rPr lang="pt-BR" sz="1000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Sp</a:t>
            </a:r>
            <a:r>
              <a:rPr lang="pt-BR" sz="1000" dirty="0">
                <a:solidFill>
                  <a:schemeClr val="bg1"/>
                </a:solidFill>
                <a:latin typeface="Times New Roman" panose="02020603050405020304" pitchFamily="18" charset="0"/>
              </a:rPr>
              <a:t>: São Paulo</a:t>
            </a:r>
            <a:endParaRPr lang="en-US" sz="10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7" name="Espaço Reservado para Conteúdo 5">
            <a:extLst>
              <a:ext uri="{FF2B5EF4-FFF2-40B4-BE49-F238E27FC236}">
                <a16:creationId xmlns:a16="http://schemas.microsoft.com/office/drawing/2014/main" id="{F9D95C91-6961-453F-AD9B-98B69EE860CA}"/>
              </a:ext>
            </a:extLst>
          </p:cNvPr>
          <p:cNvPicPr>
            <a:picLocks noGrp="1"/>
          </p:cNvPicPr>
          <p:nvPr>
            <p:ph type="pic"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5" r="1635"/>
          <a:stretch>
            <a:fillRect/>
          </a:stretch>
        </p:blipFill>
        <p:spPr/>
      </p:pic>
      <p:pic>
        <p:nvPicPr>
          <p:cNvPr id="18" name="Espaço Reservado para Conteúdo 4">
            <a:extLst>
              <a:ext uri="{FF2B5EF4-FFF2-40B4-BE49-F238E27FC236}">
                <a16:creationId xmlns:a16="http://schemas.microsoft.com/office/drawing/2014/main" id="{5F2A50EE-00B9-4148-ACAC-E9145EAF9715}"/>
              </a:ext>
            </a:extLst>
          </p:cNvPr>
          <p:cNvPicPr>
            <a:picLocks noGrp="1"/>
          </p:cNvPicPr>
          <p:nvPr>
            <p:ph type="pic" sz="quarter" idx="1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9" r="1619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7990993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1">
            <a:extLst>
              <a:ext uri="{FF2B5EF4-FFF2-40B4-BE49-F238E27FC236}">
                <a16:creationId xmlns:a16="http://schemas.microsoft.com/office/drawing/2014/main" id="{1EAF822B-2833-4FA0-8541-830DB795A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Resultados – Elasticidade</a:t>
            </a:r>
            <a:br>
              <a:rPr lang="pt-BR"/>
            </a:br>
            <a:r>
              <a:rPr lang="pt-BR"/>
              <a:t>Mesorregiões</a:t>
            </a:r>
            <a:endParaRPr lang="en-US" dirty="0"/>
          </a:p>
        </p:txBody>
      </p:sp>
      <p:sp>
        <p:nvSpPr>
          <p:cNvPr id="23" name="Espaço Reservado para Texto 22">
            <a:extLst>
              <a:ext uri="{FF2B5EF4-FFF2-40B4-BE49-F238E27FC236}">
                <a16:creationId xmlns:a16="http://schemas.microsoft.com/office/drawing/2014/main" id="{E004B977-CF07-4A71-A8DD-9303BD3E2F3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pt-BR"/>
              <a:t>A metodologia GVAR permite a estimativa da elasticidade de cada região.</a:t>
            </a:r>
          </a:p>
          <a:p>
            <a:pPr lvl="1"/>
            <a:r>
              <a:rPr lang="pt-BR"/>
              <a:t>Porto Alegre(0.19) – Rio Jan. (0.19) – B. Horizon. (0.17) – São Paulo (0.16) – Salvador (0.11)</a:t>
            </a:r>
            <a:endParaRPr lang="en-US"/>
          </a:p>
          <a:p>
            <a:endParaRPr lang="en-US" dirty="0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55B032D3-0F6D-45E8-8C18-94437D147302}"/>
              </a:ext>
            </a:extLst>
          </p:cNvPr>
          <p:cNvSpPr/>
          <p:nvPr/>
        </p:nvSpPr>
        <p:spPr>
          <a:xfrm>
            <a:off x="1308963" y="6337798"/>
            <a:ext cx="9574074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sz="1000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Figura</a:t>
            </a:r>
            <a:r>
              <a:rPr lang="en-US" sz="1000" dirty="0">
                <a:solidFill>
                  <a:schemeClr val="bg1"/>
                </a:solidFill>
                <a:latin typeface="Times New Roman" panose="02020603050405020304" pitchFamily="18" charset="0"/>
              </a:rPr>
              <a:t>: </a:t>
            </a:r>
            <a:r>
              <a:rPr lang="pt-BR" sz="1000" dirty="0">
                <a:solidFill>
                  <a:schemeClr val="bg1"/>
                </a:solidFill>
                <a:latin typeface="Times New Roman" panose="02020603050405020304" pitchFamily="18" charset="0"/>
              </a:rPr>
              <a:t>Variação da taxa de emprego de mesorregiões para cenários de crescimento da produção industrial de 0% e 4%</a:t>
            </a:r>
            <a:r>
              <a:rPr lang="en-US" sz="1000" dirty="0">
                <a:solidFill>
                  <a:schemeClr val="bg1"/>
                </a:solidFill>
                <a:latin typeface="Times New Roman" panose="02020603050405020304" pitchFamily="18" charset="0"/>
              </a:rPr>
              <a:t>. Fonte: </a:t>
            </a:r>
            <a:r>
              <a:rPr lang="en-US" sz="1000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elaborado</a:t>
            </a:r>
            <a:r>
              <a:rPr lang="en-US" sz="1000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pelo</a:t>
            </a:r>
            <a:r>
              <a:rPr lang="en-US" sz="1000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autor</a:t>
            </a:r>
            <a:endParaRPr lang="en-US" sz="1000" dirty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000" dirty="0">
                <a:solidFill>
                  <a:schemeClr val="bg1"/>
                </a:solidFill>
                <a:latin typeface="Times New Roman" panose="02020603050405020304" pitchFamily="18" charset="0"/>
              </a:rPr>
              <a:t>Salvador: </a:t>
            </a:r>
            <a:r>
              <a:rPr lang="en-US" sz="1000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Metropolitana</a:t>
            </a:r>
            <a:r>
              <a:rPr lang="en-US" sz="1000" dirty="0">
                <a:solidFill>
                  <a:schemeClr val="bg1"/>
                </a:solidFill>
                <a:latin typeface="Times New Roman" panose="02020603050405020304" pitchFamily="18" charset="0"/>
              </a:rPr>
              <a:t> de Salvador; </a:t>
            </a:r>
            <a:r>
              <a:rPr lang="pt-BR" sz="1000" dirty="0">
                <a:solidFill>
                  <a:schemeClr val="bg1"/>
                </a:solidFill>
                <a:latin typeface="Times New Roman" panose="02020603050405020304" pitchFamily="18" charset="0"/>
              </a:rPr>
              <a:t>Rio Jan: Metropolitana do Rio de Janeiro; </a:t>
            </a:r>
            <a:r>
              <a:rPr lang="en-US" sz="1000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P.Alegre</a:t>
            </a:r>
            <a:r>
              <a:rPr lang="en-US" sz="1000" dirty="0">
                <a:solidFill>
                  <a:schemeClr val="bg1"/>
                </a:solidFill>
                <a:latin typeface="Times New Roman" panose="02020603050405020304" pitchFamily="18" charset="0"/>
              </a:rPr>
              <a:t>: </a:t>
            </a:r>
            <a:r>
              <a:rPr lang="pt-BR" sz="1000" dirty="0">
                <a:solidFill>
                  <a:schemeClr val="bg1"/>
                </a:solidFill>
                <a:latin typeface="Times New Roman" panose="02020603050405020304" pitchFamily="18" charset="0"/>
              </a:rPr>
              <a:t>Metropolitana de Porto Alegre; B. </a:t>
            </a:r>
            <a:r>
              <a:rPr lang="pt-BR" sz="1000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Horizon</a:t>
            </a:r>
            <a:r>
              <a:rPr lang="pt-BR" sz="1000" dirty="0">
                <a:solidFill>
                  <a:schemeClr val="bg1"/>
                </a:solidFill>
                <a:latin typeface="Times New Roman" panose="02020603050405020304" pitchFamily="18" charset="0"/>
              </a:rPr>
              <a:t>: Metropolitana de Belo Horizonte; SP: Metropolitana de São Paulo</a:t>
            </a:r>
          </a:p>
        </p:txBody>
      </p:sp>
      <p:pic>
        <p:nvPicPr>
          <p:cNvPr id="15" name="Espaço Reservado para Conteúdo 5">
            <a:extLst>
              <a:ext uri="{FF2B5EF4-FFF2-40B4-BE49-F238E27FC236}">
                <a16:creationId xmlns:a16="http://schemas.microsoft.com/office/drawing/2014/main" id="{A8B15616-971E-4C00-A0AB-BF7DBD0758C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1619" r="1619"/>
          <a:stretch>
            <a:fillRect/>
          </a:stretch>
        </p:blipFill>
        <p:spPr/>
      </p:pic>
      <p:pic>
        <p:nvPicPr>
          <p:cNvPr id="16" name="Espaço Reservado para Conteúdo 6">
            <a:extLst>
              <a:ext uri="{FF2B5EF4-FFF2-40B4-BE49-F238E27FC236}">
                <a16:creationId xmlns:a16="http://schemas.microsoft.com/office/drawing/2014/main" id="{5E0B9D52-2D10-4850-9E62-80D328B021E6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4"/>
          <a:srcRect l="1635" r="1635"/>
          <a:stretch>
            <a:fillRect/>
          </a:stretch>
        </p:blipFill>
        <p:spPr>
          <a:xfrm>
            <a:off x="6400080" y="2744640"/>
            <a:ext cx="4755600" cy="3290400"/>
          </a:xfrm>
        </p:spPr>
      </p:pic>
    </p:spTree>
    <p:extLst>
      <p:ext uri="{BB962C8B-B14F-4D97-AF65-F5344CB8AC3E}">
        <p14:creationId xmlns:p14="http://schemas.microsoft.com/office/powerpoint/2010/main" val="42127925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1">
            <a:extLst>
              <a:ext uri="{FF2B5EF4-FFF2-40B4-BE49-F238E27FC236}">
                <a16:creationId xmlns:a16="http://schemas.microsoft.com/office/drawing/2014/main" id="{1EAF822B-2833-4FA0-8541-830DB795A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Resultados – Elasticidade</a:t>
            </a:r>
            <a:br>
              <a:rPr lang="pt-BR"/>
            </a:br>
            <a:r>
              <a:rPr lang="pt-BR"/>
              <a:t>Mesorregiões</a:t>
            </a:r>
            <a:endParaRPr lang="en-US" dirty="0"/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814DB616-615F-4D09-BF17-F928F6280012}"/>
              </a:ext>
            </a:extLst>
          </p:cNvPr>
          <p:cNvSpPr>
            <a:spLocks noGrp="1"/>
          </p:cNvSpPr>
          <p:nvPr>
            <p:ph sz="half" idx="15"/>
          </p:nvPr>
        </p:nvSpPr>
        <p:spPr/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A metodologia GVAR permite a estimativa da elasticidade de cada região.</a:t>
            </a:r>
          </a:p>
          <a:p>
            <a:pPr lvl="1"/>
            <a:r>
              <a:rPr lang="pt-BR"/>
              <a:t>Porto Alegre(0.19) – São Paulo (0.16) – C. Goiás (0.07) – Borborema (0.02) – Jequit. (0.02)</a:t>
            </a:r>
            <a:endParaRPr lang="pt-BR" dirty="0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55B032D3-0F6D-45E8-8C18-94437D147302}"/>
              </a:ext>
            </a:extLst>
          </p:cNvPr>
          <p:cNvSpPr/>
          <p:nvPr/>
        </p:nvSpPr>
        <p:spPr>
          <a:xfrm>
            <a:off x="1308963" y="6370916"/>
            <a:ext cx="957407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sz="1000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Figura</a:t>
            </a:r>
            <a:r>
              <a:rPr lang="en-US" sz="1000" dirty="0">
                <a:solidFill>
                  <a:schemeClr val="bg1"/>
                </a:solidFill>
                <a:latin typeface="Times New Roman" panose="02020603050405020304" pitchFamily="18" charset="0"/>
              </a:rPr>
              <a:t>: </a:t>
            </a:r>
            <a:r>
              <a:rPr lang="pt-BR" sz="1000" dirty="0">
                <a:solidFill>
                  <a:schemeClr val="bg1"/>
                </a:solidFill>
                <a:latin typeface="Times New Roman" panose="02020603050405020304" pitchFamily="18" charset="0"/>
              </a:rPr>
              <a:t>Variação da taxa de emprego de mesorregiões para cenários de crescimento da produção industrial de 0% e 4%</a:t>
            </a:r>
            <a:r>
              <a:rPr lang="en-US" sz="1000" dirty="0">
                <a:solidFill>
                  <a:schemeClr val="bg1"/>
                </a:solidFill>
                <a:latin typeface="Times New Roman" panose="02020603050405020304" pitchFamily="18" charset="0"/>
              </a:rPr>
              <a:t>. Fonte: </a:t>
            </a:r>
            <a:r>
              <a:rPr lang="en-US" sz="1000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elaborado</a:t>
            </a:r>
            <a:r>
              <a:rPr lang="en-US" sz="1000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pelo</a:t>
            </a:r>
            <a:r>
              <a:rPr lang="en-US" sz="1000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autor</a:t>
            </a:r>
            <a:endParaRPr lang="en-US" sz="1000" dirty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000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C.Go</a:t>
            </a:r>
            <a:r>
              <a:rPr lang="en-US" sz="1000" dirty="0">
                <a:solidFill>
                  <a:schemeClr val="bg1"/>
                </a:solidFill>
                <a:latin typeface="Times New Roman" panose="02020603050405020304" pitchFamily="18" charset="0"/>
              </a:rPr>
              <a:t>: Centro </a:t>
            </a:r>
            <a:r>
              <a:rPr lang="en-US" sz="1000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Goiano</a:t>
            </a:r>
            <a:r>
              <a:rPr lang="en-US" sz="1000" dirty="0">
                <a:solidFill>
                  <a:schemeClr val="bg1"/>
                </a:solidFill>
                <a:latin typeface="Times New Roman" panose="02020603050405020304" pitchFamily="18" charset="0"/>
              </a:rPr>
              <a:t>; </a:t>
            </a:r>
            <a:r>
              <a:rPr lang="en-US" sz="1000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Borb</a:t>
            </a:r>
            <a:r>
              <a:rPr lang="en-US" sz="1000" dirty="0">
                <a:solidFill>
                  <a:schemeClr val="bg1"/>
                </a:solidFill>
                <a:latin typeface="Times New Roman" panose="02020603050405020304" pitchFamily="18" charset="0"/>
              </a:rPr>
              <a:t>: </a:t>
            </a:r>
            <a:r>
              <a:rPr lang="en-US" sz="1000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Borborema</a:t>
            </a:r>
            <a:r>
              <a:rPr lang="en-US" sz="1000" dirty="0">
                <a:solidFill>
                  <a:schemeClr val="bg1"/>
                </a:solidFill>
                <a:latin typeface="Times New Roman" panose="02020603050405020304" pitchFamily="18" charset="0"/>
              </a:rPr>
              <a:t>; </a:t>
            </a:r>
            <a:r>
              <a:rPr lang="en-US" sz="1000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Jequit</a:t>
            </a:r>
            <a:r>
              <a:rPr lang="en-US" sz="1000" dirty="0">
                <a:solidFill>
                  <a:schemeClr val="bg1"/>
                </a:solidFill>
                <a:latin typeface="Times New Roman" panose="02020603050405020304" pitchFamily="18" charset="0"/>
              </a:rPr>
              <a:t>: Jequitinhonha; </a:t>
            </a:r>
            <a:r>
              <a:rPr lang="en-US" sz="1000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P.Alegre</a:t>
            </a:r>
            <a:r>
              <a:rPr lang="en-US" sz="1000" dirty="0">
                <a:solidFill>
                  <a:schemeClr val="bg1"/>
                </a:solidFill>
                <a:latin typeface="Times New Roman" panose="02020603050405020304" pitchFamily="18" charset="0"/>
              </a:rPr>
              <a:t>: </a:t>
            </a:r>
            <a:r>
              <a:rPr lang="pt-BR" sz="1000" dirty="0">
                <a:solidFill>
                  <a:schemeClr val="bg1"/>
                </a:solidFill>
                <a:latin typeface="Times New Roman" panose="02020603050405020304" pitchFamily="18" charset="0"/>
              </a:rPr>
              <a:t>Metropolitana de Porto Alegre; SP:</a:t>
            </a:r>
            <a:r>
              <a:rPr lang="en-US" sz="1000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lang="pt-BR" sz="1000" dirty="0">
                <a:solidFill>
                  <a:schemeClr val="bg1"/>
                </a:solidFill>
                <a:latin typeface="Times New Roman" panose="02020603050405020304" pitchFamily="18" charset="0"/>
              </a:rPr>
              <a:t>Metropolitana de São Paulo</a:t>
            </a:r>
            <a:endParaRPr lang="en-US" sz="10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26" name="Espaço Reservado para Conteúdo 4">
            <a:extLst>
              <a:ext uri="{FF2B5EF4-FFF2-40B4-BE49-F238E27FC236}">
                <a16:creationId xmlns:a16="http://schemas.microsoft.com/office/drawing/2014/main" id="{DD32430C-987D-4BD4-8C98-CB6E572D7A62}"/>
              </a:ext>
            </a:extLst>
          </p:cNvPr>
          <p:cNvPicPr>
            <a:picLocks noGrp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9" r="1619"/>
          <a:stretch>
            <a:fillRect/>
          </a:stretch>
        </p:blipFill>
        <p:spPr/>
      </p:pic>
      <p:pic>
        <p:nvPicPr>
          <p:cNvPr id="27" name="Espaço Reservado para Conteúdo 5">
            <a:extLst>
              <a:ext uri="{FF2B5EF4-FFF2-40B4-BE49-F238E27FC236}">
                <a16:creationId xmlns:a16="http://schemas.microsoft.com/office/drawing/2014/main" id="{43418340-17EF-4921-9F70-E6754E7350FB}"/>
              </a:ext>
            </a:extLst>
          </p:cNvPr>
          <p:cNvPicPr>
            <a:picLocks noGrp="1"/>
          </p:cNvPicPr>
          <p:nvPr>
            <p:ph type="pic" sz="quarter" idx="1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5" r="1635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3509970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2D6F79-264F-48D9-8418-AF40C9A64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Resultados – Dinâmica da região</a:t>
            </a:r>
            <a:endParaRPr lang="en-US" dirty="0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EA6D757-3231-4847-BEF6-25DC17CCB3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Uma das vantagens da metodologia GVAR é poder detectar as interações dinâmicas entre as regiões do modelo. </a:t>
            </a:r>
          </a:p>
          <a:p>
            <a:r>
              <a:rPr lang="pt-BR" dirty="0"/>
              <a:t>Em outras palavras, o modelo GVAR pode fornecer uma previsão com a dinâmica de cada região.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47303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79963C-55D0-48EA-99F5-72FB2ACDD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Conclusões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A0089DF-0A71-4CBB-A235-83BEFEE638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O GVAR permitiu uma modelagem parcimoniosa do mercado de trabalho em nível regional, (mesorregião) levando em conta as influências externas de cada região.</a:t>
            </a:r>
          </a:p>
          <a:p>
            <a:r>
              <a:rPr lang="pt-BR" dirty="0"/>
              <a:t>O modelo mostrou a relação dinâmica entre as mesorregiões, bem como foi possível determinar a elasticidade das regiões.</a:t>
            </a:r>
          </a:p>
          <a:p>
            <a:r>
              <a:rPr lang="pt-BR" dirty="0"/>
              <a:t>O Sul, o Sudeste e o Nordeste se mostraram ser muito elásticos, apresentando uma interação constante em suas regiões, enquanto as regiões Norte e Central parecem sofrer pouca influência das regiões vizinhas.</a:t>
            </a:r>
          </a:p>
          <a:p>
            <a:r>
              <a:rPr lang="pt-BR" dirty="0"/>
              <a:t>Limitações</a:t>
            </a:r>
          </a:p>
          <a:p>
            <a:pPr lvl="1"/>
            <a:r>
              <a:rPr lang="pt-BR" dirty="0"/>
              <a:t>Amostra pequena da série de emprego, tendo dados apenas de 2004 em diante.</a:t>
            </a:r>
          </a:p>
          <a:p>
            <a:pPr lvl="1"/>
            <a:r>
              <a:rPr lang="pt-BR" dirty="0"/>
              <a:t>O toolbox GVAR atualmente não incorpora variáveis </a:t>
            </a:r>
            <a:r>
              <a:rPr lang="pt-BR" i="1" dirty="0" err="1"/>
              <a:t>dummies</a:t>
            </a:r>
            <a:r>
              <a:rPr lang="pt-BR" dirty="0"/>
              <a:t>, ou sazonalidade.</a:t>
            </a:r>
          </a:p>
          <a:p>
            <a:r>
              <a:rPr lang="pt-BR" dirty="0"/>
              <a:t>Extensões</a:t>
            </a:r>
          </a:p>
          <a:p>
            <a:pPr lvl="1"/>
            <a:r>
              <a:rPr lang="pt-BR" dirty="0"/>
              <a:t>Avaliação do modelo levando-se em conta a produção industrial Americana.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69659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A10A7F50-4807-4851-996B-797DFFFAF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Fim</a:t>
            </a:r>
            <a:endParaRPr lang="en-US" dirty="0"/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9F4E5D82-07BB-49F4-89D5-4129DCF95E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821524"/>
      </p:ext>
    </p:extLst>
  </p:cSld>
  <p:clrMapOvr>
    <a:masterClrMapping/>
  </p:clrMapOvr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Retrospectiva">
  <a:themeElements>
    <a:clrScheme name="Retrospectiva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iva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iv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TM02900771[[fn=Fatia]]</Template>
  <TotalTime>1483</TotalTime>
  <Words>1805</Words>
  <Application>Microsoft Office PowerPoint</Application>
  <PresentationFormat>Widescreen</PresentationFormat>
  <Paragraphs>240</Paragraphs>
  <Slides>20</Slides>
  <Notes>20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20</vt:i4>
      </vt:variant>
    </vt:vector>
  </HeadingPairs>
  <TitlesOfParts>
    <vt:vector size="27" baseType="lpstr">
      <vt:lpstr>Calibri</vt:lpstr>
      <vt:lpstr>Calibri Light</vt:lpstr>
      <vt:lpstr>Cambria Math</vt:lpstr>
      <vt:lpstr>Times New Roman</vt:lpstr>
      <vt:lpstr>Wingdings 2</vt:lpstr>
      <vt:lpstr>HDOfficeLightV0</vt:lpstr>
      <vt:lpstr>Retrospectiva</vt:lpstr>
      <vt:lpstr> Investigando como choques macroeconômicos se propagam no emprego regionalmente</vt:lpstr>
      <vt:lpstr>Introdução</vt:lpstr>
      <vt:lpstr>Introdução – Objetivo</vt:lpstr>
      <vt:lpstr>Revisão de literatura</vt:lpstr>
      <vt:lpstr>Revisão de literatura</vt:lpstr>
      <vt:lpstr>Global Var - Metodologia</vt:lpstr>
      <vt:lpstr>Modelo - GVAR</vt:lpstr>
      <vt:lpstr>Modelo - Matriz de pesos W</vt:lpstr>
      <vt:lpstr>Modelo - Matriz de pesos W</vt:lpstr>
      <vt:lpstr>Dados</vt:lpstr>
      <vt:lpstr>Dados</vt:lpstr>
      <vt:lpstr>Resultados</vt:lpstr>
      <vt:lpstr>Resultados</vt:lpstr>
      <vt:lpstr>Resultados – Elasticidade 5 Regiões</vt:lpstr>
      <vt:lpstr>Resultados – Elasticidade estados Sudeste</vt:lpstr>
      <vt:lpstr>Resultados – Elasticidade Mesorregiões</vt:lpstr>
      <vt:lpstr>Resultados – Elasticidade Mesorregiões</vt:lpstr>
      <vt:lpstr>Resultados – Dinâmica da região</vt:lpstr>
      <vt:lpstr>Conclusões</vt:lpstr>
      <vt:lpstr>Fim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Bruno Tebaldi</dc:creator>
  <cp:lastModifiedBy>Bruno Tebaldi</cp:lastModifiedBy>
  <cp:revision>103</cp:revision>
  <cp:lastPrinted>2017-08-10T15:24:37Z</cp:lastPrinted>
  <dcterms:created xsi:type="dcterms:W3CDTF">2017-07-13T22:18:26Z</dcterms:created>
  <dcterms:modified xsi:type="dcterms:W3CDTF">2017-10-18T15:10:53Z</dcterms:modified>
</cp:coreProperties>
</file>